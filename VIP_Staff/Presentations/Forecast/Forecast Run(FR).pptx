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2"/>
  </p:notesMasterIdLst>
  <p:handoutMasterIdLst>
    <p:handoutMasterId r:id="rId23"/>
  </p:handoutMasterIdLst>
  <p:sldIdLst>
    <p:sldId id="505" r:id="rId3"/>
    <p:sldId id="656" r:id="rId4"/>
    <p:sldId id="655" r:id="rId5"/>
    <p:sldId id="663" r:id="rId6"/>
    <p:sldId id="664" r:id="rId7"/>
    <p:sldId id="665" r:id="rId8"/>
    <p:sldId id="666" r:id="rId9"/>
    <p:sldId id="667" r:id="rId10"/>
    <p:sldId id="668" r:id="rId11"/>
    <p:sldId id="669" r:id="rId12"/>
    <p:sldId id="262" r:id="rId13"/>
    <p:sldId id="265" r:id="rId14"/>
    <p:sldId id="264" r:id="rId15"/>
    <p:sldId id="256" r:id="rId16"/>
    <p:sldId id="261" r:id="rId17"/>
    <p:sldId id="260" r:id="rId18"/>
    <p:sldId id="257" r:id="rId19"/>
    <p:sldId id="258" r:id="rId20"/>
    <p:sldId id="259" r:id="rId21"/>
  </p:sldIdLst>
  <p:sldSz cx="12192000" cy="6858000"/>
  <p:notesSz cx="5589588" cy="8096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140" autoAdjust="0"/>
  </p:normalViewPr>
  <p:slideViewPr>
    <p:cSldViewPr snapToGrid="0">
      <p:cViewPr varScale="1">
        <p:scale>
          <a:sx n="90" d="100"/>
          <a:sy n="90" d="100"/>
        </p:scale>
        <p:origin x="4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41B92B-6DB2-CE94-A51B-AF00C6EB6ED4}"/>
              </a:ext>
            </a:extLst>
          </p:cNvPr>
          <p:cNvSpPr>
            <a:spLocks noGrp="1"/>
          </p:cNvSpPr>
          <p:nvPr>
            <p:ph type="hdr" sz="quarter"/>
          </p:nvPr>
        </p:nvSpPr>
        <p:spPr>
          <a:xfrm>
            <a:off x="1" y="1"/>
            <a:ext cx="2422489" cy="405692"/>
          </a:xfrm>
          <a:prstGeom prst="rect">
            <a:avLst/>
          </a:prstGeom>
        </p:spPr>
        <p:txBody>
          <a:bodyPr vert="horz" lIns="72174" tIns="36086" rIns="72174" bIns="36086" rtlCol="0"/>
          <a:lstStyle>
            <a:lvl1pPr algn="l">
              <a:defRPr sz="1000"/>
            </a:lvl1pPr>
          </a:lstStyle>
          <a:p>
            <a:endParaRPr lang="en-AE"/>
          </a:p>
        </p:txBody>
      </p:sp>
      <p:sp>
        <p:nvSpPr>
          <p:cNvPr id="3" name="Date Placeholder 2">
            <a:extLst>
              <a:ext uri="{FF2B5EF4-FFF2-40B4-BE49-F238E27FC236}">
                <a16:creationId xmlns:a16="http://schemas.microsoft.com/office/drawing/2014/main" id="{51E4322F-F2A7-B212-933B-CC5A0391F134}"/>
              </a:ext>
            </a:extLst>
          </p:cNvPr>
          <p:cNvSpPr>
            <a:spLocks noGrp="1"/>
          </p:cNvSpPr>
          <p:nvPr>
            <p:ph type="dt" sz="quarter" idx="1"/>
          </p:nvPr>
        </p:nvSpPr>
        <p:spPr>
          <a:xfrm>
            <a:off x="3165852" y="1"/>
            <a:ext cx="2422489" cy="405692"/>
          </a:xfrm>
          <a:prstGeom prst="rect">
            <a:avLst/>
          </a:prstGeom>
        </p:spPr>
        <p:txBody>
          <a:bodyPr vert="horz" lIns="72174" tIns="36086" rIns="72174" bIns="36086" rtlCol="0"/>
          <a:lstStyle>
            <a:lvl1pPr algn="r">
              <a:defRPr sz="1000"/>
            </a:lvl1pPr>
          </a:lstStyle>
          <a:p>
            <a:fld id="{74E97DB7-635A-4379-B762-67A6E04EE9B2}" type="datetime1">
              <a:rPr lang="en-AE" smtClean="0"/>
              <a:t>29/09/2025</a:t>
            </a:fld>
            <a:endParaRPr lang="en-AE"/>
          </a:p>
        </p:txBody>
      </p:sp>
      <p:sp>
        <p:nvSpPr>
          <p:cNvPr id="4" name="Footer Placeholder 3">
            <a:extLst>
              <a:ext uri="{FF2B5EF4-FFF2-40B4-BE49-F238E27FC236}">
                <a16:creationId xmlns:a16="http://schemas.microsoft.com/office/drawing/2014/main" id="{001D40F0-AA5F-90D4-49E5-955A99F4DAE4}"/>
              </a:ext>
            </a:extLst>
          </p:cNvPr>
          <p:cNvSpPr>
            <a:spLocks noGrp="1"/>
          </p:cNvSpPr>
          <p:nvPr>
            <p:ph type="ftr" sz="quarter" idx="2"/>
          </p:nvPr>
        </p:nvSpPr>
        <p:spPr>
          <a:xfrm>
            <a:off x="1" y="7690560"/>
            <a:ext cx="2422489" cy="405691"/>
          </a:xfrm>
          <a:prstGeom prst="rect">
            <a:avLst/>
          </a:prstGeom>
        </p:spPr>
        <p:txBody>
          <a:bodyPr vert="horz" lIns="72174" tIns="36086" rIns="72174" bIns="36086" rtlCol="0" anchor="b"/>
          <a:lstStyle>
            <a:lvl1pPr algn="l">
              <a:defRPr sz="1000"/>
            </a:lvl1pPr>
          </a:lstStyle>
          <a:p>
            <a:endParaRPr lang="en-AE"/>
          </a:p>
        </p:txBody>
      </p:sp>
      <p:sp>
        <p:nvSpPr>
          <p:cNvPr id="5" name="Slide Number Placeholder 4">
            <a:extLst>
              <a:ext uri="{FF2B5EF4-FFF2-40B4-BE49-F238E27FC236}">
                <a16:creationId xmlns:a16="http://schemas.microsoft.com/office/drawing/2014/main" id="{7D787BEB-A330-1436-970C-486EA3E35279}"/>
              </a:ext>
            </a:extLst>
          </p:cNvPr>
          <p:cNvSpPr>
            <a:spLocks noGrp="1"/>
          </p:cNvSpPr>
          <p:nvPr>
            <p:ph type="sldNum" sz="quarter" idx="3"/>
          </p:nvPr>
        </p:nvSpPr>
        <p:spPr>
          <a:xfrm>
            <a:off x="3165852" y="7690560"/>
            <a:ext cx="2422489" cy="405691"/>
          </a:xfrm>
          <a:prstGeom prst="rect">
            <a:avLst/>
          </a:prstGeom>
        </p:spPr>
        <p:txBody>
          <a:bodyPr vert="horz" lIns="72174" tIns="36086" rIns="72174" bIns="36086" rtlCol="0" anchor="b"/>
          <a:lstStyle>
            <a:lvl1pPr algn="r">
              <a:defRPr sz="1000"/>
            </a:lvl1pPr>
          </a:lstStyle>
          <a:p>
            <a:fld id="{2F3D080F-2B85-4408-9BAE-5E367E878F12}" type="slidenum">
              <a:rPr lang="en-AE" smtClean="0"/>
              <a:t>‹#›</a:t>
            </a:fld>
            <a:endParaRPr lang="en-AE"/>
          </a:p>
        </p:txBody>
      </p:sp>
    </p:spTree>
    <p:extLst>
      <p:ext uri="{BB962C8B-B14F-4D97-AF65-F5344CB8AC3E}">
        <p14:creationId xmlns:p14="http://schemas.microsoft.com/office/powerpoint/2010/main" val="261893180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422154" cy="406217"/>
          </a:xfrm>
          <a:prstGeom prst="rect">
            <a:avLst/>
          </a:prstGeom>
        </p:spPr>
        <p:txBody>
          <a:bodyPr vert="horz" lIns="78185" tIns="39092" rIns="78185" bIns="39092" rtlCol="0"/>
          <a:lstStyle>
            <a:lvl1pPr algn="l">
              <a:defRPr sz="1100"/>
            </a:lvl1pPr>
          </a:lstStyle>
          <a:p>
            <a:endParaRPr lang="en-AE"/>
          </a:p>
        </p:txBody>
      </p:sp>
      <p:sp>
        <p:nvSpPr>
          <p:cNvPr id="3" name="Date Placeholder 2"/>
          <p:cNvSpPr>
            <a:spLocks noGrp="1"/>
          </p:cNvSpPr>
          <p:nvPr>
            <p:ph type="dt" idx="1"/>
          </p:nvPr>
        </p:nvSpPr>
        <p:spPr>
          <a:xfrm>
            <a:off x="3166142" y="2"/>
            <a:ext cx="2422154" cy="406217"/>
          </a:xfrm>
          <a:prstGeom prst="rect">
            <a:avLst/>
          </a:prstGeom>
        </p:spPr>
        <p:txBody>
          <a:bodyPr vert="horz" lIns="78185" tIns="39092" rIns="78185" bIns="39092" rtlCol="0"/>
          <a:lstStyle>
            <a:lvl1pPr algn="r">
              <a:defRPr sz="1100"/>
            </a:lvl1pPr>
          </a:lstStyle>
          <a:p>
            <a:fld id="{DF249F1E-C39A-4099-8DED-1EED92C0A447}" type="datetime1">
              <a:rPr lang="en-AE" smtClean="0"/>
              <a:t>29/09/2025</a:t>
            </a:fld>
            <a:endParaRPr lang="en-AE"/>
          </a:p>
        </p:txBody>
      </p:sp>
      <p:sp>
        <p:nvSpPr>
          <p:cNvPr id="4" name="Slide Image Placeholder 3"/>
          <p:cNvSpPr>
            <a:spLocks noGrp="1" noRot="1" noChangeAspect="1"/>
          </p:cNvSpPr>
          <p:nvPr>
            <p:ph type="sldImg" idx="2"/>
          </p:nvPr>
        </p:nvSpPr>
        <p:spPr>
          <a:xfrm>
            <a:off x="368300" y="1011238"/>
            <a:ext cx="4854575" cy="2732087"/>
          </a:xfrm>
          <a:prstGeom prst="rect">
            <a:avLst/>
          </a:prstGeom>
          <a:noFill/>
          <a:ln w="12700">
            <a:solidFill>
              <a:prstClr val="black"/>
            </a:solidFill>
          </a:ln>
        </p:spPr>
        <p:txBody>
          <a:bodyPr vert="horz" lIns="78185" tIns="39092" rIns="78185" bIns="39092" rtlCol="0" anchor="ctr"/>
          <a:lstStyle/>
          <a:p>
            <a:endParaRPr lang="en-AE"/>
          </a:p>
        </p:txBody>
      </p:sp>
      <p:sp>
        <p:nvSpPr>
          <p:cNvPr id="5" name="Notes Placeholder 4"/>
          <p:cNvSpPr>
            <a:spLocks noGrp="1"/>
          </p:cNvSpPr>
          <p:nvPr>
            <p:ph type="body" sz="quarter" idx="3"/>
          </p:nvPr>
        </p:nvSpPr>
        <p:spPr>
          <a:xfrm>
            <a:off x="558959" y="3896321"/>
            <a:ext cx="4471670" cy="3187898"/>
          </a:xfrm>
          <a:prstGeom prst="rect">
            <a:avLst/>
          </a:prstGeom>
        </p:spPr>
        <p:txBody>
          <a:bodyPr vert="horz" lIns="78185" tIns="39092" rIns="78185" bIns="3909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2" y="7690034"/>
            <a:ext cx="2422154" cy="406217"/>
          </a:xfrm>
          <a:prstGeom prst="rect">
            <a:avLst/>
          </a:prstGeom>
        </p:spPr>
        <p:txBody>
          <a:bodyPr vert="horz" lIns="78185" tIns="39092" rIns="78185" bIns="39092" rtlCol="0" anchor="b"/>
          <a:lstStyle>
            <a:lvl1pPr algn="l">
              <a:defRPr sz="1100"/>
            </a:lvl1pPr>
          </a:lstStyle>
          <a:p>
            <a:endParaRPr lang="en-AE"/>
          </a:p>
        </p:txBody>
      </p:sp>
      <p:sp>
        <p:nvSpPr>
          <p:cNvPr id="7" name="Slide Number Placeholder 6"/>
          <p:cNvSpPr>
            <a:spLocks noGrp="1"/>
          </p:cNvSpPr>
          <p:nvPr>
            <p:ph type="sldNum" sz="quarter" idx="5"/>
          </p:nvPr>
        </p:nvSpPr>
        <p:spPr>
          <a:xfrm>
            <a:off x="3166142" y="7690034"/>
            <a:ext cx="2422154" cy="406217"/>
          </a:xfrm>
          <a:prstGeom prst="rect">
            <a:avLst/>
          </a:prstGeom>
        </p:spPr>
        <p:txBody>
          <a:bodyPr vert="horz" lIns="78185" tIns="39092" rIns="78185" bIns="39092" rtlCol="0" anchor="b"/>
          <a:lstStyle>
            <a:lvl1pPr algn="r">
              <a:defRPr sz="1100"/>
            </a:lvl1pPr>
          </a:lstStyle>
          <a:p>
            <a:fld id="{E072D5AD-6E95-487F-9070-9300E52782E0}" type="slidenum">
              <a:rPr lang="en-AE" smtClean="0"/>
              <a:t>‹#›</a:t>
            </a:fld>
            <a:endParaRPr lang="en-AE"/>
          </a:p>
        </p:txBody>
      </p:sp>
    </p:spTree>
    <p:extLst>
      <p:ext uri="{BB962C8B-B14F-4D97-AF65-F5344CB8AC3E}">
        <p14:creationId xmlns:p14="http://schemas.microsoft.com/office/powerpoint/2010/main" val="308460126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a:xfrm>
            <a:off x="-158750" y="658813"/>
            <a:ext cx="5859463" cy="3297237"/>
          </a:xfrm>
        </p:spPr>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sldNum" sz="quarter" idx="10"/>
          </p:nvPr>
        </p:nvSpPr>
        <p:spPr/>
        <p:txBody>
          <a:bodyPr/>
          <a:lstStyle/>
          <a:p>
            <a:fld id="{B3A019F3-8596-4028-9847-CBD3A185B07A}" type="slidenum">
              <a:rPr lang="en-US" smtClean="0">
                <a:solidFill>
                  <a:prstClr val="black"/>
                </a:solidFill>
              </a:rPr>
              <a:pPr/>
              <a:t>1</a:t>
            </a:fld>
            <a:endParaRPr lang="en-US" dirty="0">
              <a:solidFill>
                <a:prstClr val="black"/>
              </a:solidFill>
            </a:endParaRPr>
          </a:p>
        </p:txBody>
      </p:sp>
      <p:sp>
        <p:nvSpPr>
          <p:cNvPr id="6" name="Footer Placeholder 5">
            <a:extLst>
              <a:ext uri="{FF2B5EF4-FFF2-40B4-BE49-F238E27FC236}">
                <a16:creationId xmlns:a16="http://schemas.microsoft.com/office/drawing/2014/main" id="{73A8065E-FC07-15E9-CA00-8E4FB23E463D}"/>
              </a:ext>
            </a:extLst>
          </p:cNvPr>
          <p:cNvSpPr>
            <a:spLocks noGrp="1"/>
          </p:cNvSpPr>
          <p:nvPr>
            <p:ph type="ftr" sz="quarter" idx="4"/>
          </p:nvPr>
        </p:nvSpPr>
        <p:spPr/>
        <p:txBody>
          <a:bodyPr/>
          <a:lstStyle/>
          <a:p>
            <a:endParaRPr lang="en-A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9CA93-E028-8915-8AD9-7737F92DC85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B6EE7B7C-1475-DFAD-C336-2FCB4A985424}"/>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6B77499E-89FE-4C23-870D-F474D3FB4464}"/>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49384A38-62A2-DA05-DBCD-8BDC03CCF078}"/>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2</a:t>
            </a:fld>
            <a:endParaRPr lang="en-US" dirty="0">
              <a:solidFill>
                <a:prstClr val="black"/>
              </a:solidFill>
              <a:latin typeface="Calibri"/>
            </a:endParaRPr>
          </a:p>
        </p:txBody>
      </p:sp>
      <p:sp>
        <p:nvSpPr>
          <p:cNvPr id="6" name="Footer Placeholder 5">
            <a:extLst>
              <a:ext uri="{FF2B5EF4-FFF2-40B4-BE49-F238E27FC236}">
                <a16:creationId xmlns:a16="http://schemas.microsoft.com/office/drawing/2014/main" id="{2D383FEE-1079-0D9E-9657-AEE368DC781F}"/>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1917287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1CEAB-615D-5B29-BD59-62D9D479C5E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7985557-86E2-E336-9796-1086070BBB22}"/>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F8E1C847-4269-E4AA-C462-D902EAE35985}"/>
              </a:ext>
            </a:extLst>
          </p:cNvPr>
          <p:cNvSpPr>
            <a:spLocks noGrp="1"/>
          </p:cNvSpPr>
          <p:nvPr>
            <p:ph type="body" idx="1"/>
          </p:nvPr>
        </p:nvSpPr>
        <p:spPr/>
        <p:txBody>
          <a:bodyPr/>
          <a:lstStyle/>
          <a:p>
            <a:r>
              <a:rPr lang="en-US" dirty="0"/>
              <a:t>For larger projects, it's important to know specific details in advance for the planning process, figuring out which materials can be prefabricated or installed by certain dates, and to check the material already in transit (shipped items), purchase orders and approved requisitions be delivered by the specified date</a:t>
            </a:r>
          </a:p>
          <a:p>
            <a:pPr defTabSz="781851">
              <a:defRPr/>
            </a:pPr>
            <a:r>
              <a:rPr lang="en-US" dirty="0"/>
              <a:t>Forecast Run (FR) tool. It helps simulate when materials will be available for construction or fabrication, making it easier to plan project work and subcontractor needs. Running a forecast does not impact actual inventory or material quantities.</a:t>
            </a:r>
          </a:p>
          <a:p>
            <a:pPr defTabSz="781851">
              <a:defRPr/>
            </a:pPr>
            <a:endParaRPr lang="en-US" dirty="0"/>
          </a:p>
          <a:p>
            <a:r>
              <a:rPr lang="en-US" dirty="0">
                <a:effectLst/>
              </a:rPr>
              <a:t>•After running the Forecast, the system reserve material virtually for the selected Work-package items with completion status percentage, the allocation result that can be converted later to actual reservation.</a:t>
            </a:r>
          </a:p>
          <a:p>
            <a:r>
              <a:rPr lang="en-US" dirty="0">
                <a:effectLst/>
              </a:rPr>
              <a:t>•The result contains the estimated Dia</a:t>
            </a:r>
          </a:p>
          <a:p>
            <a:pPr defTabSz="781851">
              <a:defRPr/>
            </a:pPr>
            <a:endParaRPr lang="en-AE" dirty="0"/>
          </a:p>
          <a:p>
            <a:endParaRPr lang="en-US" dirty="0"/>
          </a:p>
          <a:p>
            <a:endParaRPr lang="en-US" dirty="0"/>
          </a:p>
        </p:txBody>
      </p:sp>
      <p:sp>
        <p:nvSpPr>
          <p:cNvPr id="4" name="Rectangle 4">
            <a:extLst>
              <a:ext uri="{FF2B5EF4-FFF2-40B4-BE49-F238E27FC236}">
                <a16:creationId xmlns:a16="http://schemas.microsoft.com/office/drawing/2014/main" id="{7531C8F5-5FD4-4F3B-F0A8-26F57E36D7F0}"/>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3</a:t>
            </a:fld>
            <a:endParaRPr lang="en-US" dirty="0">
              <a:solidFill>
                <a:prstClr val="black"/>
              </a:solidFill>
              <a:latin typeface="Calibri"/>
            </a:endParaRPr>
          </a:p>
        </p:txBody>
      </p:sp>
      <p:sp>
        <p:nvSpPr>
          <p:cNvPr id="6" name="Footer Placeholder 5">
            <a:extLst>
              <a:ext uri="{FF2B5EF4-FFF2-40B4-BE49-F238E27FC236}">
                <a16:creationId xmlns:a16="http://schemas.microsoft.com/office/drawing/2014/main" id="{EBEADDAE-B64E-5581-4903-8D4D4FE021DE}"/>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3512552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FDAD-57B9-0AA4-6DE0-53085C82DA1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1E58956-469A-181C-E539-3E9B94C4CD78}"/>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C7715657-15DF-C849-92C5-EBDCEE2FC643}"/>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0BD4D2C7-FFED-89B5-DDB9-72F33AE784B4}"/>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4</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EE2F28E0-F395-B47D-996C-70B4CAA72E9B}"/>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3990093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DF3C0-AFCD-2CD9-6CD3-2AEB8380B223}"/>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07A60D7-8134-244B-8C64-0F02A419432A}"/>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1B231EB5-2A2A-0EF5-C4F5-EAA57219C683}"/>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9E028FF6-70E8-D9DD-E649-280247486B1B}"/>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5</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2174A994-C993-DC3A-BB5A-5501B88AB7C5}"/>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3332077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03096-3EFB-7E54-20EB-BB40D73D18F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15C3C95-C199-9F1A-0D9A-019D52697BB7}"/>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E043AFDF-AD00-6A9B-D57A-C267761929B8}"/>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D80C67BF-395A-B661-B141-CD95110A1E98}"/>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6</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37913E43-33CB-288D-AAE9-61E25EB7CF19}"/>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2460456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DE07-2225-4BE8-E042-A4CC9C60CB7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08CB238-5161-E8A8-845B-E14C321C3735}"/>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90BA0273-F4BB-94D3-D440-B6AC2958A808}"/>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CF7CF98E-0546-CBC5-6C04-407C2BA3AC54}"/>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7</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B8FA54D7-5F34-F9A8-1153-17CA8F3CF446}"/>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3798527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13523-2A08-7B1F-A614-09C8C8D63415}"/>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ABC5FC61-0004-3288-5285-F5B70ED02B5C}"/>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4DDDDD2F-19B0-B6B4-C44B-ADE7822BC7B0}"/>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C4EC37F6-A44D-3CE4-1705-6A0A1732D20F}"/>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8</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98981717-C7FF-A14B-A482-92A13A913CC2}"/>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605155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497A-8E6C-8D7A-AABE-0D1B18E0F80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57BE6655-F1A3-F5F5-0B6B-FF3F706EC70F}"/>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153870D4-69F4-7985-7448-925B5D9DE0E9}"/>
              </a:ext>
            </a:extLst>
          </p:cNvPr>
          <p:cNvSpPr>
            <a:spLocks noGrp="1"/>
          </p:cNvSpPr>
          <p:nvPr>
            <p:ph type="body" idx="1"/>
          </p:nvPr>
        </p:nvSpPr>
        <p:spPr/>
        <p:txBody>
          <a:bodyPr/>
          <a:lstStyle/>
          <a:p>
            <a:endParaRPr lang="en-US" dirty="0"/>
          </a:p>
        </p:txBody>
      </p:sp>
      <p:sp>
        <p:nvSpPr>
          <p:cNvPr id="4" name="Rectangle 4">
            <a:extLst>
              <a:ext uri="{FF2B5EF4-FFF2-40B4-BE49-F238E27FC236}">
                <a16:creationId xmlns:a16="http://schemas.microsoft.com/office/drawing/2014/main" id="{C26D711D-0E78-1C01-2F29-EAAE4F377D15}"/>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9</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E296CC07-FB2A-A8B2-70FE-6E35260320E6}"/>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3221939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78AB6-FBAC-577C-A3CA-38313899BC0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CFC6FA9-71D9-0A10-4BA7-8C5DE62A212B}"/>
              </a:ext>
            </a:extLst>
          </p:cNvPr>
          <p:cNvSpPr>
            <a:spLocks noGrp="1" noRot="1" noChangeAspect="1"/>
          </p:cNvSpPr>
          <p:nvPr>
            <p:ph type="sldImg"/>
          </p:nvPr>
        </p:nvSpPr>
        <p:spPr>
          <a:xfrm>
            <a:off x="-158750" y="658813"/>
            <a:ext cx="5859463" cy="3297237"/>
          </a:xfrm>
        </p:spPr>
      </p:sp>
      <p:sp>
        <p:nvSpPr>
          <p:cNvPr id="3" name="Rectangle 3">
            <a:extLst>
              <a:ext uri="{FF2B5EF4-FFF2-40B4-BE49-F238E27FC236}">
                <a16:creationId xmlns:a16="http://schemas.microsoft.com/office/drawing/2014/main" id="{C3B2E25D-1D2E-3A0D-917B-81F39E163F4B}"/>
              </a:ext>
            </a:extLst>
          </p:cNvPr>
          <p:cNvSpPr>
            <a:spLocks noGrp="1"/>
          </p:cNvSpPr>
          <p:nvPr>
            <p:ph type="body" idx="1"/>
          </p:nvPr>
        </p:nvSpPr>
        <p:spPr/>
        <p:txBody>
          <a:bodyPr/>
          <a:lstStyle/>
          <a:p>
            <a:r>
              <a:rPr lang="en-US" dirty="0"/>
              <a:t>automated alerts generated when materials are received that are needed to address a previously forecasted shortage. These notifications inform users in real-time that critical materials projected to be in short supply have now arrived</a:t>
            </a:r>
          </a:p>
        </p:txBody>
      </p:sp>
      <p:sp>
        <p:nvSpPr>
          <p:cNvPr id="4" name="Rectangle 4">
            <a:extLst>
              <a:ext uri="{FF2B5EF4-FFF2-40B4-BE49-F238E27FC236}">
                <a16:creationId xmlns:a16="http://schemas.microsoft.com/office/drawing/2014/main" id="{3EF0A1B8-2EFA-2650-1C00-A542B0A9DD76}"/>
              </a:ext>
            </a:extLst>
          </p:cNvPr>
          <p:cNvSpPr>
            <a:spLocks noGrp="1"/>
          </p:cNvSpPr>
          <p:nvPr>
            <p:ph type="sldNum" sz="quarter" idx="10"/>
          </p:nvPr>
        </p:nvSpPr>
        <p:spPr/>
        <p:txBody>
          <a:bodyPr/>
          <a:lstStyle/>
          <a:p>
            <a:pPr defTabSz="781851">
              <a:defRPr/>
            </a:pPr>
            <a:fld id="{B3A019F3-8596-4028-9847-CBD3A185B07A}" type="slidenum">
              <a:rPr lang="en-US">
                <a:solidFill>
                  <a:prstClr val="black"/>
                </a:solidFill>
                <a:latin typeface="Calibri"/>
              </a:rPr>
              <a:pPr defTabSz="781851">
                <a:defRPr/>
              </a:pPr>
              <a:t>10</a:t>
            </a:fld>
            <a:endParaRPr lang="en-US">
              <a:solidFill>
                <a:prstClr val="black"/>
              </a:solidFill>
              <a:latin typeface="Calibri"/>
            </a:endParaRPr>
          </a:p>
        </p:txBody>
      </p:sp>
      <p:sp>
        <p:nvSpPr>
          <p:cNvPr id="6" name="Footer Placeholder 5">
            <a:extLst>
              <a:ext uri="{FF2B5EF4-FFF2-40B4-BE49-F238E27FC236}">
                <a16:creationId xmlns:a16="http://schemas.microsoft.com/office/drawing/2014/main" id="{68DD2564-5AE2-E533-E110-F369B27EA729}"/>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258965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-Allocate purchased materials to Construction work package</a:t>
            </a:r>
          </a:p>
          <a:p>
            <a:r>
              <a:rPr lang="en-US" dirty="0"/>
              <a:t>- </a:t>
            </a:r>
          </a:p>
          <a:p>
            <a:endParaRPr lang="en-AE" dirty="0"/>
          </a:p>
        </p:txBody>
      </p:sp>
      <p:sp>
        <p:nvSpPr>
          <p:cNvPr id="4" name="Slide Number Placeholder 3"/>
          <p:cNvSpPr>
            <a:spLocks noGrp="1"/>
          </p:cNvSpPr>
          <p:nvPr>
            <p:ph type="sldNum" sz="quarter" idx="5"/>
          </p:nvPr>
        </p:nvSpPr>
        <p:spPr/>
        <p:txBody>
          <a:bodyPr/>
          <a:lstStyle/>
          <a:p>
            <a:fld id="{E072D5AD-6E95-487F-9070-9300E52782E0}" type="slidenum">
              <a:rPr lang="en-AE" smtClean="0"/>
              <a:t>12</a:t>
            </a:fld>
            <a:endParaRPr lang="en-AE"/>
          </a:p>
        </p:txBody>
      </p:sp>
      <p:sp>
        <p:nvSpPr>
          <p:cNvPr id="6" name="Footer Placeholder 5">
            <a:extLst>
              <a:ext uri="{FF2B5EF4-FFF2-40B4-BE49-F238E27FC236}">
                <a16:creationId xmlns:a16="http://schemas.microsoft.com/office/drawing/2014/main" id="{A9A1D76E-A703-1F13-6CD1-8D9F229E9AB0}"/>
              </a:ext>
            </a:extLst>
          </p:cNvPr>
          <p:cNvSpPr>
            <a:spLocks noGrp="1"/>
          </p:cNvSpPr>
          <p:nvPr>
            <p:ph type="ftr" sz="quarter" idx="4"/>
          </p:nvPr>
        </p:nvSpPr>
        <p:spPr/>
        <p:txBody>
          <a:bodyPr/>
          <a:lstStyle/>
          <a:p>
            <a:endParaRPr lang="en-AE"/>
          </a:p>
        </p:txBody>
      </p:sp>
    </p:spTree>
    <p:extLst>
      <p:ext uri="{BB962C8B-B14F-4D97-AF65-F5344CB8AC3E}">
        <p14:creationId xmlns:p14="http://schemas.microsoft.com/office/powerpoint/2010/main" val="406716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C2D06-271E-94AA-832B-C00EB0A27D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2E5DC7EE-E1B3-55B2-1C87-EE4B2D5FC5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F6572B7D-57C9-946E-FC12-30F77F1C108C}"/>
              </a:ext>
            </a:extLst>
          </p:cNvPr>
          <p:cNvSpPr>
            <a:spLocks noGrp="1"/>
          </p:cNvSpPr>
          <p:nvPr>
            <p:ph type="dt" sz="half" idx="10"/>
          </p:nvPr>
        </p:nvSpPr>
        <p:spPr/>
        <p:txBody>
          <a:bodyPr/>
          <a:lstStyle/>
          <a:p>
            <a:endParaRPr lang="en-AE"/>
          </a:p>
        </p:txBody>
      </p:sp>
      <p:sp>
        <p:nvSpPr>
          <p:cNvPr id="5" name="Footer Placeholder 4">
            <a:extLst>
              <a:ext uri="{FF2B5EF4-FFF2-40B4-BE49-F238E27FC236}">
                <a16:creationId xmlns:a16="http://schemas.microsoft.com/office/drawing/2014/main" id="{49E7060D-DDA2-83AC-4610-5177006E5FE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F05EC1B-9198-A9DB-C933-CAEB3D872957}"/>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329251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7230-EC64-B530-6CC1-416D2EAAC945}"/>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B939CEAF-BC60-A378-E8CD-484F625E2C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9A14147-EBAE-30C3-9614-918C6BD94A25}"/>
              </a:ext>
            </a:extLst>
          </p:cNvPr>
          <p:cNvSpPr>
            <a:spLocks noGrp="1"/>
          </p:cNvSpPr>
          <p:nvPr>
            <p:ph type="dt" sz="half" idx="10"/>
          </p:nvPr>
        </p:nvSpPr>
        <p:spPr/>
        <p:txBody>
          <a:bodyPr/>
          <a:lstStyle/>
          <a:p>
            <a:endParaRPr lang="en-AE"/>
          </a:p>
        </p:txBody>
      </p:sp>
      <p:sp>
        <p:nvSpPr>
          <p:cNvPr id="5" name="Footer Placeholder 4">
            <a:extLst>
              <a:ext uri="{FF2B5EF4-FFF2-40B4-BE49-F238E27FC236}">
                <a16:creationId xmlns:a16="http://schemas.microsoft.com/office/drawing/2014/main" id="{9B472D3F-5F9F-3A52-F9A1-92309123A23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35173B2-5BC8-3C37-714D-7D6BF3BECBF7}"/>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82943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EAEA-9630-B255-F05B-E9F018D763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16058509-913E-E0A5-ACC3-72C386159A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535EE5-9998-A780-F733-B4B77D03AA0D}"/>
              </a:ext>
            </a:extLst>
          </p:cNvPr>
          <p:cNvSpPr>
            <a:spLocks noGrp="1"/>
          </p:cNvSpPr>
          <p:nvPr>
            <p:ph type="dt" sz="half" idx="10"/>
          </p:nvPr>
        </p:nvSpPr>
        <p:spPr/>
        <p:txBody>
          <a:bodyPr/>
          <a:lstStyle/>
          <a:p>
            <a:endParaRPr lang="en-AE"/>
          </a:p>
        </p:txBody>
      </p:sp>
      <p:sp>
        <p:nvSpPr>
          <p:cNvPr id="5" name="Footer Placeholder 4">
            <a:extLst>
              <a:ext uri="{FF2B5EF4-FFF2-40B4-BE49-F238E27FC236}">
                <a16:creationId xmlns:a16="http://schemas.microsoft.com/office/drawing/2014/main" id="{4D1ED793-D75D-35CA-E8D8-253C677D763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BB3DA221-2B21-17FD-E004-F88A640A6E59}"/>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286262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E204-9365-F9BA-1459-9829B9C931E3}"/>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1CC04C04-DD3A-4C80-88E9-8F8E8D7B79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C13FF7F7-2392-E8DF-C7BA-2EB35C4D5B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ED1ED2E8-B855-C0E6-CBE2-1D249B9CD6D3}"/>
              </a:ext>
            </a:extLst>
          </p:cNvPr>
          <p:cNvSpPr>
            <a:spLocks noGrp="1"/>
          </p:cNvSpPr>
          <p:nvPr>
            <p:ph type="dt" sz="half" idx="10"/>
          </p:nvPr>
        </p:nvSpPr>
        <p:spPr/>
        <p:txBody>
          <a:bodyPr/>
          <a:lstStyle/>
          <a:p>
            <a:endParaRPr lang="en-AE"/>
          </a:p>
        </p:txBody>
      </p:sp>
      <p:sp>
        <p:nvSpPr>
          <p:cNvPr id="6" name="Footer Placeholder 5">
            <a:extLst>
              <a:ext uri="{FF2B5EF4-FFF2-40B4-BE49-F238E27FC236}">
                <a16:creationId xmlns:a16="http://schemas.microsoft.com/office/drawing/2014/main" id="{FFC42AC5-3879-928D-2CF2-542941CCEA5A}"/>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39938E58-38A0-8C04-C925-F70943C46D14}"/>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1136955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20F8-7E40-F17C-70FB-C1946F1DEFE1}"/>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63B26C13-76FA-0659-D82A-0D674295D0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211B84-8CCC-1EBA-9A1E-902D07F7DD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B8691399-0954-BE2D-478F-FF94A487FC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7A61A0-3056-1251-0BCC-48CCAF3975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F95CCFFF-6983-65AD-E1CC-A321834E79B6}"/>
              </a:ext>
            </a:extLst>
          </p:cNvPr>
          <p:cNvSpPr>
            <a:spLocks noGrp="1"/>
          </p:cNvSpPr>
          <p:nvPr>
            <p:ph type="dt" sz="half" idx="10"/>
          </p:nvPr>
        </p:nvSpPr>
        <p:spPr/>
        <p:txBody>
          <a:bodyPr/>
          <a:lstStyle/>
          <a:p>
            <a:endParaRPr lang="en-AE"/>
          </a:p>
        </p:txBody>
      </p:sp>
      <p:sp>
        <p:nvSpPr>
          <p:cNvPr id="8" name="Footer Placeholder 7">
            <a:extLst>
              <a:ext uri="{FF2B5EF4-FFF2-40B4-BE49-F238E27FC236}">
                <a16:creationId xmlns:a16="http://schemas.microsoft.com/office/drawing/2014/main" id="{21BDD57E-8FE9-D49E-FC19-6D48CC5A6DF0}"/>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F329552C-7540-58FE-E554-CACA25DA6000}"/>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158903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B323-F6C7-6E61-90CF-CA4D371C271F}"/>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D6A6F68F-2A83-A6A9-441E-1E9B08E9B3FE}"/>
              </a:ext>
            </a:extLst>
          </p:cNvPr>
          <p:cNvSpPr>
            <a:spLocks noGrp="1"/>
          </p:cNvSpPr>
          <p:nvPr>
            <p:ph type="dt" sz="half" idx="10"/>
          </p:nvPr>
        </p:nvSpPr>
        <p:spPr/>
        <p:txBody>
          <a:bodyPr/>
          <a:lstStyle/>
          <a:p>
            <a:endParaRPr lang="en-AE"/>
          </a:p>
        </p:txBody>
      </p:sp>
      <p:sp>
        <p:nvSpPr>
          <p:cNvPr id="4" name="Footer Placeholder 3">
            <a:extLst>
              <a:ext uri="{FF2B5EF4-FFF2-40B4-BE49-F238E27FC236}">
                <a16:creationId xmlns:a16="http://schemas.microsoft.com/office/drawing/2014/main" id="{82730D13-4AF7-41DF-C3AC-E63119047B1C}"/>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65DB5B0F-BC34-92BD-65E0-F94151E46E95}"/>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3999249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7D0602-F725-31D7-DD04-3ED825E8D3D2}"/>
              </a:ext>
            </a:extLst>
          </p:cNvPr>
          <p:cNvSpPr>
            <a:spLocks noGrp="1"/>
          </p:cNvSpPr>
          <p:nvPr>
            <p:ph type="dt" sz="half" idx="10"/>
          </p:nvPr>
        </p:nvSpPr>
        <p:spPr/>
        <p:txBody>
          <a:bodyPr/>
          <a:lstStyle/>
          <a:p>
            <a:endParaRPr lang="en-AE"/>
          </a:p>
        </p:txBody>
      </p:sp>
      <p:sp>
        <p:nvSpPr>
          <p:cNvPr id="3" name="Footer Placeholder 2">
            <a:extLst>
              <a:ext uri="{FF2B5EF4-FFF2-40B4-BE49-F238E27FC236}">
                <a16:creationId xmlns:a16="http://schemas.microsoft.com/office/drawing/2014/main" id="{2FFE7C93-7D43-7435-CEAB-EA084A7DFDED}"/>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B5DE93E2-6B76-394A-1BDE-330E9CB32B07}"/>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2873738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A0FF9-5130-E2BD-D106-AD38EF3F1E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41FD2440-F9D0-7F37-DA56-0F9F39D04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74C712BB-1B58-6FB2-199F-25BEF2A27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AD495-A7D8-E8F0-C704-17BDA40F5C8D}"/>
              </a:ext>
            </a:extLst>
          </p:cNvPr>
          <p:cNvSpPr>
            <a:spLocks noGrp="1"/>
          </p:cNvSpPr>
          <p:nvPr>
            <p:ph type="dt" sz="half" idx="10"/>
          </p:nvPr>
        </p:nvSpPr>
        <p:spPr/>
        <p:txBody>
          <a:bodyPr/>
          <a:lstStyle/>
          <a:p>
            <a:endParaRPr lang="en-AE"/>
          </a:p>
        </p:txBody>
      </p:sp>
      <p:sp>
        <p:nvSpPr>
          <p:cNvPr id="6" name="Footer Placeholder 5">
            <a:extLst>
              <a:ext uri="{FF2B5EF4-FFF2-40B4-BE49-F238E27FC236}">
                <a16:creationId xmlns:a16="http://schemas.microsoft.com/office/drawing/2014/main" id="{49DDA20D-8CB0-DBC9-73CC-0B1C0FB8D4A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38E17995-C088-5117-7D75-E8A0D1A6293A}"/>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217698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4513A-8CB8-CC76-5037-34DAEEF68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B7F1C58F-9D62-6A1C-7A70-3A93ED84F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61D7D9F7-D5C8-3F83-6E0F-0620A01F9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5AE132-83D7-42D7-0F77-F67B6BF2D725}"/>
              </a:ext>
            </a:extLst>
          </p:cNvPr>
          <p:cNvSpPr>
            <a:spLocks noGrp="1"/>
          </p:cNvSpPr>
          <p:nvPr>
            <p:ph type="dt" sz="half" idx="10"/>
          </p:nvPr>
        </p:nvSpPr>
        <p:spPr/>
        <p:txBody>
          <a:bodyPr/>
          <a:lstStyle/>
          <a:p>
            <a:endParaRPr lang="en-AE"/>
          </a:p>
        </p:txBody>
      </p:sp>
      <p:sp>
        <p:nvSpPr>
          <p:cNvPr id="6" name="Footer Placeholder 5">
            <a:extLst>
              <a:ext uri="{FF2B5EF4-FFF2-40B4-BE49-F238E27FC236}">
                <a16:creationId xmlns:a16="http://schemas.microsoft.com/office/drawing/2014/main" id="{A110B690-3C76-FD67-2293-960A01C0C756}"/>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FC380855-DD14-B784-009D-5F43529576D2}"/>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1930277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AFC0-FB0D-95F7-A617-DFB6ACE8AA73}"/>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4AF94591-F319-FF5A-B1A1-E8F90D0EB6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CEC7928-F916-E03A-9B85-D013CE992E00}"/>
              </a:ext>
            </a:extLst>
          </p:cNvPr>
          <p:cNvSpPr>
            <a:spLocks noGrp="1"/>
          </p:cNvSpPr>
          <p:nvPr>
            <p:ph type="dt" sz="half" idx="10"/>
          </p:nvPr>
        </p:nvSpPr>
        <p:spPr/>
        <p:txBody>
          <a:bodyPr/>
          <a:lstStyle/>
          <a:p>
            <a:endParaRPr lang="en-AE"/>
          </a:p>
        </p:txBody>
      </p:sp>
      <p:sp>
        <p:nvSpPr>
          <p:cNvPr id="5" name="Footer Placeholder 4">
            <a:extLst>
              <a:ext uri="{FF2B5EF4-FFF2-40B4-BE49-F238E27FC236}">
                <a16:creationId xmlns:a16="http://schemas.microsoft.com/office/drawing/2014/main" id="{070D280D-B9B5-D9A5-465F-55E2D5D111B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E2DCC9B-2B7B-5181-A4DB-A65B7B203FED}"/>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795184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D39A77-4655-43A7-9D75-BB0DBBD8AD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6DC701FD-733A-D5D0-5B97-BBC7F184B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FCF6E4D-A751-3EF6-63DC-29216FFE0A16}"/>
              </a:ext>
            </a:extLst>
          </p:cNvPr>
          <p:cNvSpPr>
            <a:spLocks noGrp="1"/>
          </p:cNvSpPr>
          <p:nvPr>
            <p:ph type="dt" sz="half" idx="10"/>
          </p:nvPr>
        </p:nvSpPr>
        <p:spPr/>
        <p:txBody>
          <a:bodyPr/>
          <a:lstStyle/>
          <a:p>
            <a:endParaRPr lang="en-AE"/>
          </a:p>
        </p:txBody>
      </p:sp>
      <p:sp>
        <p:nvSpPr>
          <p:cNvPr id="5" name="Footer Placeholder 4">
            <a:extLst>
              <a:ext uri="{FF2B5EF4-FFF2-40B4-BE49-F238E27FC236}">
                <a16:creationId xmlns:a16="http://schemas.microsoft.com/office/drawing/2014/main" id="{348AD990-7727-6D28-2DC6-B32B31F781A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6CEF9509-A9D8-7DB2-2CE4-225E4E498E49}"/>
              </a:ext>
            </a:extLst>
          </p:cNvPr>
          <p:cNvSpPr>
            <a:spLocks noGrp="1"/>
          </p:cNvSpPr>
          <p:nvPr>
            <p:ph type="sldNum" sz="quarter" idx="12"/>
          </p:nvPr>
        </p:nvSpPr>
        <p:spPr/>
        <p:txBody>
          <a:bodyPr/>
          <a:lstStyle/>
          <a:p>
            <a:fld id="{8D2BF91B-0CBE-4174-9ED3-70A36405CB62}" type="slidenum">
              <a:rPr lang="en-AE" smtClean="0"/>
              <a:t>‹#›</a:t>
            </a:fld>
            <a:endParaRPr lang="en-AE"/>
          </a:p>
        </p:txBody>
      </p:sp>
    </p:spTree>
    <p:extLst>
      <p:ext uri="{BB962C8B-B14F-4D97-AF65-F5344CB8AC3E}">
        <p14:creationId xmlns:p14="http://schemas.microsoft.com/office/powerpoint/2010/main" val="1936071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pic>
        <p:nvPicPr>
          <p:cNvPr id="5" name="Picture 4" descr="A green and blue gradient">
            <a:extLst>
              <a:ext uri="{FF2B5EF4-FFF2-40B4-BE49-F238E27FC236}">
                <a16:creationId xmlns:a16="http://schemas.microsoft.com/office/drawing/2014/main" id="{3F8AC7A3-B0F9-C25D-4A56-9C34F2467C77}"/>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00" y="418"/>
            <a:ext cx="12191800" cy="4647783"/>
          </a:xfrm>
          <a:prstGeom prst="rect">
            <a:avLst/>
          </a:prstGeom>
        </p:spPr>
      </p:pic>
      <p:pic>
        <p:nvPicPr>
          <p:cNvPr id="2" name="Picture 1" descr="A black and white logo&#10;&#10;Description automatically generated">
            <a:extLst>
              <a:ext uri="{FF2B5EF4-FFF2-40B4-BE49-F238E27FC236}">
                <a16:creationId xmlns:a16="http://schemas.microsoft.com/office/drawing/2014/main" id="{F6026F8F-28AA-255C-F674-81D5DFD164FA}"/>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4940114" y="5359401"/>
            <a:ext cx="2311773" cy="916332"/>
          </a:xfrm>
          <a:prstGeom prst="rect">
            <a:avLst/>
          </a:prstGeom>
        </p:spPr>
      </p:pic>
    </p:spTree>
    <p:extLst>
      <p:ext uri="{BB962C8B-B14F-4D97-AF65-F5344CB8AC3E}">
        <p14:creationId xmlns:p14="http://schemas.microsoft.com/office/powerpoint/2010/main" val="409524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5" name="Picture 4" descr="A green and blue gradient">
            <a:extLst>
              <a:ext uri="{FF2B5EF4-FFF2-40B4-BE49-F238E27FC236}">
                <a16:creationId xmlns:a16="http://schemas.microsoft.com/office/drawing/2014/main" id="{3F8AC7A3-B0F9-C25D-4A56-9C34F2467C77}"/>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00" y="418"/>
            <a:ext cx="12191800" cy="4647783"/>
          </a:xfrm>
          <a:prstGeom prst="rect">
            <a:avLst/>
          </a:prstGeom>
        </p:spPr>
      </p:pic>
      <p:pic>
        <p:nvPicPr>
          <p:cNvPr id="2" name="Picture 1" descr="A black and white logo&#10;&#10;Description automatically generated">
            <a:extLst>
              <a:ext uri="{FF2B5EF4-FFF2-40B4-BE49-F238E27FC236}">
                <a16:creationId xmlns:a16="http://schemas.microsoft.com/office/drawing/2014/main" id="{F6026F8F-28AA-255C-F674-81D5DFD164FA}"/>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4940114" y="5359401"/>
            <a:ext cx="2311773" cy="916332"/>
          </a:xfrm>
          <a:prstGeom prst="rect">
            <a:avLst/>
          </a:prstGeom>
        </p:spPr>
      </p:pic>
    </p:spTree>
    <p:extLst>
      <p:ext uri="{BB962C8B-B14F-4D97-AF65-F5344CB8AC3E}">
        <p14:creationId xmlns:p14="http://schemas.microsoft.com/office/powerpoint/2010/main" val="3990359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Up: 1 Top, 2 Botto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81E2F-2A87-AAE1-FD51-4D13237A90D0}"/>
              </a:ext>
            </a:extLst>
          </p:cNvPr>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901550" y="685800"/>
            <a:ext cx="10694561" cy="491379"/>
          </a:xfrm>
          <a:prstGeom prst="rect">
            <a:avLst/>
          </a:prstGeom>
        </p:spPr>
      </p:pic>
      <p:pic>
        <p:nvPicPr>
          <p:cNvPr id="9" name="Picture 8" descr="A green and blue gradient&#10;&#10;Description automatically generated">
            <a:extLst>
              <a:ext uri="{FF2B5EF4-FFF2-40B4-BE49-F238E27FC236}">
                <a16:creationId xmlns:a16="http://schemas.microsoft.com/office/drawing/2014/main" id="{6DB72C90-91FF-983E-3362-225E3BBCFE4E}"/>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3660" y="2"/>
            <a:ext cx="711119" cy="6857999"/>
          </a:xfrm>
          <a:prstGeom prst="rect">
            <a:avLst/>
          </a:prstGeom>
        </p:spPr>
      </p:pic>
    </p:spTree>
    <p:extLst>
      <p:ext uri="{BB962C8B-B14F-4D97-AF65-F5344CB8AC3E}">
        <p14:creationId xmlns:p14="http://schemas.microsoft.com/office/powerpoint/2010/main" val="704865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6B8FED-3279-AE2C-7096-565C0670DC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E3428A95-C3AB-CF23-D36C-D718AD73D5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F020203E-1DCC-0D15-D208-961FD3B521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AE"/>
          </a:p>
        </p:txBody>
      </p:sp>
      <p:sp>
        <p:nvSpPr>
          <p:cNvPr id="5" name="Footer Placeholder 4">
            <a:extLst>
              <a:ext uri="{FF2B5EF4-FFF2-40B4-BE49-F238E27FC236}">
                <a16:creationId xmlns:a16="http://schemas.microsoft.com/office/drawing/2014/main" id="{5A383E27-6662-C061-9CA0-A6270961D2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0438AA4A-AB9B-4ABD-73F9-BB93AF1281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2BF91B-0CBE-4174-9ED3-70A36405CB62}" type="slidenum">
              <a:rPr lang="en-AE" smtClean="0"/>
              <a:t>‹#›</a:t>
            </a:fld>
            <a:endParaRPr lang="en-AE"/>
          </a:p>
        </p:txBody>
      </p:sp>
    </p:spTree>
    <p:extLst>
      <p:ext uri="{BB962C8B-B14F-4D97-AF65-F5344CB8AC3E}">
        <p14:creationId xmlns:p14="http://schemas.microsoft.com/office/powerpoint/2010/main" val="38056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F1FBB24-D8C7-C153-B258-9BB212BB9D6D}"/>
              </a:ext>
            </a:extLst>
          </p:cNvPr>
          <p:cNvSpPr>
            <a:spLocks noGrp="1" noRot="1" noMove="1" noResize="1" noEditPoints="1" noAdjustHandles="1" noChangeArrowheads="1" noChangeShapeType="1"/>
          </p:cNvSpPr>
          <p:nvPr userDrawn="1"/>
        </p:nvSpPr>
        <p:spPr>
          <a:xfrm rot="5400000" flipV="1">
            <a:off x="8712201" y="3378201"/>
            <a:ext cx="6858000" cy="101599"/>
          </a:xfrm>
          <a:prstGeom prst="rect">
            <a:avLst/>
          </a:prstGeom>
          <a:gradFill flip="none" rotWithShape="1">
            <a:gsLst>
              <a:gs pos="100000">
                <a:srgbClr val="84BC0F">
                  <a:lumMod val="87000"/>
                </a:srgbClr>
              </a:gs>
              <a:gs pos="42000">
                <a:srgbClr val="2A6F66"/>
              </a:gs>
              <a:gs pos="0">
                <a:srgbClr val="00305F"/>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5" dirty="0"/>
          </a:p>
        </p:txBody>
      </p:sp>
      <p:pic>
        <p:nvPicPr>
          <p:cNvPr id="4" name="Picture 3"/>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val="0"/>
              </a:ext>
            </a:extLst>
          </a:blip>
          <a:srcRect l="-5019" r="-5019"/>
          <a:stretch/>
        </p:blipFill>
        <p:spPr>
          <a:xfrm>
            <a:off x="901549" y="218018"/>
            <a:ext cx="1298613" cy="467783"/>
          </a:xfrm>
          <a:prstGeom prst="rect">
            <a:avLst/>
          </a:prstGeom>
        </p:spPr>
      </p:pic>
      <p:sp>
        <p:nvSpPr>
          <p:cNvPr id="2" name="Title Placeholder 1">
            <a:extLst>
              <a:ext uri="{FF2B5EF4-FFF2-40B4-BE49-F238E27FC236}">
                <a16:creationId xmlns:a16="http://schemas.microsoft.com/office/drawing/2014/main" id="{D588C91E-6D46-BE77-737F-4B6502BBFE35}"/>
              </a:ext>
            </a:extLst>
          </p:cNvPr>
          <p:cNvSpPr>
            <a:spLocks noGrp="1" noRot="1" noMove="1" noResize="1" noEditPoints="1" noAdjustHandles="1" noChangeArrowheads="1" noChangeShapeType="1"/>
          </p:cNvSpPr>
          <p:nvPr>
            <p:ph type="title"/>
          </p:nvPr>
        </p:nvSpPr>
        <p:spPr>
          <a:xfrm>
            <a:off x="838688" y="366185"/>
            <a:ext cx="10514624" cy="1325033"/>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24B8E407-1BEC-BA6D-BDDA-D7487165607B}"/>
              </a:ext>
            </a:extLst>
          </p:cNvPr>
          <p:cNvSpPr>
            <a:spLocks noGrp="1" noRot="1" noMove="1" noResize="1" noEditPoints="1" noAdjustHandles="1" noChangeArrowheads="1" noChangeShapeType="1"/>
          </p:cNvSpPr>
          <p:nvPr>
            <p:ph type="body" idx="1"/>
          </p:nvPr>
        </p:nvSpPr>
        <p:spPr>
          <a:xfrm>
            <a:off x="838688" y="1826684"/>
            <a:ext cx="10514624" cy="43497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A1B3317-1AE7-901A-2EA2-5DEFF1D9839B}"/>
              </a:ext>
            </a:extLst>
          </p:cNvPr>
          <p:cNvSpPr>
            <a:spLocks noGrp="1" noRot="1" noMove="1" noResize="1" noEditPoints="1" noAdjustHandles="1" noChangeArrowheads="1" noChangeShapeType="1"/>
          </p:cNvSpPr>
          <p:nvPr>
            <p:ph type="ftr" sz="quarter" idx="3"/>
          </p:nvPr>
        </p:nvSpPr>
        <p:spPr>
          <a:xfrm>
            <a:off x="4039068" y="6356351"/>
            <a:ext cx="4113865" cy="366183"/>
          </a:xfrm>
          <a:prstGeom prst="rect">
            <a:avLst/>
          </a:prstGeom>
        </p:spPr>
        <p:txBody>
          <a:bodyPr vert="horz" lIns="91440" tIns="45720" rIns="91440" bIns="45720" rtlCol="0" anchor="ctr"/>
          <a:lstStyle>
            <a:lvl1pPr algn="ctr">
              <a:defRPr sz="1203">
                <a:solidFill>
                  <a:schemeClr val="tx1">
                    <a:tint val="82000"/>
                  </a:schemeClr>
                </a:solidFill>
              </a:defRPr>
            </a:lvl1pPr>
          </a:lstStyle>
          <a:p>
            <a:endParaRPr lang="en-US"/>
          </a:p>
        </p:txBody>
      </p:sp>
      <p:sp>
        <p:nvSpPr>
          <p:cNvPr id="7" name="Slide Number Placeholder 6">
            <a:extLst>
              <a:ext uri="{FF2B5EF4-FFF2-40B4-BE49-F238E27FC236}">
                <a16:creationId xmlns:a16="http://schemas.microsoft.com/office/drawing/2014/main" id="{873C6C8B-42C6-6B64-E908-87DE76D1AF68}"/>
              </a:ext>
            </a:extLst>
          </p:cNvPr>
          <p:cNvSpPr>
            <a:spLocks noGrp="1" noRot="1" noMove="1" noResize="1" noEditPoints="1" noAdjustHandles="1" noChangeArrowheads="1" noChangeShapeType="1"/>
          </p:cNvSpPr>
          <p:nvPr>
            <p:ph type="sldNum" sz="quarter" idx="4"/>
          </p:nvPr>
        </p:nvSpPr>
        <p:spPr>
          <a:xfrm>
            <a:off x="8611266" y="6356351"/>
            <a:ext cx="2742046" cy="366183"/>
          </a:xfrm>
          <a:prstGeom prst="rect">
            <a:avLst/>
          </a:prstGeom>
        </p:spPr>
        <p:txBody>
          <a:bodyPr vert="horz" lIns="91440" tIns="45720" rIns="91440" bIns="45720" rtlCol="0" anchor="ctr"/>
          <a:lstStyle>
            <a:lvl1pPr algn="r">
              <a:defRPr sz="1203">
                <a:solidFill>
                  <a:schemeClr val="tx1">
                    <a:tint val="82000"/>
                  </a:schemeClr>
                </a:solidFill>
              </a:defRPr>
            </a:lvl1pPr>
          </a:lstStyle>
          <a:p>
            <a:fld id="{E2FAEE9B-351E-4F9B-A70F-C97974E9BCB8}" type="slidenum">
              <a:rPr lang="en-US" smtClean="0"/>
              <a:t>‹#›</a:t>
            </a:fld>
            <a:endParaRPr lang="en-US"/>
          </a:p>
        </p:txBody>
      </p:sp>
      <p:sp>
        <p:nvSpPr>
          <p:cNvPr id="8" name="TextBox 5">
            <a:extLst>
              <a:ext uri="{FF2B5EF4-FFF2-40B4-BE49-F238E27FC236}">
                <a16:creationId xmlns:a16="http://schemas.microsoft.com/office/drawing/2014/main" id="{C1B9C1CE-298D-A741-6300-14BAFBFE01A4}"/>
              </a:ext>
            </a:extLst>
          </p:cNvPr>
          <p:cNvSpPr txBox="1"/>
          <p:nvPr userDrawn="1"/>
        </p:nvSpPr>
        <p:spPr>
          <a:xfrm rot="5400000" flipH="1" flipV="1">
            <a:off x="10897201" y="5652562"/>
            <a:ext cx="2224701" cy="215978"/>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Calibri" pitchFamily="34" charset="0"/>
                <a:ea typeface="+mn-ea"/>
                <a:cs typeface="Arial" pitchFamily="34" charset="0"/>
              </a:defRPr>
            </a:lvl1pPr>
            <a:lvl2pPr marL="455613" indent="1588" algn="l" rtl="0" fontAlgn="base">
              <a:spcBef>
                <a:spcPct val="0"/>
              </a:spcBef>
              <a:spcAft>
                <a:spcPct val="0"/>
              </a:spcAft>
              <a:defRPr kern="1200">
                <a:solidFill>
                  <a:schemeClr val="tx1"/>
                </a:solidFill>
                <a:latin typeface="Calibri" pitchFamily="34" charset="0"/>
                <a:ea typeface="+mn-ea"/>
                <a:cs typeface="Arial" pitchFamily="34" charset="0"/>
              </a:defRPr>
            </a:lvl2pPr>
            <a:lvl3pPr marL="912813" indent="1588" algn="l" rtl="0" fontAlgn="base">
              <a:spcBef>
                <a:spcPct val="0"/>
              </a:spcBef>
              <a:spcAft>
                <a:spcPct val="0"/>
              </a:spcAft>
              <a:defRPr kern="1200">
                <a:solidFill>
                  <a:schemeClr val="tx1"/>
                </a:solidFill>
                <a:latin typeface="Calibri" pitchFamily="34" charset="0"/>
                <a:ea typeface="+mn-ea"/>
                <a:cs typeface="Arial" pitchFamily="34" charset="0"/>
              </a:defRPr>
            </a:lvl3pPr>
            <a:lvl4pPr marL="1370013" indent="1588" algn="l" rtl="0" fontAlgn="base">
              <a:spcBef>
                <a:spcPct val="0"/>
              </a:spcBef>
              <a:spcAft>
                <a:spcPct val="0"/>
              </a:spcAft>
              <a:defRPr kern="1200">
                <a:solidFill>
                  <a:schemeClr val="tx1"/>
                </a:solidFill>
                <a:latin typeface="Calibri" pitchFamily="34" charset="0"/>
                <a:ea typeface="+mn-ea"/>
                <a:cs typeface="Arial" pitchFamily="34" charset="0"/>
              </a:defRPr>
            </a:lvl4pPr>
            <a:lvl5pPr marL="1825625" indent="3175" algn="l" rtl="0" fontAlgn="base">
              <a:spcBef>
                <a:spcPct val="0"/>
              </a:spcBef>
              <a:spcAft>
                <a:spcPct val="0"/>
              </a:spcAft>
              <a:defRPr kern="1200">
                <a:solidFill>
                  <a:schemeClr val="tx1"/>
                </a:solidFill>
                <a:latin typeface="Calibri" pitchFamily="34" charset="0"/>
                <a:ea typeface="+mn-ea"/>
                <a:cs typeface="Arial" pitchFamily="34" charset="0"/>
              </a:defRPr>
            </a:lvl5pPr>
            <a:lvl6pPr marL="2286000" algn="l" defTabSz="914400" rtl="0" eaLnBrk="1" latinLnBrk="0" hangingPunct="1">
              <a:defRPr kern="1200">
                <a:solidFill>
                  <a:schemeClr val="tx1"/>
                </a:solidFill>
                <a:latin typeface="Calibri" pitchFamily="34" charset="0"/>
                <a:ea typeface="+mn-ea"/>
                <a:cs typeface="Arial" pitchFamily="34" charset="0"/>
              </a:defRPr>
            </a:lvl6pPr>
            <a:lvl7pPr marL="2743200" algn="l" defTabSz="914400" rtl="0" eaLnBrk="1" latinLnBrk="0" hangingPunct="1">
              <a:defRPr kern="1200">
                <a:solidFill>
                  <a:schemeClr val="tx1"/>
                </a:solidFill>
                <a:latin typeface="Calibri" pitchFamily="34" charset="0"/>
                <a:ea typeface="+mn-ea"/>
                <a:cs typeface="Arial" pitchFamily="34" charset="0"/>
              </a:defRPr>
            </a:lvl7pPr>
            <a:lvl8pPr marL="3200400" algn="l" defTabSz="914400" rtl="0" eaLnBrk="1" latinLnBrk="0" hangingPunct="1">
              <a:defRPr kern="1200">
                <a:solidFill>
                  <a:schemeClr val="tx1"/>
                </a:solidFill>
                <a:latin typeface="Calibri" pitchFamily="34" charset="0"/>
                <a:ea typeface="+mn-ea"/>
                <a:cs typeface="Arial" pitchFamily="34" charset="0"/>
              </a:defRPr>
            </a:lvl8pPr>
            <a:lvl9pPr marL="3657600" algn="l" defTabSz="914400" rtl="0" eaLnBrk="1" latinLnBrk="0" hangingPunct="1">
              <a:defRPr kern="1200">
                <a:solidFill>
                  <a:schemeClr val="tx1"/>
                </a:solidFill>
                <a:latin typeface="Calibri" pitchFamily="34" charset="0"/>
                <a:ea typeface="+mn-ea"/>
                <a:cs typeface="Arial" pitchFamily="34" charset="0"/>
              </a:defRPr>
            </a:lvl9pPr>
          </a:lstStyle>
          <a:p>
            <a:r>
              <a:rPr lang="en-US" sz="802" b="1" dirty="0">
                <a:solidFill>
                  <a:schemeClr val="bg1">
                    <a:lumMod val="65000"/>
                  </a:schemeClr>
                </a:solidFill>
                <a:effectLst/>
                <a:latin typeface="Times New Roman" panose="02020603050405020304" pitchFamily="18" charset="0"/>
                <a:ea typeface="Aptos" panose="020B0004020202020204" pitchFamily="34" charset="0"/>
                <a:cs typeface="Times New Roman" panose="02020603050405020304" pitchFamily="18" charset="0"/>
              </a:rPr>
              <a:t>10000-000-BD1-PRS-0008 (10/24)</a:t>
            </a:r>
            <a:endParaRPr lang="en-US" sz="802" b="1"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1739641"/>
      </p:ext>
    </p:extLst>
  </p:cSld>
  <p:clrMap bg1="lt1" tx1="dk1" bg2="lt2" tx2="dk2" accent1="accent1" accent2="accent2" accent3="accent3" accent4="accent4" accent5="accent5" accent6="accent6" hlink="hlink" folHlink="folHlink"/>
  <p:sldLayoutIdLst>
    <p:sldLayoutId id="2147483663" r:id="rId1"/>
    <p:sldLayoutId id="2147483664" r:id="rId2"/>
  </p:sldLayoutIdLst>
  <p:hf hdr="0" ftr="0" dt="0"/>
  <p:txStyles>
    <p:titleStyle>
      <a:lvl1pPr algn="l" rtl="0" eaLnBrk="1" latinLnBrk="0" hangingPunct="1">
        <a:spcBef>
          <a:spcPct val="0"/>
        </a:spcBef>
        <a:buNone/>
        <a:defRPr sz="2406" cap="small" spc="0" baseline="0">
          <a:solidFill>
            <a:schemeClr val="bg1"/>
          </a:solidFill>
          <a:latin typeface="+mj-lt"/>
          <a:ea typeface="+mj-ea"/>
          <a:cs typeface="+mj-cs"/>
        </a:defRPr>
      </a:lvl1pPr>
      <a:extLst/>
    </p:titleStyle>
    <p:bodyStyle>
      <a:lvl1pPr marL="0" marR="0" indent="0" algn="l" rtl="0" eaLnBrk="1" latinLnBrk="0" hangingPunct="1">
        <a:spcBef>
          <a:spcPct val="20000"/>
        </a:spcBef>
        <a:buFontTx/>
        <a:buNone/>
        <a:defRPr sz="1103">
          <a:solidFill>
            <a:schemeClr val="tx1"/>
          </a:solidFill>
          <a:latin typeface="+mn-lt"/>
          <a:ea typeface="+mn-ea"/>
          <a:cs typeface="+mn-cs"/>
        </a:defRPr>
      </a:lvl1pPr>
      <a:lvl2pPr marL="744807" indent="-286464" algn="l" rtl="0" eaLnBrk="1" latinLnBrk="0" hangingPunct="1">
        <a:spcBef>
          <a:spcPct val="20000"/>
        </a:spcBef>
        <a:buFontTx/>
        <a:buNone/>
        <a:defRPr sz="1103">
          <a:solidFill>
            <a:schemeClr val="tx1"/>
          </a:solidFill>
          <a:latin typeface="+mn-lt"/>
          <a:ea typeface="+mn-ea"/>
          <a:cs typeface="+mn-cs"/>
        </a:defRPr>
      </a:lvl2pPr>
      <a:lvl3pPr marL="1145858" indent="-229172" algn="l" rtl="0" eaLnBrk="1" latinLnBrk="0" hangingPunct="1">
        <a:spcBef>
          <a:spcPct val="20000"/>
        </a:spcBef>
        <a:buFontTx/>
        <a:buNone/>
        <a:defRPr sz="1103">
          <a:solidFill>
            <a:schemeClr val="tx1"/>
          </a:solidFill>
          <a:latin typeface="+mn-lt"/>
          <a:ea typeface="+mn-ea"/>
          <a:cs typeface="+mn-cs"/>
        </a:defRPr>
      </a:lvl3pPr>
      <a:lvl4pPr marL="1604201" indent="-229172" algn="l" rtl="0" eaLnBrk="1" latinLnBrk="0" hangingPunct="1">
        <a:spcBef>
          <a:spcPct val="20000"/>
        </a:spcBef>
        <a:buFontTx/>
        <a:buNone/>
        <a:defRPr sz="1103">
          <a:solidFill>
            <a:schemeClr val="tx1"/>
          </a:solidFill>
          <a:latin typeface="+mn-lt"/>
          <a:ea typeface="+mn-ea"/>
          <a:cs typeface="+mn-cs"/>
        </a:defRPr>
      </a:lvl4pPr>
      <a:lvl5pPr marL="2062544" indent="-229172" algn="l" rtl="0" eaLnBrk="1" latinLnBrk="0" hangingPunct="1">
        <a:spcBef>
          <a:spcPct val="20000"/>
        </a:spcBef>
        <a:buFontTx/>
        <a:buNone/>
        <a:defRPr sz="1103">
          <a:solidFill>
            <a:schemeClr val="tx1"/>
          </a:solidFill>
          <a:latin typeface="+mn-lt"/>
          <a:ea typeface="+mn-ea"/>
          <a:cs typeface="+mn-cs"/>
        </a:defRPr>
      </a:lvl5pPr>
      <a:lvl6pPr marL="2520887" indent="-229172" algn="l" rtl="0" eaLnBrk="1" latinLnBrk="0" hangingPunct="1">
        <a:spcBef>
          <a:spcPct val="20000"/>
        </a:spcBef>
        <a:buChar char="•"/>
        <a:defRPr sz="2005">
          <a:solidFill>
            <a:schemeClr val="tx1"/>
          </a:solidFill>
          <a:latin typeface="+mn-lt"/>
          <a:ea typeface="+mn-ea"/>
          <a:cs typeface="+mn-cs"/>
        </a:defRPr>
      </a:lvl6pPr>
      <a:lvl7pPr marL="2979230" indent="-229172" algn="l" rtl="0" eaLnBrk="1" latinLnBrk="0" hangingPunct="1">
        <a:spcBef>
          <a:spcPct val="20000"/>
        </a:spcBef>
        <a:buChar char="•"/>
        <a:defRPr sz="2005">
          <a:solidFill>
            <a:schemeClr val="tx1"/>
          </a:solidFill>
          <a:latin typeface="+mn-lt"/>
          <a:ea typeface="+mn-ea"/>
          <a:cs typeface="+mn-cs"/>
        </a:defRPr>
      </a:lvl7pPr>
      <a:lvl8pPr marL="3437573" indent="-229172" algn="l" rtl="0" eaLnBrk="1" latinLnBrk="0" hangingPunct="1">
        <a:spcBef>
          <a:spcPct val="20000"/>
        </a:spcBef>
        <a:buChar char="•"/>
        <a:defRPr sz="2005">
          <a:solidFill>
            <a:schemeClr val="tx1"/>
          </a:solidFill>
          <a:latin typeface="+mn-lt"/>
          <a:ea typeface="+mn-ea"/>
          <a:cs typeface="+mn-cs"/>
        </a:defRPr>
      </a:lvl8pPr>
      <a:lvl9pPr marL="3895916" indent="-229172" algn="l" rtl="0" eaLnBrk="1" latinLnBrk="0" hangingPunct="1">
        <a:spcBef>
          <a:spcPct val="20000"/>
        </a:spcBef>
        <a:buChar char="•"/>
        <a:defRPr sz="2005">
          <a:solidFill>
            <a:schemeClr val="tx1"/>
          </a:solidFill>
          <a:latin typeface="+mn-lt"/>
          <a:ea typeface="+mn-ea"/>
          <a:cs typeface="+mn-cs"/>
        </a:defRPr>
      </a:lvl9pPr>
      <a:extLst/>
    </p:bodyStyle>
    <p:otherStyle>
      <a:lvl1pPr marL="0" algn="l" rtl="0" eaLnBrk="1" hangingPunct="1">
        <a:defRPr>
          <a:solidFill>
            <a:schemeClr val="tx1"/>
          </a:solidFill>
          <a:latin typeface="+mn-lt"/>
          <a:ea typeface="+mn-ea"/>
          <a:cs typeface="+mn-cs"/>
        </a:defRPr>
      </a:lvl1pPr>
      <a:lvl2pPr marL="458343" algn="l" rtl="0" eaLnBrk="1" hangingPunct="1">
        <a:defRPr>
          <a:solidFill>
            <a:schemeClr val="tx1"/>
          </a:solidFill>
          <a:latin typeface="+mn-lt"/>
          <a:ea typeface="+mn-ea"/>
          <a:cs typeface="+mn-cs"/>
        </a:defRPr>
      </a:lvl2pPr>
      <a:lvl3pPr marL="916686" algn="l" rtl="0" eaLnBrk="1" hangingPunct="1">
        <a:defRPr>
          <a:solidFill>
            <a:schemeClr val="tx1"/>
          </a:solidFill>
          <a:latin typeface="+mn-lt"/>
          <a:ea typeface="+mn-ea"/>
          <a:cs typeface="+mn-cs"/>
        </a:defRPr>
      </a:lvl3pPr>
      <a:lvl4pPr marL="1375029" algn="l" rtl="0" eaLnBrk="1" hangingPunct="1">
        <a:defRPr>
          <a:solidFill>
            <a:schemeClr val="tx1"/>
          </a:solidFill>
          <a:latin typeface="+mn-lt"/>
          <a:ea typeface="+mn-ea"/>
          <a:cs typeface="+mn-cs"/>
        </a:defRPr>
      </a:lvl4pPr>
      <a:lvl5pPr marL="1833372" algn="l" rtl="0" eaLnBrk="1" hangingPunct="1">
        <a:defRPr>
          <a:solidFill>
            <a:schemeClr val="tx1"/>
          </a:solidFill>
          <a:latin typeface="+mn-lt"/>
          <a:ea typeface="+mn-ea"/>
          <a:cs typeface="+mn-cs"/>
        </a:defRPr>
      </a:lvl5pPr>
      <a:lvl6pPr marL="2291715" algn="l" rtl="0" eaLnBrk="1" hangingPunct="1">
        <a:defRPr>
          <a:solidFill>
            <a:schemeClr val="tx1"/>
          </a:solidFill>
          <a:latin typeface="+mn-lt"/>
          <a:ea typeface="+mn-ea"/>
          <a:cs typeface="+mn-cs"/>
        </a:defRPr>
      </a:lvl6pPr>
      <a:lvl7pPr marL="2750058" algn="l" rtl="0" eaLnBrk="1" hangingPunct="1">
        <a:defRPr>
          <a:solidFill>
            <a:schemeClr val="tx1"/>
          </a:solidFill>
          <a:latin typeface="+mn-lt"/>
          <a:ea typeface="+mn-ea"/>
          <a:cs typeface="+mn-cs"/>
        </a:defRPr>
      </a:lvl7pPr>
      <a:lvl8pPr marL="3208401" algn="l" rtl="0" eaLnBrk="1" hangingPunct="1">
        <a:defRPr>
          <a:solidFill>
            <a:schemeClr val="tx1"/>
          </a:solidFill>
          <a:latin typeface="+mn-lt"/>
          <a:ea typeface="+mn-ea"/>
          <a:cs typeface="+mn-cs"/>
        </a:defRPr>
      </a:lvl8pPr>
      <a:lvl9pPr marL="3666744" algn="l" rtl="0" eaLnBrk="1" hangingPunct="1">
        <a:defRPr>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1.jpeg"/><Relationship Id="rId5" Type="http://schemas.openxmlformats.org/officeDocument/2006/relationships/image" Target="../media/image10.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11.jpe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p:cNvSpPr>
          <p:nvPr/>
        </p:nvSpPr>
        <p:spPr>
          <a:xfrm>
            <a:off x="-1" y="1977610"/>
            <a:ext cx="12192001" cy="1067152"/>
          </a:xfrm>
          <a:prstGeom prst="rect">
            <a:avLst/>
          </a:prstGeom>
        </p:spPr>
        <p:txBody>
          <a:bodyPr wrap="square">
            <a:spAutoFit/>
          </a:bodyPr>
          <a:lstStyle/>
          <a:p>
            <a:pPr algn="ctr">
              <a:lnSpc>
                <a:spcPct val="150000"/>
              </a:lnSpc>
            </a:pPr>
            <a:r>
              <a:rPr lang="en-US" sz="4812" b="1" dirty="0">
                <a:solidFill>
                  <a:schemeClr val="bg1"/>
                </a:solidFill>
                <a:latin typeface="Trebuchet MS" panose="020B0603020202020204" pitchFamily="34" charset="0"/>
              </a:rPr>
              <a:t>SMAT Forecast Run</a:t>
            </a:r>
          </a:p>
        </p:txBody>
      </p:sp>
      <p:sp>
        <p:nvSpPr>
          <p:cNvPr id="2" name="Rectangle 1">
            <a:extLst>
              <a:ext uri="{FF2B5EF4-FFF2-40B4-BE49-F238E27FC236}">
                <a16:creationId xmlns:a16="http://schemas.microsoft.com/office/drawing/2014/main" id="{C3128AC4-7D7F-27E2-5142-5A7567136FE8}"/>
              </a:ext>
            </a:extLst>
          </p:cNvPr>
          <p:cNvSpPr/>
          <p:nvPr/>
        </p:nvSpPr>
        <p:spPr>
          <a:xfrm>
            <a:off x="8633637" y="5865614"/>
            <a:ext cx="3558365" cy="771109"/>
          </a:xfrm>
          <a:prstGeom prst="rect">
            <a:avLst/>
          </a:prstGeom>
        </p:spPr>
        <p:txBody>
          <a:bodyPr wrap="square">
            <a:spAutoFit/>
          </a:bodyPr>
          <a:lstStyle/>
          <a:p>
            <a:pPr>
              <a:spcBef>
                <a:spcPct val="20000"/>
              </a:spcBef>
            </a:pPr>
            <a:r>
              <a:rPr lang="en-US" sz="2005" b="1" dirty="0">
                <a:latin typeface="Trebuchet MS" panose="020B0603020202020204" pitchFamily="34" charset="0"/>
                <a:ea typeface="Roboto Slab"/>
                <a:sym typeface="Roboto Slab"/>
              </a:rPr>
              <a:t>Date: Sep 2025</a:t>
            </a:r>
          </a:p>
          <a:p>
            <a:pPr algn="ctr">
              <a:spcBef>
                <a:spcPct val="20000"/>
              </a:spcBef>
            </a:pPr>
            <a:r>
              <a:rPr lang="en-US" sz="2005" b="1" dirty="0">
                <a:latin typeface="Trebuchet MS" panose="020B0603020202020204" pitchFamily="34" charset="0"/>
                <a:ea typeface="Roboto Slab"/>
                <a:sym typeface="Roboto Slab"/>
              </a:rPr>
              <a:t>Organizer: Sherif A. Moneim</a:t>
            </a:r>
          </a:p>
        </p:txBody>
      </p:sp>
    </p:spTree>
    <p:extLst>
      <p:ext uri="{BB962C8B-B14F-4D97-AF65-F5344CB8AC3E}">
        <p14:creationId xmlns:p14="http://schemas.microsoft.com/office/powerpoint/2010/main" val="4275785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DA4F3-6FFA-EDFD-D7A7-B6CBED7717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48B9F1-5C57-8AF4-4DDF-203D74FEE4EA}"/>
              </a:ext>
            </a:extLst>
          </p:cNvPr>
          <p:cNvSpPr>
            <a:spLocks noGrp="1" noRot="1" noMove="1" noResize="1" noEditPoints="1" noAdjustHandles="1" noChangeArrowheads="1" noChangeShapeType="1"/>
          </p:cNvSpPr>
          <p:nvPr/>
        </p:nvSpPr>
        <p:spPr>
          <a:xfrm>
            <a:off x="812800" y="2002038"/>
            <a:ext cx="10160000" cy="2415741"/>
          </a:xfrm>
          <a:prstGeom prst="rect">
            <a:avLst/>
          </a:prstGeom>
        </p:spPr>
        <p:txBody>
          <a:bodyPr wrap="square" lIns="91650" tIns="45823" rIns="91650" bIns="45823">
            <a:spAutoFit/>
          </a:bodyPr>
          <a:lstStyle/>
          <a:p>
            <a:pPr marL="421217" lvl="1" indent="-384591" algn="just" defTabSz="916686" fontAlgn="base">
              <a:lnSpc>
                <a:spcPct val="90000"/>
              </a:lnSpc>
              <a:spcBef>
                <a:spcPct val="0"/>
              </a:spcBef>
              <a:spcAft>
                <a:spcPct val="15000"/>
              </a:spcAft>
              <a:buSzPct val="80000"/>
              <a:buFont typeface="Wingdings 2"/>
              <a:buChar char=""/>
              <a:defRPr/>
            </a:pPr>
            <a:r>
              <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rPr>
              <a:t>Overview</a:t>
            </a:r>
          </a:p>
          <a:p>
            <a:pPr marL="36626" lvl="1" algn="just" defTabSz="916686" fontAlgn="base">
              <a:lnSpc>
                <a:spcPct val="90000"/>
              </a:lnSpc>
              <a:spcBef>
                <a:spcPct val="0"/>
              </a:spcBef>
              <a:spcAft>
                <a:spcPct val="15000"/>
              </a:spcAft>
              <a:buSzPct val="80000"/>
              <a:defRPr/>
            </a:pPr>
            <a:endPar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rPr>
              <a:t>Work package</a:t>
            </a:r>
          </a:p>
          <a:p>
            <a:pPr marL="421217" lvl="1" indent="-384591" algn="just" defTabSz="916686" fontAlgn="base">
              <a:lnSpc>
                <a:spcPct val="90000"/>
              </a:lnSpc>
              <a:spcBef>
                <a:spcPct val="0"/>
              </a:spcBef>
              <a:spcAft>
                <a:spcPct val="15000"/>
              </a:spcAft>
              <a:buSzPct val="80000"/>
              <a:buFont typeface="Wingdings 2"/>
              <a:buChar char=""/>
              <a:defRPr/>
            </a:pPr>
            <a:endPar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rPr>
              <a:t>Material allocation levels</a:t>
            </a:r>
          </a:p>
          <a:p>
            <a:pPr marL="36626" lvl="1" algn="just" defTabSz="916686" fontAlgn="base">
              <a:lnSpc>
                <a:spcPct val="90000"/>
              </a:lnSpc>
              <a:spcBef>
                <a:spcPct val="0"/>
              </a:spcBef>
              <a:spcAft>
                <a:spcPct val="15000"/>
              </a:spcAft>
              <a:buSzPct val="80000"/>
              <a:defRPr/>
            </a:pPr>
            <a:endPar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rPr>
              <a:t>Forecast report </a:t>
            </a:r>
          </a:p>
          <a:p>
            <a:pPr marL="421217" lvl="1" indent="-384591" algn="just" defTabSz="916686" fontAlgn="base">
              <a:lnSpc>
                <a:spcPct val="90000"/>
              </a:lnSpc>
              <a:spcBef>
                <a:spcPct val="0"/>
              </a:spcBef>
              <a:spcAft>
                <a:spcPct val="15000"/>
              </a:spcAft>
              <a:buSzPct val="80000"/>
              <a:buFont typeface="Wingdings 2"/>
              <a:buChar char=""/>
              <a:defRPr/>
            </a:pPr>
            <a:endPar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dirty="0"/>
              <a:t>Forecast </a:t>
            </a:r>
            <a:r>
              <a:rPr lang="en-US" sz="1604" b="1" dirty="0">
                <a:solidFill>
                  <a:srgbClr val="00305F"/>
                </a:solidFill>
                <a:latin typeface="Trebuchet MS" panose="020B0603020202020204" pitchFamily="34" charset="0"/>
                <a:ea typeface="ＭＳ Ｐゴシック" pitchFamily="34" charset="-128"/>
                <a:cs typeface="Calibri" panose="020F0502020204030204" pitchFamily="34" charset="0"/>
              </a:rPr>
              <a:t> shortage receipt notifications</a:t>
            </a:r>
          </a:p>
        </p:txBody>
      </p:sp>
      <p:sp>
        <p:nvSpPr>
          <p:cNvPr id="2" name="Rectangle 1">
            <a:extLst>
              <a:ext uri="{FF2B5EF4-FFF2-40B4-BE49-F238E27FC236}">
                <a16:creationId xmlns:a16="http://schemas.microsoft.com/office/drawing/2014/main" id="{1DB1E3C7-2210-1AE3-1B47-E5F8C7C9D04B}"/>
              </a:ext>
            </a:extLst>
          </p:cNvPr>
          <p:cNvSpPr>
            <a:spLocks noGrp="1" noRot="1" noMove="1" noResize="1" noEditPoints="1" noAdjustHandles="1" noChangeArrowheads="1" noChangeShapeType="1"/>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7" name="TextBox 6">
            <a:extLst>
              <a:ext uri="{FF2B5EF4-FFF2-40B4-BE49-F238E27FC236}">
                <a16:creationId xmlns:a16="http://schemas.microsoft.com/office/drawing/2014/main" id="{53DEC450-397C-661C-A304-07CCF0240E97}"/>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Index</a:t>
            </a:r>
          </a:p>
        </p:txBody>
      </p:sp>
      <p:sp>
        <p:nvSpPr>
          <p:cNvPr id="3" name="TextBox 2">
            <a:extLst>
              <a:ext uri="{FF2B5EF4-FFF2-40B4-BE49-F238E27FC236}">
                <a16:creationId xmlns:a16="http://schemas.microsoft.com/office/drawing/2014/main" id="{FBCFE78D-31ED-74F6-0336-402F9F1988ED}"/>
              </a:ext>
            </a:extLst>
          </p:cNvPr>
          <p:cNvSpPr txBox="1"/>
          <p:nvPr/>
        </p:nvSpPr>
        <p:spPr>
          <a:xfrm>
            <a:off x="899319" y="740378"/>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Index</a:t>
            </a:r>
          </a:p>
        </p:txBody>
      </p:sp>
    </p:spTree>
    <p:extLst>
      <p:ext uri="{BB962C8B-B14F-4D97-AF65-F5344CB8AC3E}">
        <p14:creationId xmlns:p14="http://schemas.microsoft.com/office/powerpoint/2010/main" val="650320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893A7-6BB7-310A-3472-DC32515AC23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46316F3-0667-153A-EF52-53B865070EF7}"/>
              </a:ext>
            </a:extLst>
          </p:cNvPr>
          <p:cNvSpPr>
            <a:spLocks/>
          </p:cNvSpPr>
          <p:nvPr/>
        </p:nvSpPr>
        <p:spPr>
          <a:xfrm>
            <a:off x="901549" y="2532414"/>
            <a:ext cx="10847236" cy="2695048"/>
          </a:xfrm>
          <a:prstGeom prst="rect">
            <a:avLst/>
          </a:prstGeom>
        </p:spPr>
        <p:txBody>
          <a:bodyPr wrap="square" lIns="91650" tIns="45823" rIns="91650" bIns="45823">
            <a:spAutoFit/>
          </a:bodyPr>
          <a:lstStyle/>
          <a:p>
            <a:pPr marL="421217" lvl="1" indent="-384591" algn="just" defTabSz="916686" fontAlgn="base">
              <a:lnSpc>
                <a:spcPct val="140000"/>
              </a:lnSpc>
              <a:spcBef>
                <a:spcPct val="0"/>
              </a:spcBef>
              <a:spcAft>
                <a:spcPct val="15000"/>
              </a:spcAft>
              <a:buSzPct val="80000"/>
              <a:buFont typeface="Wingdings 2"/>
              <a:buChar char=""/>
              <a:defRPr/>
            </a:pPr>
            <a:r>
              <a:rPr lang="en-US" sz="1604" b="1" dirty="0">
                <a:solidFill>
                  <a:srgbClr val="387955"/>
                </a:solidFill>
                <a:latin typeface="Trebuchet MS" panose="020B0603020202020204" pitchFamily="34" charset="0"/>
                <a:ea typeface="ＭＳ Ｐゴシック" pitchFamily="34" charset="-128"/>
                <a:cs typeface="Calibri" panose="020F0502020204030204" pitchFamily="34" charset="0"/>
              </a:rPr>
              <a:t>Forecasting Key Features</a:t>
            </a: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Simulate materials availability</a:t>
            </a: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Plan project work and subcontractor needs</a:t>
            </a: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Reserve materials in advance (virtually)</a:t>
            </a: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Early alert for material shortages</a:t>
            </a: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Simple conversion from virtual to actual reservations</a:t>
            </a:r>
          </a:p>
          <a:p>
            <a:pPr marL="879560" lvl="2" indent="-384591" algn="just" defTabSz="916686" fontAlgn="base">
              <a:lnSpc>
                <a:spcPct val="14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Material receiving notifications for forecasting shortage items</a:t>
            </a:r>
          </a:p>
        </p:txBody>
      </p:sp>
      <p:sp>
        <p:nvSpPr>
          <p:cNvPr id="3" name="Rectangle 2">
            <a:extLst>
              <a:ext uri="{FF2B5EF4-FFF2-40B4-BE49-F238E27FC236}">
                <a16:creationId xmlns:a16="http://schemas.microsoft.com/office/drawing/2014/main" id="{56035982-C701-3E25-7971-5E9FB347CD7E}"/>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TextBox 1">
            <a:extLst>
              <a:ext uri="{FF2B5EF4-FFF2-40B4-BE49-F238E27FC236}">
                <a16:creationId xmlns:a16="http://schemas.microsoft.com/office/drawing/2014/main" id="{BFDC372D-FCF2-9CE4-2CAF-F43AEB78CFC6}"/>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Overview</a:t>
            </a:r>
          </a:p>
        </p:txBody>
      </p:sp>
      <p:sp>
        <p:nvSpPr>
          <p:cNvPr id="5" name="TextBox 4">
            <a:extLst>
              <a:ext uri="{FF2B5EF4-FFF2-40B4-BE49-F238E27FC236}">
                <a16:creationId xmlns:a16="http://schemas.microsoft.com/office/drawing/2014/main" id="{5AC11A47-B476-EF60-6ABD-EF2506261B52}"/>
              </a:ext>
            </a:extLst>
          </p:cNvPr>
          <p:cNvSpPr txBox="1"/>
          <p:nvPr/>
        </p:nvSpPr>
        <p:spPr>
          <a:xfrm>
            <a:off x="899319" y="1428106"/>
            <a:ext cx="10679656" cy="1110127"/>
          </a:xfrm>
          <a:prstGeom prst="rect">
            <a:avLst/>
          </a:prstGeom>
        </p:spPr>
        <p:txBody>
          <a:bodyPr wrap="square" lIns="91650" tIns="45823" rIns="91650" bIns="45823">
            <a:spAutoFit/>
          </a:bodyPr>
          <a:lstStyle>
            <a:defPPr>
              <a:defRPr lang="en-US"/>
            </a:defPPr>
            <a:lvl2pPr marL="421217" lvl="1" indent="-384591" algn="just" defTabSz="916686" fontAlgn="base">
              <a:lnSpc>
                <a:spcPct val="140000"/>
              </a:lnSpc>
              <a:spcBef>
                <a:spcPct val="0"/>
              </a:spcBef>
              <a:spcAft>
                <a:spcPct val="15000"/>
              </a:spcAft>
              <a:buSzPct val="80000"/>
              <a:buFont typeface="Wingdings 2"/>
              <a:buChar char=""/>
              <a:defRPr sz="1604" b="1">
                <a:solidFill>
                  <a:srgbClr val="387955"/>
                </a:solidFill>
                <a:latin typeface="Trebuchet MS" panose="020B0603020202020204" pitchFamily="34" charset="0"/>
                <a:ea typeface="ＭＳ Ｐゴシック" pitchFamily="34" charset="-128"/>
                <a:cs typeface="Calibri" panose="020F0502020204030204" pitchFamily="34" charset="0"/>
              </a:defRPr>
            </a:lvl2pPr>
            <a:lvl3pPr marL="879560" lvl="2" indent="-384591" algn="just" defTabSz="916686" fontAlgn="base">
              <a:lnSpc>
                <a:spcPct val="140000"/>
              </a:lnSpc>
              <a:spcBef>
                <a:spcPct val="0"/>
              </a:spcBef>
              <a:spcAft>
                <a:spcPct val="15000"/>
              </a:spcAft>
              <a:buSzPct val="80000"/>
              <a:buFont typeface="Wingdings 2"/>
              <a:buChar char=""/>
              <a:defRPr sz="1604">
                <a:solidFill>
                  <a:srgbClr val="00305F"/>
                </a:solidFill>
                <a:latin typeface="Trebuchet MS" panose="020B0603020202020204" pitchFamily="34" charset="0"/>
                <a:ea typeface="ＭＳ Ｐゴシック" pitchFamily="34" charset="-128"/>
                <a:cs typeface="Calibri" panose="020F0502020204030204" pitchFamily="34" charset="0"/>
              </a:defRPr>
            </a:lvl3pPr>
          </a:lstStyle>
          <a:p>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For larger projects, it's important to know specific details in advance for the planning process, figuring out which materials can be prefabricated or installed by certain dates, and to check the material already in transit (shipped items), purchase orders and approved requisitions be delivered by the specified date.</a:t>
            </a:r>
          </a:p>
          <a:p>
            <a:endParaRPr lang="en-AE" dirty="0"/>
          </a:p>
        </p:txBody>
      </p:sp>
    </p:spTree>
    <p:extLst>
      <p:ext uri="{BB962C8B-B14F-4D97-AF65-F5344CB8AC3E}">
        <p14:creationId xmlns:p14="http://schemas.microsoft.com/office/powerpoint/2010/main" val="3111549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6ED6-43B4-76BB-5BA7-5112A7F4D94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9BE4B7-1D02-C685-CB4D-A5F4E9555251}"/>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06BC3571-F213-D885-70A0-8F6EE539C415}"/>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C25CD10B-3002-48BE-017F-9459CE4A1EE2}"/>
              </a:ext>
            </a:extLst>
          </p:cNvPr>
          <p:cNvSpPr/>
          <p:nvPr/>
        </p:nvSpPr>
        <p:spPr>
          <a:xfrm>
            <a:off x="899319" y="1366497"/>
            <a:ext cx="11229181" cy="355541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2360" lvl="1" indent="-384591" algn="just" defTabSz="916686" fontAlgn="base">
              <a:lnSpc>
                <a:spcPct val="90000"/>
              </a:lnSpc>
              <a:spcBef>
                <a:spcPct val="0"/>
              </a:spcBef>
              <a:spcAft>
                <a:spcPct val="15000"/>
              </a:spcAft>
              <a:buSzPct val="80000"/>
              <a:buFont typeface="Wingdings 2"/>
              <a:buChar char=""/>
              <a:defRPr/>
            </a:pPr>
            <a:r>
              <a:rPr lang="en-US" sz="1805" b="1" dirty="0">
                <a:solidFill>
                  <a:srgbClr val="328C3B"/>
                </a:solidFill>
                <a:latin typeface="Trebuchet MS" panose="020B0603020202020204" pitchFamily="34" charset="0"/>
                <a:cs typeface="Arial" pitchFamily="34" charset="0"/>
              </a:rPr>
              <a:t>Forecasting Prerequisites</a:t>
            </a:r>
          </a:p>
          <a:p>
            <a:pPr marL="879560"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Purchased material cycle</a:t>
            </a:r>
          </a:p>
          <a:p>
            <a:pPr marL="879560"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Bill of Materials</a:t>
            </a:r>
          </a:p>
          <a:p>
            <a:pPr marL="879560"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Warehouses are defined</a:t>
            </a:r>
          </a:p>
          <a:p>
            <a:pPr marL="879560"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Work packages</a:t>
            </a:r>
          </a:p>
          <a:p>
            <a:pPr marL="879560"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User permissions </a:t>
            </a:r>
          </a:p>
          <a:p>
            <a:pPr marL="421217" lvl="1"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sz="1805" b="1" dirty="0">
                <a:solidFill>
                  <a:srgbClr val="328C3B"/>
                </a:solidFill>
                <a:latin typeface="Trebuchet MS" panose="020B0603020202020204" pitchFamily="34" charset="0"/>
                <a:cs typeface="Arial" pitchFamily="34" charset="0"/>
              </a:rPr>
              <a:t>Forecasting material Allocation</a:t>
            </a:r>
          </a:p>
          <a:p>
            <a:pPr marL="953312" lvl="3" algn="just" defTabSz="916686" fontAlgn="base">
              <a:lnSpc>
                <a:spcPct val="90000"/>
              </a:lnSpc>
              <a:spcBef>
                <a:spcPct val="0"/>
              </a:spcBef>
              <a:spcAft>
                <a:spcPct val="15000"/>
              </a:spcAft>
              <a:buSzPct val="80000"/>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9560"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94969" lvl="2" algn="just" defTabSz="916686" fontAlgn="base">
              <a:lnSpc>
                <a:spcPct val="90000"/>
              </a:lnSpc>
              <a:spcBef>
                <a:spcPct val="0"/>
              </a:spcBef>
              <a:spcAft>
                <a:spcPct val="15000"/>
              </a:spcAft>
              <a:buSzPct val="80000"/>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p:txBody>
      </p:sp>
      <p:sp>
        <p:nvSpPr>
          <p:cNvPr id="4" name="TextBox 3">
            <a:extLst>
              <a:ext uri="{FF2B5EF4-FFF2-40B4-BE49-F238E27FC236}">
                <a16:creationId xmlns:a16="http://schemas.microsoft.com/office/drawing/2014/main" id="{9E0DA94F-D32F-EF0D-1E96-9CD65B1A8203}"/>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Overview</a:t>
            </a:r>
          </a:p>
        </p:txBody>
      </p:sp>
      <p:pic>
        <p:nvPicPr>
          <p:cNvPr id="5" name="Picture 2" descr="5,375 Bill Materials Stock Vectors and Vector Art | Shutterstock">
            <a:extLst>
              <a:ext uri="{FF2B5EF4-FFF2-40B4-BE49-F238E27FC236}">
                <a16:creationId xmlns:a16="http://schemas.microsoft.com/office/drawing/2014/main" id="{3193F675-C2C2-583D-88D6-5600FE1FB4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89" t="10361" r="2963" b="20396"/>
          <a:stretch>
            <a:fillRect/>
          </a:stretch>
        </p:blipFill>
        <p:spPr bwMode="auto">
          <a:xfrm>
            <a:off x="7809981" y="4200384"/>
            <a:ext cx="2751953" cy="2196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2C7E248-59B7-9CB5-9B0E-5F14D10D4F7F}"/>
              </a:ext>
            </a:extLst>
          </p:cNvPr>
          <p:cNvSpPr/>
          <p:nvPr/>
        </p:nvSpPr>
        <p:spPr>
          <a:xfrm>
            <a:off x="2385364" y="3945274"/>
            <a:ext cx="2880000" cy="2459640"/>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Purchased Materials</a:t>
            </a:r>
          </a:p>
          <a:p>
            <a:r>
              <a:rPr lang="en-US" sz="1400"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(Eng. MTO + Contingency)</a:t>
            </a:r>
            <a:endParaRPr lang="en-US" sz="1400"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8" name="Content Placeholder 4">
            <a:extLst>
              <a:ext uri="{FF2B5EF4-FFF2-40B4-BE49-F238E27FC236}">
                <a16:creationId xmlns:a16="http://schemas.microsoft.com/office/drawing/2014/main" id="{B87473E6-782B-5F3C-085A-F145FF078E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3957" y="4455917"/>
            <a:ext cx="2098800" cy="1908000"/>
          </a:xfrm>
          <a:prstGeom prst="rect">
            <a:avLst/>
          </a:prstGeom>
        </p:spPr>
      </p:pic>
      <p:sp>
        <p:nvSpPr>
          <p:cNvPr id="9" name="Arrow: Right 8">
            <a:extLst>
              <a:ext uri="{FF2B5EF4-FFF2-40B4-BE49-F238E27FC236}">
                <a16:creationId xmlns:a16="http://schemas.microsoft.com/office/drawing/2014/main" id="{0CF5C3AD-71DB-2E01-2AC5-6C1A6572CE6B}"/>
              </a:ext>
            </a:extLst>
          </p:cNvPr>
          <p:cNvSpPr/>
          <p:nvPr/>
        </p:nvSpPr>
        <p:spPr>
          <a:xfrm>
            <a:off x="5739909" y="4794384"/>
            <a:ext cx="1548000" cy="1008000"/>
          </a:xfrm>
          <a:prstGeom prst="rightArrow">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2">
                    <a:lumMod val="75000"/>
                    <a:lumOff val="25000"/>
                  </a:schemeClr>
                </a:solidFill>
              </a:rPr>
              <a:t>Allocation</a:t>
            </a:r>
            <a:endParaRPr lang="en-AE" dirty="0">
              <a:solidFill>
                <a:schemeClr val="tx2">
                  <a:lumMod val="75000"/>
                  <a:lumOff val="25000"/>
                </a:schemeClr>
              </a:solidFill>
            </a:endParaRPr>
          </a:p>
        </p:txBody>
      </p:sp>
      <p:sp>
        <p:nvSpPr>
          <p:cNvPr id="10" name="Rectangle 9">
            <a:extLst>
              <a:ext uri="{FF2B5EF4-FFF2-40B4-BE49-F238E27FC236}">
                <a16:creationId xmlns:a16="http://schemas.microsoft.com/office/drawing/2014/main" id="{BE448BEA-FFE3-498D-1477-97377EFFA5F9}"/>
              </a:ext>
            </a:extLst>
          </p:cNvPr>
          <p:cNvSpPr/>
          <p:nvPr/>
        </p:nvSpPr>
        <p:spPr>
          <a:xfrm>
            <a:off x="7733333" y="3945274"/>
            <a:ext cx="2880000" cy="2451110"/>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Work</a:t>
            </a:r>
            <a:r>
              <a:rPr lang="en-US" dirty="0">
                <a:solidFill>
                  <a:schemeClr val="tx2">
                    <a:lumMod val="75000"/>
                    <a:lumOff val="25000"/>
                  </a:schemeClr>
                </a:solidFill>
              </a:rPr>
              <a:t> </a:t>
            </a:r>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Package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AE" dirty="0"/>
          </a:p>
        </p:txBody>
      </p:sp>
    </p:spTree>
    <p:extLst>
      <p:ext uri="{BB962C8B-B14F-4D97-AF65-F5344CB8AC3E}">
        <p14:creationId xmlns:p14="http://schemas.microsoft.com/office/powerpoint/2010/main" val="2698079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D8D9-0DE6-B0EA-E9FF-EBA4D83862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6CC3B93-9BBD-1D35-FAE9-E151532C1D45}"/>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1E24D3AF-E0A1-7790-B831-C119F9B904B6}"/>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552E3F64-970B-2C1D-FF2B-C0AEBA72FAAC}"/>
              </a:ext>
            </a:extLst>
          </p:cNvPr>
          <p:cNvSpPr/>
          <p:nvPr/>
        </p:nvSpPr>
        <p:spPr>
          <a:xfrm>
            <a:off x="899319" y="1366497"/>
            <a:ext cx="11229181" cy="493489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422360" lvl="1" indent="-384591" algn="just" defTabSz="916686" fontAlgn="base">
              <a:lnSpc>
                <a:spcPct val="90000"/>
              </a:lnSpc>
              <a:spcBef>
                <a:spcPct val="0"/>
              </a:spcBef>
              <a:spcAft>
                <a:spcPct val="15000"/>
              </a:spcAft>
              <a:buSzPct val="80000"/>
              <a:buFont typeface="Wingdings 2"/>
              <a:buChar char=""/>
              <a:defRPr/>
            </a:pPr>
            <a:r>
              <a:rPr lang="en-US" sz="1805" b="1" dirty="0">
                <a:solidFill>
                  <a:srgbClr val="328C3B"/>
                </a:solidFill>
                <a:latin typeface="Trebuchet MS" panose="020B0603020202020204" pitchFamily="34" charset="0"/>
                <a:cs typeface="Arial" pitchFamily="34" charset="0"/>
              </a:rPr>
              <a:t>What is a work package </a:t>
            </a:r>
          </a:p>
          <a:p>
            <a:pPr marL="494969" lvl="2" algn="just" defTabSz="916686" fontAlgn="base">
              <a:lnSpc>
                <a:spcPct val="90000"/>
              </a:lnSpc>
              <a:spcBef>
                <a:spcPct val="0"/>
              </a:spcBef>
              <a:spcAft>
                <a:spcPct val="15000"/>
              </a:spcAft>
              <a:buSzPct val="80000"/>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A work package is a user-defined selection of Bill of Materials that allows you to specify a focused scope of work. Essentially, a work package breaks down a larger project into manageable sections for easier planning, tracking, and control. </a:t>
            </a:r>
          </a:p>
          <a:p>
            <a:pPr marL="421217" lvl="1"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a:p>
            <a:pPr marL="421217" lvl="1" indent="-384591" algn="just" defTabSz="916686" fontAlgn="base">
              <a:lnSpc>
                <a:spcPct val="90000"/>
              </a:lnSpc>
              <a:spcBef>
                <a:spcPct val="0"/>
              </a:spcBef>
              <a:spcAft>
                <a:spcPct val="15000"/>
              </a:spcAft>
              <a:buSzPct val="80000"/>
              <a:buFont typeface="Wingdings 2"/>
              <a:buChar char=""/>
              <a:defRPr/>
            </a:pPr>
            <a:r>
              <a:rPr lang="en-US" sz="1805" b="1" dirty="0">
                <a:solidFill>
                  <a:srgbClr val="328C3B"/>
                </a:solidFill>
                <a:latin typeface="Trebuchet MS" panose="020B0603020202020204" pitchFamily="34" charset="0"/>
                <a:cs typeface="Arial" pitchFamily="34" charset="0"/>
              </a:rPr>
              <a:t>Work package examples</a:t>
            </a:r>
          </a:p>
          <a:p>
            <a:pPr marL="421217" lvl="1"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Shutdown BOM</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Tie-In BOM</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BOM without hold</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A specific material</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Early phase</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Issued isometrics for a specific area </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Pipe racks and sleepers </a:t>
            </a:r>
          </a:p>
          <a:p>
            <a:pPr marL="878417" lvl="2"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Hydrotest loop isometrics</a:t>
            </a: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34321F5F-B711-4F07-7781-697A770CA7C6}"/>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Work Package </a:t>
            </a:r>
          </a:p>
        </p:txBody>
      </p:sp>
    </p:spTree>
    <p:extLst>
      <p:ext uri="{BB962C8B-B14F-4D97-AF65-F5344CB8AC3E}">
        <p14:creationId xmlns:p14="http://schemas.microsoft.com/office/powerpoint/2010/main" val="2611395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93F0-5B97-37BF-669E-57D723B4CDE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1A06802-2E6C-4C91-E50E-49F894114543}"/>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618CB99D-AFC1-16E1-8FD6-90E2B39ED32E}"/>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7FE4CC6A-FD8B-6BAF-C2A6-6D0EF04A4B59}"/>
              </a:ext>
            </a:extLst>
          </p:cNvPr>
          <p:cNvSpPr/>
          <p:nvPr/>
        </p:nvSpPr>
        <p:spPr>
          <a:xfrm>
            <a:off x="899319" y="1366497"/>
            <a:ext cx="11229181" cy="99067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23C4AF0B-1AE9-3DF9-0A27-3575D762DD18}"/>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Material Allocation Levels</a:t>
            </a:r>
          </a:p>
        </p:txBody>
      </p:sp>
      <p:pic>
        <p:nvPicPr>
          <p:cNvPr id="5" name="Picture 4" descr="A group of boxes in a warehouse&#10;&#10;AI-generated content may be incorrect.">
            <a:extLst>
              <a:ext uri="{FF2B5EF4-FFF2-40B4-BE49-F238E27FC236}">
                <a16:creationId xmlns:a16="http://schemas.microsoft.com/office/drawing/2014/main" id="{13E009D8-1465-1CF8-1C2A-5397128AA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6261" y="2449920"/>
            <a:ext cx="1188000" cy="1188000"/>
          </a:xfrm>
          <a:prstGeom prst="rect">
            <a:avLst/>
          </a:prstGeom>
        </p:spPr>
      </p:pic>
      <p:pic>
        <p:nvPicPr>
          <p:cNvPr id="6" name="Picture 5" descr="A cartoon of a ship with boxes&#10;&#10;AI-generated content may be incorrect.">
            <a:extLst>
              <a:ext uri="{FF2B5EF4-FFF2-40B4-BE49-F238E27FC236}">
                <a16:creationId xmlns:a16="http://schemas.microsoft.com/office/drawing/2014/main" id="{A2B6F95C-5A5F-27C1-DA22-13BBF1CD4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6590" y="2725488"/>
            <a:ext cx="1512000" cy="1512000"/>
          </a:xfrm>
          <a:prstGeom prst="rect">
            <a:avLst/>
          </a:prstGeom>
        </p:spPr>
      </p:pic>
      <p:pic>
        <p:nvPicPr>
          <p:cNvPr id="8" name="Picture 7">
            <a:extLst>
              <a:ext uri="{FF2B5EF4-FFF2-40B4-BE49-F238E27FC236}">
                <a16:creationId xmlns:a16="http://schemas.microsoft.com/office/drawing/2014/main" id="{280320E8-A2FD-7833-456A-2A4A626757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7915" y="3170884"/>
            <a:ext cx="1164177" cy="1224000"/>
          </a:xfrm>
          <a:prstGeom prst="rect">
            <a:avLst/>
          </a:prstGeom>
        </p:spPr>
      </p:pic>
      <p:pic>
        <p:nvPicPr>
          <p:cNvPr id="9" name="Picture 4" descr="Pr Purchase Requisition Acronym Business Concept Stock Vector (Royalty  Free) 2094861655 | Shutterstock">
            <a:extLst>
              <a:ext uri="{FF2B5EF4-FFF2-40B4-BE49-F238E27FC236}">
                <a16:creationId xmlns:a16="http://schemas.microsoft.com/office/drawing/2014/main" id="{78062C62-1876-7367-315A-4562DFF99AC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44" t="10770" r="3474" b="20389"/>
          <a:stretch>
            <a:fillRect/>
          </a:stretch>
        </p:blipFill>
        <p:spPr bwMode="auto">
          <a:xfrm>
            <a:off x="1270145" y="3664391"/>
            <a:ext cx="1405981" cy="1152000"/>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164713EE-6369-9AE8-304D-5611A8067503}"/>
              </a:ext>
            </a:extLst>
          </p:cNvPr>
          <p:cNvSpPr/>
          <p:nvPr/>
        </p:nvSpPr>
        <p:spPr>
          <a:xfrm>
            <a:off x="6565694" y="3638884"/>
            <a:ext cx="2016000" cy="144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11" name="Arrow: Right 10">
            <a:extLst>
              <a:ext uri="{FF2B5EF4-FFF2-40B4-BE49-F238E27FC236}">
                <a16:creationId xmlns:a16="http://schemas.microsoft.com/office/drawing/2014/main" id="{09AB0115-6F2F-5648-75DE-90EB52712E03}"/>
              </a:ext>
            </a:extLst>
          </p:cNvPr>
          <p:cNvSpPr/>
          <p:nvPr/>
        </p:nvSpPr>
        <p:spPr>
          <a:xfrm>
            <a:off x="4798963" y="4012946"/>
            <a:ext cx="3780000" cy="144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2" name="Arrow: Right 11">
            <a:extLst>
              <a:ext uri="{FF2B5EF4-FFF2-40B4-BE49-F238E27FC236}">
                <a16:creationId xmlns:a16="http://schemas.microsoft.com/office/drawing/2014/main" id="{8CF374A2-BC44-CA04-4D1C-C1055C70BF31}"/>
              </a:ext>
            </a:extLst>
          </p:cNvPr>
          <p:cNvSpPr/>
          <p:nvPr/>
        </p:nvSpPr>
        <p:spPr>
          <a:xfrm>
            <a:off x="3131165" y="4393817"/>
            <a:ext cx="5472000" cy="144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13" name="Arrow: Right 12">
            <a:extLst>
              <a:ext uri="{FF2B5EF4-FFF2-40B4-BE49-F238E27FC236}">
                <a16:creationId xmlns:a16="http://schemas.microsoft.com/office/drawing/2014/main" id="{C4AA8B59-5E45-1B7E-E41F-437ECA21CABB}"/>
              </a:ext>
            </a:extLst>
          </p:cNvPr>
          <p:cNvSpPr/>
          <p:nvPr/>
        </p:nvSpPr>
        <p:spPr>
          <a:xfrm>
            <a:off x="1188472" y="4809110"/>
            <a:ext cx="7416000" cy="144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4" name="Picture 2" descr="5,375 Bill Materials Stock Vectors and Vector Art | Shutterstock">
            <a:extLst>
              <a:ext uri="{FF2B5EF4-FFF2-40B4-BE49-F238E27FC236}">
                <a16:creationId xmlns:a16="http://schemas.microsoft.com/office/drawing/2014/main" id="{A80F131C-FD16-632A-CC25-D639B5A968A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589" t="10361" r="2963" b="20396"/>
          <a:stretch>
            <a:fillRect/>
          </a:stretch>
        </p:blipFill>
        <p:spPr bwMode="auto">
          <a:xfrm>
            <a:off x="8734854" y="2854460"/>
            <a:ext cx="2706839" cy="2160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2BDB97B7-BB96-3967-40D4-AA38400DD7AB}"/>
              </a:ext>
            </a:extLst>
          </p:cNvPr>
          <p:cNvSpPr/>
          <p:nvPr/>
        </p:nvSpPr>
        <p:spPr>
          <a:xfrm>
            <a:off x="8698277" y="2864734"/>
            <a:ext cx="2839603" cy="2160000"/>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Work Package</a:t>
            </a:r>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endParaRPr lang="en-AE"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272981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CB4B3-D40F-CA3C-81A5-F2237CEDDC3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7C9EAFB-CF52-ABEE-660E-61DC06C4F63E}"/>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90F8771F-5643-4F0C-D8BF-F4CF5A4D468E}"/>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3F9CD59A-EE72-5D9E-2AEE-29B1CF705B54}"/>
              </a:ext>
            </a:extLst>
          </p:cNvPr>
          <p:cNvSpPr/>
          <p:nvPr/>
        </p:nvSpPr>
        <p:spPr>
          <a:xfrm>
            <a:off x="899319" y="1366497"/>
            <a:ext cx="11229181" cy="3064573"/>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8417" lvl="2" indent="-384591" algn="just" defTabSz="916686" fontAlgn="base">
              <a:lnSpc>
                <a:spcPct val="90000"/>
              </a:lnSpc>
              <a:spcBef>
                <a:spcPct val="0"/>
              </a:spcBef>
              <a:spcAft>
                <a:spcPct val="15000"/>
              </a:spcAft>
              <a:buSzPct val="80000"/>
              <a:buFont typeface="Wingdings 2"/>
              <a:buChar char=""/>
              <a:defRPr/>
            </a:pPr>
            <a:r>
              <a:rPr lang="en-US" sz="1604" b="1" dirty="0">
                <a:solidFill>
                  <a:srgbClr val="328C3B"/>
                </a:solidFill>
                <a:latin typeface="Trebuchet MS" panose="020B0603020202020204" pitchFamily="34" charset="0"/>
                <a:ea typeface="ＭＳ Ｐゴシック" pitchFamily="34" charset="-128"/>
                <a:cs typeface="Arial" pitchFamily="34" charset="0"/>
              </a:rPr>
              <a:t>Report Data</a:t>
            </a: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1335617" lvl="3"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Predicated and actual Dia-inch Workfront chart</a:t>
            </a:r>
          </a:p>
          <a:p>
            <a:pPr marL="1335617" lvl="3"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5617" lvl="3"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Allocation level Dia-inch summary</a:t>
            </a:r>
          </a:p>
          <a:p>
            <a:pPr marL="1335617" lvl="3"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5617" lvl="3" indent="-384591" algn="just" defTabSz="916686" fontAlgn="base">
              <a:lnSpc>
                <a:spcPct val="90000"/>
              </a:lnSpc>
              <a:spcBef>
                <a:spcPct val="0"/>
              </a:spcBef>
              <a:spcAft>
                <a:spcPct val="15000"/>
              </a:spcAft>
              <a:buSzPct val="80000"/>
              <a:buFont typeface="Wingdings 2"/>
              <a:buChar char=""/>
              <a:defRPr/>
            </a:pPr>
            <a:r>
              <a:rPr lang="en-US" sz="1604" dirty="0">
                <a:solidFill>
                  <a:srgbClr val="00305F"/>
                </a:solidFill>
                <a:latin typeface="Trebuchet MS" panose="020B0603020202020204" pitchFamily="34" charset="0"/>
                <a:ea typeface="ＭＳ Ｐゴシック" pitchFamily="34" charset="-128"/>
                <a:cs typeface="Calibri" panose="020F0502020204030204" pitchFamily="34" charset="0"/>
              </a:rPr>
              <a:t>DWG completion status and percentage</a:t>
            </a:r>
          </a:p>
          <a:p>
            <a:pPr marL="1335617" lvl="3"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5617" lvl="3"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69AC63CD-3310-C3A6-A4C6-6D28FAA693FA}"/>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Forecast Report</a:t>
            </a:r>
          </a:p>
        </p:txBody>
      </p:sp>
    </p:spTree>
    <p:extLst>
      <p:ext uri="{BB962C8B-B14F-4D97-AF65-F5344CB8AC3E}">
        <p14:creationId xmlns:p14="http://schemas.microsoft.com/office/powerpoint/2010/main" val="1271135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C8E7B-0A1C-1ADB-0FD7-805AD2D546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DEDB1D-B0BC-4CC4-0551-36E6250E62F9}"/>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25D75234-479C-0FD6-3E3B-A4A3D1DDD15A}"/>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F0918C98-2CC4-A4DB-6AC8-56C8526AB2C0}"/>
              </a:ext>
            </a:extLst>
          </p:cNvPr>
          <p:cNvSpPr/>
          <p:nvPr/>
        </p:nvSpPr>
        <p:spPr>
          <a:xfrm>
            <a:off x="899319" y="1366497"/>
            <a:ext cx="11229181" cy="99067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65C6F8F7-B1A1-9BA9-3AB0-1921CCEF0928}"/>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Forecast Report</a:t>
            </a:r>
          </a:p>
        </p:txBody>
      </p:sp>
      <p:pic>
        <p:nvPicPr>
          <p:cNvPr id="6" name="Picture 5">
            <a:extLst>
              <a:ext uri="{FF2B5EF4-FFF2-40B4-BE49-F238E27FC236}">
                <a16:creationId xmlns:a16="http://schemas.microsoft.com/office/drawing/2014/main" id="{52788D67-E069-B7DA-3868-D432655C6F52}"/>
              </a:ext>
            </a:extLst>
          </p:cNvPr>
          <p:cNvPicPr>
            <a:picLocks noChangeAspect="1"/>
          </p:cNvPicPr>
          <p:nvPr/>
        </p:nvPicPr>
        <p:blipFill>
          <a:blip r:embed="rId3"/>
          <a:stretch>
            <a:fillRect/>
          </a:stretch>
        </p:blipFill>
        <p:spPr>
          <a:xfrm>
            <a:off x="899319" y="1339896"/>
            <a:ext cx="10898017" cy="4788000"/>
          </a:xfrm>
          <a:prstGeom prst="rect">
            <a:avLst/>
          </a:prstGeom>
          <a:ln>
            <a:solidFill>
              <a:schemeClr val="bg1">
                <a:lumMod val="75000"/>
              </a:schemeClr>
            </a:solidFill>
          </a:ln>
        </p:spPr>
      </p:pic>
    </p:spTree>
    <p:extLst>
      <p:ext uri="{BB962C8B-B14F-4D97-AF65-F5344CB8AC3E}">
        <p14:creationId xmlns:p14="http://schemas.microsoft.com/office/powerpoint/2010/main" val="3265291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5ECD-8198-AA70-94F5-C9DF668685C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210B44C-97C3-2C2A-D320-B8CFBAC2D50C}"/>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370FCC6A-2E88-A562-A70D-1C5B64AB932B}"/>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30981A9F-37CC-7B2D-6BF9-359A4C533F25}"/>
              </a:ext>
            </a:extLst>
          </p:cNvPr>
          <p:cNvSpPr/>
          <p:nvPr/>
        </p:nvSpPr>
        <p:spPr>
          <a:xfrm>
            <a:off x="899319" y="1366497"/>
            <a:ext cx="11229181" cy="99067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BE1DB1ED-D33B-D44C-C72D-9090DC15D9C8}"/>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Forecast Report</a:t>
            </a:r>
          </a:p>
        </p:txBody>
      </p:sp>
      <p:pic>
        <p:nvPicPr>
          <p:cNvPr id="8" name="Picture 7">
            <a:extLst>
              <a:ext uri="{FF2B5EF4-FFF2-40B4-BE49-F238E27FC236}">
                <a16:creationId xmlns:a16="http://schemas.microsoft.com/office/drawing/2014/main" id="{8C00B3D8-F462-3904-5E06-C96170588705}"/>
              </a:ext>
            </a:extLst>
          </p:cNvPr>
          <p:cNvPicPr>
            <a:picLocks noChangeAspect="1"/>
          </p:cNvPicPr>
          <p:nvPr/>
        </p:nvPicPr>
        <p:blipFill>
          <a:blip r:embed="rId3"/>
          <a:stretch>
            <a:fillRect/>
          </a:stretch>
        </p:blipFill>
        <p:spPr>
          <a:xfrm>
            <a:off x="899318" y="1311321"/>
            <a:ext cx="10913881" cy="4896000"/>
          </a:xfrm>
          <a:prstGeom prst="rect">
            <a:avLst/>
          </a:prstGeom>
          <a:ln>
            <a:solidFill>
              <a:schemeClr val="bg1">
                <a:lumMod val="75000"/>
              </a:schemeClr>
            </a:solidFill>
          </a:ln>
        </p:spPr>
      </p:pic>
    </p:spTree>
    <p:extLst>
      <p:ext uri="{BB962C8B-B14F-4D97-AF65-F5344CB8AC3E}">
        <p14:creationId xmlns:p14="http://schemas.microsoft.com/office/powerpoint/2010/main" val="2635511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75250-9FD2-921E-5722-499F965D8F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A17F3B-5E7B-C728-0859-B8E9394A3428}"/>
              </a:ext>
            </a:extLst>
          </p:cNvPr>
          <p:cNvSpPr txBox="1">
            <a:spLocks noGrp="1" noRot="1" noMove="1" noResize="1" noEditPoints="1" noAdjustHandles="1" noChangeArrowheads="1" noChangeShapeType="1"/>
          </p:cNvSpPr>
          <p:nvPr/>
        </p:nvSpPr>
        <p:spPr>
          <a:xfrm>
            <a:off x="901549" y="1366497"/>
            <a:ext cx="7104175" cy="370248"/>
          </a:xfrm>
          <a:prstGeom prst="rect">
            <a:avLst/>
          </a:prstGeom>
          <a:noFill/>
        </p:spPr>
        <p:txBody>
          <a:bodyPr wrap="square">
            <a:spAutoFit/>
          </a:bodyPr>
          <a:lstStyle/>
          <a:p>
            <a:pPr defTabSz="916686" fontAlgn="base">
              <a:spcBef>
                <a:spcPct val="0"/>
              </a:spcBef>
              <a:spcAft>
                <a:spcPct val="0"/>
              </a:spcAft>
            </a:pPr>
            <a:r>
              <a:rPr lang="en-US" sz="1805" b="1" dirty="0">
                <a:solidFill>
                  <a:srgbClr val="FFFFFF"/>
                </a:solidFill>
                <a:latin typeface="Trebuchet MS" panose="020B0603020202020204" pitchFamily="34" charset="0"/>
                <a:cs typeface="Arial" pitchFamily="34" charset="0"/>
              </a:rPr>
              <a:t>Achievement </a:t>
            </a:r>
          </a:p>
        </p:txBody>
      </p:sp>
      <p:sp>
        <p:nvSpPr>
          <p:cNvPr id="3" name="Rectangle 2">
            <a:extLst>
              <a:ext uri="{FF2B5EF4-FFF2-40B4-BE49-F238E27FC236}">
                <a16:creationId xmlns:a16="http://schemas.microsoft.com/office/drawing/2014/main" id="{EC4EA364-4B75-8BF6-7AFF-60A4EDF18537}"/>
              </a:ext>
            </a:extLst>
          </p:cNvPr>
          <p:cNvSpPr/>
          <p:nvPr/>
        </p:nvSpPr>
        <p:spPr>
          <a:xfrm rot="16200000">
            <a:off x="-2183169" y="3152605"/>
            <a:ext cx="5075104" cy="586225"/>
          </a:xfrm>
          <a:prstGeom prst="rect">
            <a:avLst/>
          </a:prstGeom>
        </p:spPr>
        <p:txBody>
          <a:bodyPr wrap="square" anchor="ctr">
            <a:spAutoFit/>
          </a:bodyPr>
          <a:lstStyle/>
          <a:p>
            <a:pPr algn="ctr" defTabSz="916686" fontAlgn="base">
              <a:spcBef>
                <a:spcPct val="0"/>
              </a:spcBef>
              <a:spcAft>
                <a:spcPct val="0"/>
              </a:spcAft>
              <a:defRPr/>
            </a:pPr>
            <a:r>
              <a:rPr lang="en-US" sz="3208" b="1" dirty="0">
                <a:solidFill>
                  <a:srgbClr val="FFFFFF"/>
                </a:solidFill>
                <a:latin typeface="Trebuchet MS" panose="020B0603020202020204" pitchFamily="34" charset="0"/>
                <a:cs typeface="Arial" pitchFamily="34" charset="0"/>
              </a:rPr>
              <a:t>SMAT Forecast Run</a:t>
            </a:r>
          </a:p>
        </p:txBody>
      </p:sp>
      <p:sp>
        <p:nvSpPr>
          <p:cNvPr id="2" name="Rectangle 1">
            <a:extLst>
              <a:ext uri="{FF2B5EF4-FFF2-40B4-BE49-F238E27FC236}">
                <a16:creationId xmlns:a16="http://schemas.microsoft.com/office/drawing/2014/main" id="{A7D64BA8-6D72-8917-5315-953B8766F722}"/>
              </a:ext>
            </a:extLst>
          </p:cNvPr>
          <p:cNvSpPr/>
          <p:nvPr/>
        </p:nvSpPr>
        <p:spPr>
          <a:xfrm>
            <a:off x="899319" y="1366497"/>
            <a:ext cx="11229181" cy="990672"/>
          </a:xfrm>
          <a:prstGeom prst="rect">
            <a:avLst/>
          </a:prstGeom>
        </p:spPr>
        <p:txBody>
          <a:bodyPr wrap="square" lIns="91650" tIns="45823" rIns="91650" bIns="45823">
            <a:spAutoFit/>
          </a:bodyPr>
          <a:lstStyle/>
          <a:p>
            <a:pPr marL="494969" lvl="2" algn="just" defTabSz="916686" fontAlgn="base">
              <a:lnSpc>
                <a:spcPct val="90000"/>
              </a:lnSpc>
              <a:spcBef>
                <a:spcPct val="0"/>
              </a:spcBef>
              <a:spcAft>
                <a:spcPct val="15000"/>
              </a:spcAft>
              <a:buSzPct val="80000"/>
              <a:defRPr/>
            </a:pPr>
            <a:endParaRPr lang="en-US" sz="802"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b="1" dirty="0">
              <a:solidFill>
                <a:srgbClr val="328C3B"/>
              </a:solidFill>
              <a:latin typeface="Trebuchet MS" panose="020B0603020202020204" pitchFamily="34" charset="0"/>
              <a:ea typeface="ＭＳ Ｐゴシック" pitchFamily="34" charset="-128"/>
              <a:cs typeface="Arial" pitchFamily="34" charset="0"/>
            </a:endParaRPr>
          </a:p>
          <a:p>
            <a:pPr marL="878417" lvl="2" indent="-384591" algn="just" defTabSz="916686" fontAlgn="base">
              <a:lnSpc>
                <a:spcPct val="90000"/>
              </a:lnSpc>
              <a:spcBef>
                <a:spcPct val="0"/>
              </a:spcBef>
              <a:spcAft>
                <a:spcPct val="15000"/>
              </a:spcAft>
              <a:buSzPct val="80000"/>
              <a:buFont typeface="Wingdings 2"/>
              <a:buChar char=""/>
              <a:defRPr/>
            </a:pPr>
            <a:endParaRPr lang="en-US" sz="1604" dirty="0">
              <a:solidFill>
                <a:srgbClr val="00305F"/>
              </a:solidFill>
              <a:latin typeface="Trebuchet MS" panose="020B0603020202020204" pitchFamily="34" charset="0"/>
              <a:ea typeface="ＭＳ Ｐゴシック" pitchFamily="34" charset="-128"/>
              <a:cs typeface="Calibri" panose="020F0502020204030204" pitchFamily="34" charset="0"/>
            </a:endParaRPr>
          </a:p>
          <a:p>
            <a:pPr marL="1337903" lvl="3" indent="-384591" algn="just" defTabSz="916686" fontAlgn="base">
              <a:lnSpc>
                <a:spcPct val="90000"/>
              </a:lnSpc>
              <a:spcBef>
                <a:spcPct val="0"/>
              </a:spcBef>
              <a:spcAft>
                <a:spcPct val="15000"/>
              </a:spcAft>
              <a:buSzPct val="80000"/>
              <a:buFont typeface="Wingdings 2"/>
              <a:buChar char=""/>
              <a:defRPr/>
            </a:pPr>
            <a:endParaRPr lang="en-US" sz="1805" b="1" dirty="0">
              <a:solidFill>
                <a:srgbClr val="328C3B"/>
              </a:solidFill>
              <a:latin typeface="Trebuchet MS" panose="020B0603020202020204" pitchFamily="34" charset="0"/>
              <a:cs typeface="Arial" pitchFamily="34" charset="0"/>
            </a:endParaRPr>
          </a:p>
        </p:txBody>
      </p:sp>
      <p:sp>
        <p:nvSpPr>
          <p:cNvPr id="4" name="TextBox 3">
            <a:extLst>
              <a:ext uri="{FF2B5EF4-FFF2-40B4-BE49-F238E27FC236}">
                <a16:creationId xmlns:a16="http://schemas.microsoft.com/office/drawing/2014/main" id="{17171369-46C2-8B63-C9C1-B127057A26D6}"/>
              </a:ext>
            </a:extLst>
          </p:cNvPr>
          <p:cNvSpPr txBox="1"/>
          <p:nvPr/>
        </p:nvSpPr>
        <p:spPr>
          <a:xfrm>
            <a:off x="899319" y="730104"/>
            <a:ext cx="7086600" cy="369332"/>
          </a:xfrm>
          <a:prstGeom prst="rect">
            <a:avLst/>
          </a:prstGeom>
          <a:noFill/>
        </p:spPr>
        <p:txBody>
          <a:bodyPr wrap="square">
            <a:spAutoFit/>
          </a:bodyPr>
          <a:lstStyle/>
          <a:p>
            <a:r>
              <a:rPr lang="en-US" b="1" dirty="0">
                <a:solidFill>
                  <a:schemeClr val="bg1"/>
                </a:solidFill>
                <a:latin typeface="Trebuchet MS" panose="020B0603020202020204" pitchFamily="34" charset="0"/>
              </a:rPr>
              <a:t>Forecast Shortage Receipt Notifications</a:t>
            </a:r>
          </a:p>
        </p:txBody>
      </p:sp>
      <p:pic>
        <p:nvPicPr>
          <p:cNvPr id="6" name="Picture 5">
            <a:extLst>
              <a:ext uri="{FF2B5EF4-FFF2-40B4-BE49-F238E27FC236}">
                <a16:creationId xmlns:a16="http://schemas.microsoft.com/office/drawing/2014/main" id="{5A1759C4-4697-C1F7-532C-C0B510CE818F}"/>
              </a:ext>
            </a:extLst>
          </p:cNvPr>
          <p:cNvPicPr>
            <a:picLocks noChangeAspect="1"/>
          </p:cNvPicPr>
          <p:nvPr/>
        </p:nvPicPr>
        <p:blipFill>
          <a:blip r:embed="rId3"/>
          <a:stretch>
            <a:fillRect/>
          </a:stretch>
        </p:blipFill>
        <p:spPr>
          <a:xfrm>
            <a:off x="975519" y="1294050"/>
            <a:ext cx="7397020" cy="5184000"/>
          </a:xfrm>
          <a:prstGeom prst="rect">
            <a:avLst/>
          </a:prstGeom>
        </p:spPr>
      </p:pic>
    </p:spTree>
    <p:extLst>
      <p:ext uri="{BB962C8B-B14F-4D97-AF65-F5344CB8AC3E}">
        <p14:creationId xmlns:p14="http://schemas.microsoft.com/office/powerpoint/2010/main" val="157825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69168-2D40-01CA-A7C6-FF1626EC1BA4}"/>
              </a:ext>
            </a:extLst>
          </p:cNvPr>
          <p:cNvSpPr>
            <a:spLocks noGrp="1"/>
          </p:cNvSpPr>
          <p:nvPr>
            <p:ph type="title"/>
          </p:nvPr>
        </p:nvSpPr>
        <p:spPr/>
        <p:txBody>
          <a:bodyPr vert="horz" lIns="91440" tIns="45720" rIns="91440" bIns="45720" rtlCol="0" anchor="ctr">
            <a:normAutofit/>
          </a:bodyPr>
          <a:lstStyle/>
          <a:p>
            <a:r>
              <a:rPr lang="en-US" b="1" dirty="0">
                <a:solidFill>
                  <a:srgbClr val="0097BA"/>
                </a:solidFill>
                <a:latin typeface="Roboto" panose="02000000000000000000" pitchFamily="2" charset="0"/>
              </a:rPr>
              <a:t>Forecast Run(FR)</a:t>
            </a:r>
            <a:endParaRPr lang="en-AE" b="1" dirty="0">
              <a:solidFill>
                <a:srgbClr val="0097BA"/>
              </a:solidFill>
              <a:latin typeface="Roboto" panose="02000000000000000000" pitchFamily="2" charset="0"/>
            </a:endParaRPr>
          </a:p>
        </p:txBody>
      </p:sp>
      <p:sp>
        <p:nvSpPr>
          <p:cNvPr id="3" name="Content Placeholder 2">
            <a:extLst>
              <a:ext uri="{FF2B5EF4-FFF2-40B4-BE49-F238E27FC236}">
                <a16:creationId xmlns:a16="http://schemas.microsoft.com/office/drawing/2014/main" id="{D8CD6C37-69EC-2718-1B95-B3AB1AEB2A34}"/>
              </a:ext>
            </a:extLst>
          </p:cNvPr>
          <p:cNvSpPr>
            <a:spLocks noGrp="1"/>
          </p:cNvSpPr>
          <p:nvPr>
            <p:ph idx="1"/>
          </p:nvPr>
        </p:nvSpPr>
        <p:spPr/>
        <p:txBody>
          <a:bodyPr>
            <a:normAutofit/>
          </a:bodyPr>
          <a:lstStyle/>
          <a:p>
            <a:r>
              <a:rPr lang="en-US" dirty="0"/>
              <a:t>For larger projects, it's important to know specific details in advance for the planning process, figuring out which materials can be prefabricated or installed by certain dates, and to check the material already in transit (shipped items), purchase orders and approved requisitions be delivered by the specified date</a:t>
            </a:r>
            <a:br>
              <a:rPr lang="en-US" dirty="0"/>
            </a:br>
            <a:endParaRPr lang="en-US" dirty="0"/>
          </a:p>
          <a:p>
            <a:r>
              <a:rPr lang="en-US" dirty="0"/>
              <a:t>Forecast Run (FR) tool. It helps simulate when materials will be available for construction or fabrication, making it easier to plan project work and subcontractor needs. Running a forecast does not impact actual inventory or material quantities.</a:t>
            </a:r>
            <a:endParaRPr lang="en-AE" dirty="0"/>
          </a:p>
        </p:txBody>
      </p:sp>
      <p:sp>
        <p:nvSpPr>
          <p:cNvPr id="4" name="Slide Number Placeholder 3">
            <a:extLst>
              <a:ext uri="{FF2B5EF4-FFF2-40B4-BE49-F238E27FC236}">
                <a16:creationId xmlns:a16="http://schemas.microsoft.com/office/drawing/2014/main" id="{FC1DA97C-DB7D-506A-E3F0-0A6FCF0FC3AB}"/>
              </a:ext>
            </a:extLst>
          </p:cNvPr>
          <p:cNvSpPr>
            <a:spLocks noGrp="1"/>
          </p:cNvSpPr>
          <p:nvPr>
            <p:ph type="sldNum" sz="quarter" idx="12"/>
          </p:nvPr>
        </p:nvSpPr>
        <p:spPr/>
        <p:txBody>
          <a:bodyPr/>
          <a:lstStyle/>
          <a:p>
            <a:fld id="{8D2BF91B-0CBE-4174-9ED3-70A36405CB62}" type="slidenum">
              <a:rPr lang="en-AE" smtClean="0"/>
              <a:t>11</a:t>
            </a:fld>
            <a:endParaRPr lang="en-AE"/>
          </a:p>
        </p:txBody>
      </p:sp>
    </p:spTree>
    <p:extLst>
      <p:ext uri="{BB962C8B-B14F-4D97-AF65-F5344CB8AC3E}">
        <p14:creationId xmlns:p14="http://schemas.microsoft.com/office/powerpoint/2010/main" val="2187042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2" descr="5,375 Bill Materials Stock Vectors and Vector Art | Shutterstock">
            <a:extLst>
              <a:ext uri="{FF2B5EF4-FFF2-40B4-BE49-F238E27FC236}">
                <a16:creationId xmlns:a16="http://schemas.microsoft.com/office/drawing/2014/main" id="{165F88D8-3AD1-91D8-49A5-B9E3F5E9A1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89" t="10361" r="2963" b="20396"/>
          <a:stretch>
            <a:fillRect/>
          </a:stretch>
        </p:blipFill>
        <p:spPr bwMode="auto">
          <a:xfrm>
            <a:off x="7666134" y="2258568"/>
            <a:ext cx="3210132" cy="256161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26479AE-447D-2825-CD64-107D08EC8247}"/>
              </a:ext>
            </a:extLst>
          </p:cNvPr>
          <p:cNvSpPr/>
          <p:nvPr/>
        </p:nvSpPr>
        <p:spPr>
          <a:xfrm>
            <a:off x="1069847" y="2258569"/>
            <a:ext cx="3474721" cy="2561616"/>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    Purchased Materials</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 name="Title 1">
            <a:extLst>
              <a:ext uri="{FF2B5EF4-FFF2-40B4-BE49-F238E27FC236}">
                <a16:creationId xmlns:a16="http://schemas.microsoft.com/office/drawing/2014/main" id="{AEAA9B24-1692-C61D-496C-80D151DB40BE}"/>
              </a:ext>
            </a:extLst>
          </p:cNvPr>
          <p:cNvSpPr>
            <a:spLocks noGrp="1"/>
          </p:cNvSpPr>
          <p:nvPr>
            <p:ph type="title"/>
          </p:nvPr>
        </p:nvSpPr>
        <p:spPr/>
        <p:txBody>
          <a:bodyPr vert="horz" lIns="91440" tIns="45720" rIns="91440" bIns="45720" rtlCol="0" anchor="ctr">
            <a:normAutofit/>
          </a:bodyPr>
          <a:lstStyle/>
          <a:p>
            <a:r>
              <a:rPr lang="en-US" b="1" dirty="0">
                <a:solidFill>
                  <a:srgbClr val="0097BA"/>
                </a:solidFill>
                <a:latin typeface="Roboto" panose="02000000000000000000" pitchFamily="2" charset="0"/>
              </a:rPr>
              <a:t>Material Allocation</a:t>
            </a:r>
            <a:endParaRPr lang="en-AE" b="1" dirty="0">
              <a:solidFill>
                <a:srgbClr val="0097BA"/>
              </a:solidFill>
              <a:latin typeface="Roboto" panose="02000000000000000000" pitchFamily="2" charset="0"/>
            </a:endParaRPr>
          </a:p>
        </p:txBody>
      </p:sp>
      <p:pic>
        <p:nvPicPr>
          <p:cNvPr id="5" name="Content Placeholder 4">
            <a:extLst>
              <a:ext uri="{FF2B5EF4-FFF2-40B4-BE49-F238E27FC236}">
                <a16:creationId xmlns:a16="http://schemas.microsoft.com/office/drawing/2014/main" id="{D279D9DA-B740-47A2-B1D4-A77FFC8C83CF}"/>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607004" y="2687040"/>
            <a:ext cx="2336401" cy="2124000"/>
          </a:xfrm>
        </p:spPr>
      </p:pic>
      <p:sp>
        <p:nvSpPr>
          <p:cNvPr id="8" name="Arrow: Right 7">
            <a:extLst>
              <a:ext uri="{FF2B5EF4-FFF2-40B4-BE49-F238E27FC236}">
                <a16:creationId xmlns:a16="http://schemas.microsoft.com/office/drawing/2014/main" id="{8BB385AE-D136-AAE7-2BAE-73877169A216}"/>
              </a:ext>
            </a:extLst>
          </p:cNvPr>
          <p:cNvSpPr/>
          <p:nvPr/>
        </p:nvSpPr>
        <p:spPr>
          <a:xfrm>
            <a:off x="5081725" y="2977005"/>
            <a:ext cx="2058445" cy="1124742"/>
          </a:xfrm>
          <a:prstGeom prst="rightArrow">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75000"/>
                    <a:lumOff val="25000"/>
                  </a:schemeClr>
                </a:solidFill>
              </a:rPr>
              <a:t>Allocation</a:t>
            </a:r>
            <a:endParaRPr lang="en-AE" dirty="0">
              <a:solidFill>
                <a:schemeClr val="tx2">
                  <a:lumMod val="75000"/>
                  <a:lumOff val="25000"/>
                </a:schemeClr>
              </a:solidFill>
            </a:endParaRPr>
          </a:p>
        </p:txBody>
      </p:sp>
      <p:sp>
        <p:nvSpPr>
          <p:cNvPr id="11" name="Rectangle 10">
            <a:extLst>
              <a:ext uri="{FF2B5EF4-FFF2-40B4-BE49-F238E27FC236}">
                <a16:creationId xmlns:a16="http://schemas.microsoft.com/office/drawing/2014/main" id="{5898383C-BFE2-2A50-C1B3-684E070364E3}"/>
              </a:ext>
            </a:extLst>
          </p:cNvPr>
          <p:cNvSpPr/>
          <p:nvPr/>
        </p:nvSpPr>
        <p:spPr>
          <a:xfrm>
            <a:off x="7538117" y="2258568"/>
            <a:ext cx="3474721" cy="2561617"/>
          </a:xfrm>
          <a:prstGeom prst="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    Work</a:t>
            </a:r>
            <a:r>
              <a:rPr lang="en-US" dirty="0">
                <a:solidFill>
                  <a:schemeClr val="tx2">
                    <a:lumMod val="75000"/>
                    <a:lumOff val="25000"/>
                  </a:schemeClr>
                </a:solidFill>
              </a:rPr>
              <a:t> </a:t>
            </a:r>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Package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AE" dirty="0"/>
          </a:p>
        </p:txBody>
      </p:sp>
      <p:sp>
        <p:nvSpPr>
          <p:cNvPr id="3" name="Slide Number Placeholder 2">
            <a:extLst>
              <a:ext uri="{FF2B5EF4-FFF2-40B4-BE49-F238E27FC236}">
                <a16:creationId xmlns:a16="http://schemas.microsoft.com/office/drawing/2014/main" id="{284B15C3-43AE-9356-99BC-0615D076BAB1}"/>
              </a:ext>
            </a:extLst>
          </p:cNvPr>
          <p:cNvSpPr>
            <a:spLocks noGrp="1"/>
          </p:cNvSpPr>
          <p:nvPr>
            <p:ph type="sldNum" sz="quarter" idx="12"/>
          </p:nvPr>
        </p:nvSpPr>
        <p:spPr/>
        <p:txBody>
          <a:bodyPr/>
          <a:lstStyle/>
          <a:p>
            <a:fld id="{8D2BF91B-0CBE-4174-9ED3-70A36405CB62}" type="slidenum">
              <a:rPr lang="en-AE" smtClean="0"/>
              <a:t>12</a:t>
            </a:fld>
            <a:endParaRPr lang="en-AE"/>
          </a:p>
        </p:txBody>
      </p:sp>
    </p:spTree>
    <p:extLst>
      <p:ext uri="{BB962C8B-B14F-4D97-AF65-F5344CB8AC3E}">
        <p14:creationId xmlns:p14="http://schemas.microsoft.com/office/powerpoint/2010/main" val="436599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695F42-55CE-7A47-E162-82231072D787}"/>
            </a:ext>
          </a:extLst>
        </p:cNvPr>
        <p:cNvGrpSpPr/>
        <p:nvPr/>
      </p:nvGrpSpPr>
      <p:grpSpPr>
        <a:xfrm>
          <a:off x="0" y="0"/>
          <a:ext cx="0" cy="0"/>
          <a:chOff x="0" y="0"/>
          <a:chExt cx="0" cy="0"/>
        </a:xfrm>
      </p:grpSpPr>
      <p:pic>
        <p:nvPicPr>
          <p:cNvPr id="7" name="Picture 6" descr="A group of boxes in a warehouse&#10;&#10;AI-generated content may be incorrect.">
            <a:extLst>
              <a:ext uri="{FF2B5EF4-FFF2-40B4-BE49-F238E27FC236}">
                <a16:creationId xmlns:a16="http://schemas.microsoft.com/office/drawing/2014/main" id="{83CF0631-ABBF-1908-4C45-1B9D4C7B5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9322" y="1990948"/>
            <a:ext cx="1656000" cy="1656000"/>
          </a:xfrm>
          <a:prstGeom prst="rect">
            <a:avLst/>
          </a:prstGeom>
        </p:spPr>
      </p:pic>
      <p:pic>
        <p:nvPicPr>
          <p:cNvPr id="11" name="Picture 10" descr="A cartoon of a ship with boxes&#10;&#10;AI-generated content may be incorrect.">
            <a:extLst>
              <a:ext uri="{FF2B5EF4-FFF2-40B4-BE49-F238E27FC236}">
                <a16:creationId xmlns:a16="http://schemas.microsoft.com/office/drawing/2014/main" id="{2BF8F7F1-FA67-C09D-D252-AB720E6F30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0556" y="2465066"/>
            <a:ext cx="1836000" cy="1836000"/>
          </a:xfrm>
          <a:prstGeom prst="rect">
            <a:avLst/>
          </a:prstGeom>
        </p:spPr>
      </p:pic>
      <p:pic>
        <p:nvPicPr>
          <p:cNvPr id="17" name="Picture 16">
            <a:extLst>
              <a:ext uri="{FF2B5EF4-FFF2-40B4-BE49-F238E27FC236}">
                <a16:creationId xmlns:a16="http://schemas.microsoft.com/office/drawing/2014/main" id="{287CD2BC-055C-7BD4-6822-377C2CBE8A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1777" y="2881817"/>
            <a:ext cx="1438105" cy="1512000"/>
          </a:xfrm>
          <a:prstGeom prst="rect">
            <a:avLst/>
          </a:prstGeom>
        </p:spPr>
      </p:pic>
      <p:pic>
        <p:nvPicPr>
          <p:cNvPr id="1028" name="Picture 4" descr="Pr Purchase Requisition Acronym Business Concept Stock Vector (Royalty  Free) 2094861655 | Shutterstock">
            <a:extLst>
              <a:ext uri="{FF2B5EF4-FFF2-40B4-BE49-F238E27FC236}">
                <a16:creationId xmlns:a16="http://schemas.microsoft.com/office/drawing/2014/main" id="{E3355266-1A9C-17A3-4CDA-E73E7ECF7BC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044" t="10770" r="3474" b="20389"/>
          <a:stretch>
            <a:fillRect/>
          </a:stretch>
        </p:blipFill>
        <p:spPr bwMode="auto">
          <a:xfrm>
            <a:off x="306085" y="3287865"/>
            <a:ext cx="1977162" cy="1620000"/>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Right 17">
            <a:extLst>
              <a:ext uri="{FF2B5EF4-FFF2-40B4-BE49-F238E27FC236}">
                <a16:creationId xmlns:a16="http://schemas.microsoft.com/office/drawing/2014/main" id="{A357C398-AA71-45D9-8281-FF6F606B1B31}"/>
              </a:ext>
            </a:extLst>
          </p:cNvPr>
          <p:cNvSpPr/>
          <p:nvPr/>
        </p:nvSpPr>
        <p:spPr>
          <a:xfrm>
            <a:off x="6596516" y="3638884"/>
            <a:ext cx="2044840" cy="216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9" name="Arrow: Right 18">
            <a:extLst>
              <a:ext uri="{FF2B5EF4-FFF2-40B4-BE49-F238E27FC236}">
                <a16:creationId xmlns:a16="http://schemas.microsoft.com/office/drawing/2014/main" id="{08F3F7C8-766B-8566-2C31-E3A59C974DAA}"/>
              </a:ext>
            </a:extLst>
          </p:cNvPr>
          <p:cNvSpPr/>
          <p:nvPr/>
        </p:nvSpPr>
        <p:spPr>
          <a:xfrm>
            <a:off x="4398264" y="4012946"/>
            <a:ext cx="4144567" cy="216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0" name="Arrow: Right 19">
            <a:extLst>
              <a:ext uri="{FF2B5EF4-FFF2-40B4-BE49-F238E27FC236}">
                <a16:creationId xmlns:a16="http://schemas.microsoft.com/office/drawing/2014/main" id="{591C122A-86A2-07EE-B7D7-F505C9BE5030}"/>
              </a:ext>
            </a:extLst>
          </p:cNvPr>
          <p:cNvSpPr/>
          <p:nvPr/>
        </p:nvSpPr>
        <p:spPr>
          <a:xfrm>
            <a:off x="2679101" y="4393817"/>
            <a:ext cx="5760000" cy="216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21" name="Arrow: Right 20">
            <a:extLst>
              <a:ext uri="{FF2B5EF4-FFF2-40B4-BE49-F238E27FC236}">
                <a16:creationId xmlns:a16="http://schemas.microsoft.com/office/drawing/2014/main" id="{08C290D2-FFEF-910E-2FC0-1CE7C542A943}"/>
              </a:ext>
            </a:extLst>
          </p:cNvPr>
          <p:cNvSpPr/>
          <p:nvPr/>
        </p:nvSpPr>
        <p:spPr>
          <a:xfrm>
            <a:off x="294621" y="4809110"/>
            <a:ext cx="7956000" cy="216000"/>
          </a:xfrm>
          <a:prstGeom prst="rightArrow">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4" name="Title 1">
            <a:extLst>
              <a:ext uri="{FF2B5EF4-FFF2-40B4-BE49-F238E27FC236}">
                <a16:creationId xmlns:a16="http://schemas.microsoft.com/office/drawing/2014/main" id="{78690B9F-5C12-4374-86F2-35E28CA49A88}"/>
              </a:ext>
            </a:extLst>
          </p:cNvPr>
          <p:cNvSpPr>
            <a:spLocks noGrp="1"/>
          </p:cNvSpPr>
          <p:nvPr>
            <p:ph type="title"/>
          </p:nvPr>
        </p:nvSpPr>
        <p:spPr>
          <a:xfrm>
            <a:off x="896112" y="373380"/>
            <a:ext cx="11295888" cy="1325563"/>
          </a:xfrm>
        </p:spPr>
        <p:txBody>
          <a:bodyPr vert="horz" lIns="91440" tIns="45720" rIns="91440" bIns="45720" rtlCol="0" anchor="ctr">
            <a:normAutofit/>
          </a:bodyPr>
          <a:lstStyle/>
          <a:p>
            <a:r>
              <a:rPr lang="en-US" b="1" dirty="0">
                <a:solidFill>
                  <a:srgbClr val="0097BA"/>
                </a:solidFill>
                <a:latin typeface="Roboto" panose="02000000000000000000" pitchFamily="2" charset="0"/>
              </a:rPr>
              <a:t>Material Allocation Levels</a:t>
            </a:r>
            <a:endParaRPr lang="en-AE" b="1" dirty="0">
              <a:solidFill>
                <a:srgbClr val="0097BA"/>
              </a:solidFill>
              <a:latin typeface="Roboto" panose="02000000000000000000" pitchFamily="2" charset="0"/>
            </a:endParaRPr>
          </a:p>
        </p:txBody>
      </p:sp>
      <p:pic>
        <p:nvPicPr>
          <p:cNvPr id="6" name="Picture 2" descr="5,375 Bill Materials Stock Vectors and Vector Art | Shutterstock">
            <a:extLst>
              <a:ext uri="{FF2B5EF4-FFF2-40B4-BE49-F238E27FC236}">
                <a16:creationId xmlns:a16="http://schemas.microsoft.com/office/drawing/2014/main" id="{E4CE20B3-19EB-FA80-16CD-BD91C638C3A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589" t="10361" r="2963" b="20396"/>
          <a:stretch>
            <a:fillRect/>
          </a:stretch>
        </p:blipFill>
        <p:spPr bwMode="auto">
          <a:xfrm>
            <a:off x="8745126" y="2535966"/>
            <a:ext cx="3210132" cy="256161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482B8198-2AC9-AAAA-BFAA-368491FDEA5C}"/>
              </a:ext>
            </a:extLst>
          </p:cNvPr>
          <p:cNvSpPr/>
          <p:nvPr/>
        </p:nvSpPr>
        <p:spPr>
          <a:xfrm>
            <a:off x="8708550" y="2546240"/>
            <a:ext cx="3262907" cy="25616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    Work</a:t>
            </a:r>
            <a:r>
              <a:rPr lang="en-US" dirty="0">
                <a:solidFill>
                  <a:schemeClr val="tx2">
                    <a:lumMod val="75000"/>
                    <a:lumOff val="25000"/>
                  </a:schemeClr>
                </a:solidFill>
              </a:rPr>
              <a:t> </a:t>
            </a:r>
            <a:r>
              <a:rPr lang="en-US" b="1" dirty="0">
                <a:solidFill>
                  <a:schemeClr val="tx2">
                    <a:lumMod val="75000"/>
                    <a:lumOff val="25000"/>
                  </a:schemeClr>
                </a:solidFill>
                <a:latin typeface="Roboto" panose="02000000000000000000" pitchFamily="2" charset="0"/>
                <a:ea typeface="Roboto" panose="02000000000000000000" pitchFamily="2" charset="0"/>
                <a:cs typeface="Roboto" panose="02000000000000000000" pitchFamily="2" charset="0"/>
              </a:rPr>
              <a:t>Package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AE" dirty="0"/>
          </a:p>
        </p:txBody>
      </p:sp>
      <p:sp>
        <p:nvSpPr>
          <p:cNvPr id="2" name="Slide Number Placeholder 1">
            <a:extLst>
              <a:ext uri="{FF2B5EF4-FFF2-40B4-BE49-F238E27FC236}">
                <a16:creationId xmlns:a16="http://schemas.microsoft.com/office/drawing/2014/main" id="{65F55A43-5A27-0414-B7CC-A37E0F94EB52}"/>
              </a:ext>
            </a:extLst>
          </p:cNvPr>
          <p:cNvSpPr>
            <a:spLocks noGrp="1"/>
          </p:cNvSpPr>
          <p:nvPr>
            <p:ph type="sldNum" sz="quarter" idx="12"/>
          </p:nvPr>
        </p:nvSpPr>
        <p:spPr/>
        <p:txBody>
          <a:bodyPr/>
          <a:lstStyle/>
          <a:p>
            <a:fld id="{8D2BF91B-0CBE-4174-9ED3-70A36405CB62}" type="slidenum">
              <a:rPr lang="en-AE" smtClean="0"/>
              <a:t>13</a:t>
            </a:fld>
            <a:endParaRPr lang="en-AE"/>
          </a:p>
        </p:txBody>
      </p:sp>
    </p:spTree>
    <p:extLst>
      <p:ext uri="{BB962C8B-B14F-4D97-AF65-F5344CB8AC3E}">
        <p14:creationId xmlns:p14="http://schemas.microsoft.com/office/powerpoint/2010/main" val="1932929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73DAF7-0772-188F-F014-C93B534CE0B8}"/>
              </a:ext>
            </a:extLst>
          </p:cNvPr>
          <p:cNvSpPr txBox="1"/>
          <p:nvPr/>
        </p:nvSpPr>
        <p:spPr>
          <a:xfrm>
            <a:off x="1140542" y="639097"/>
            <a:ext cx="11051458" cy="923330"/>
          </a:xfrm>
          <a:prstGeom prst="rect">
            <a:avLst/>
          </a:prstGeom>
          <a:noFill/>
        </p:spPr>
        <p:txBody>
          <a:bodyPr wrap="square">
            <a:spAutoFit/>
          </a:bodyPr>
          <a:lstStyle/>
          <a:p>
            <a:pPr algn="l" fontAlgn="base">
              <a:buNone/>
            </a:pPr>
            <a:r>
              <a:rPr lang="en-US" b="1" i="0" dirty="0">
                <a:solidFill>
                  <a:srgbClr val="0097BA"/>
                </a:solidFill>
                <a:effectLst/>
                <a:latin typeface="Roboto" panose="02000000000000000000" pitchFamily="2" charset="0"/>
              </a:rPr>
              <a:t>Work package</a:t>
            </a:r>
            <a:r>
              <a:rPr lang="en-US" b="0" i="0" dirty="0">
                <a:solidFill>
                  <a:srgbClr val="0097BA"/>
                </a:solidFill>
                <a:effectLst/>
                <a:latin typeface="Roboto" panose="02000000000000000000" pitchFamily="2" charset="0"/>
              </a:rPr>
              <a:t> </a:t>
            </a:r>
          </a:p>
          <a:p>
            <a:pPr algn="l" fontAlgn="base">
              <a:buNone/>
            </a:pPr>
            <a:endParaRPr lang="en-US" b="0" i="0" dirty="0">
              <a:solidFill>
                <a:srgbClr val="0097BA"/>
              </a:solidFill>
              <a:effectLst/>
              <a:latin typeface="Roboto" panose="02000000000000000000" pitchFamily="2" charset="0"/>
            </a:endParaRPr>
          </a:p>
          <a:p>
            <a:pPr fontAlgn="base"/>
            <a:r>
              <a:rPr lang="en-US" dirty="0"/>
              <a:t>Idents and list positions are the two important concepts to understand before working with work packages.</a:t>
            </a:r>
            <a:endParaRPr lang="en-US" b="0" i="0" dirty="0">
              <a:solidFill>
                <a:srgbClr val="0097BA"/>
              </a:solidFill>
              <a:effectLst/>
              <a:latin typeface="Roboto" panose="02000000000000000000" pitchFamily="2" charset="0"/>
            </a:endParaRPr>
          </a:p>
        </p:txBody>
      </p:sp>
      <p:sp>
        <p:nvSpPr>
          <p:cNvPr id="7" name="TextBox 6">
            <a:extLst>
              <a:ext uri="{FF2B5EF4-FFF2-40B4-BE49-F238E27FC236}">
                <a16:creationId xmlns:a16="http://schemas.microsoft.com/office/drawing/2014/main" id="{4C6568C1-9794-4CAA-2F0B-DBA23216E1EA}"/>
              </a:ext>
            </a:extLst>
          </p:cNvPr>
          <p:cNvSpPr txBox="1"/>
          <p:nvPr/>
        </p:nvSpPr>
        <p:spPr>
          <a:xfrm>
            <a:off x="973394" y="1632155"/>
            <a:ext cx="11051458" cy="369332"/>
          </a:xfrm>
          <a:prstGeom prst="rect">
            <a:avLst/>
          </a:prstGeom>
          <a:noFill/>
        </p:spPr>
        <p:txBody>
          <a:bodyPr wrap="square">
            <a:spAutoFit/>
          </a:bodyPr>
          <a:lstStyle/>
          <a:p>
            <a:pPr algn="l" fontAlgn="base">
              <a:buNone/>
            </a:pPr>
            <a:r>
              <a:rPr lang="en-US" b="1" i="0" dirty="0">
                <a:solidFill>
                  <a:srgbClr val="0097BA"/>
                </a:solidFill>
                <a:effectLst/>
                <a:latin typeface="Roboto" panose="02000000000000000000" pitchFamily="2" charset="0"/>
              </a:rPr>
              <a:t>What is an ident?</a:t>
            </a:r>
            <a:endParaRPr lang="en-US" b="0" i="0" dirty="0">
              <a:solidFill>
                <a:srgbClr val="0097BA"/>
              </a:solidFill>
              <a:effectLst/>
              <a:latin typeface="Roboto" panose="02000000000000000000" pitchFamily="2" charset="0"/>
            </a:endParaRPr>
          </a:p>
        </p:txBody>
      </p:sp>
      <p:pic>
        <p:nvPicPr>
          <p:cNvPr id="9" name="Picture 8" descr="A blue circle with white text&#10;&#10;AI-generated content may be incorrect.">
            <a:extLst>
              <a:ext uri="{FF2B5EF4-FFF2-40B4-BE49-F238E27FC236}">
                <a16:creationId xmlns:a16="http://schemas.microsoft.com/office/drawing/2014/main" id="{0B16E8C0-AECB-B260-56FF-55117A2C6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000" y="2262896"/>
            <a:ext cx="9900000" cy="2332208"/>
          </a:xfrm>
          <a:prstGeom prst="rect">
            <a:avLst/>
          </a:prstGeom>
        </p:spPr>
      </p:pic>
      <p:sp>
        <p:nvSpPr>
          <p:cNvPr id="11" name="TextBox 10">
            <a:extLst>
              <a:ext uri="{FF2B5EF4-FFF2-40B4-BE49-F238E27FC236}">
                <a16:creationId xmlns:a16="http://schemas.microsoft.com/office/drawing/2014/main" id="{98D5E16A-4113-598A-0398-D92F5E6371EA}"/>
              </a:ext>
            </a:extLst>
          </p:cNvPr>
          <p:cNvSpPr txBox="1"/>
          <p:nvPr/>
        </p:nvSpPr>
        <p:spPr>
          <a:xfrm>
            <a:off x="1351393" y="4856513"/>
            <a:ext cx="10201510" cy="923330"/>
          </a:xfrm>
          <a:prstGeom prst="rect">
            <a:avLst/>
          </a:prstGeom>
          <a:noFill/>
        </p:spPr>
        <p:txBody>
          <a:bodyPr wrap="square">
            <a:spAutoFit/>
          </a:bodyPr>
          <a:lstStyle/>
          <a:p>
            <a:pPr fontAlgn="base"/>
            <a:r>
              <a:rPr lang="en-US" dirty="0"/>
              <a:t>A </a:t>
            </a:r>
            <a:r>
              <a:rPr lang="en-US" b="1" dirty="0"/>
              <a:t>commodity code </a:t>
            </a:r>
            <a:r>
              <a:rPr lang="en-US" dirty="0"/>
              <a:t>is an alphanumeric string that is built according to user-definable rules.</a:t>
            </a:r>
          </a:p>
          <a:p>
            <a:pPr fontAlgn="base"/>
            <a:r>
              <a:rPr lang="en-US" dirty="0"/>
              <a:t>An example is </a:t>
            </a:r>
            <a:r>
              <a:rPr lang="en-US" b="1" dirty="0"/>
              <a:t>PCB100AAXXA </a:t>
            </a:r>
            <a:r>
              <a:rPr lang="en-US" dirty="0"/>
              <a:t>each letter or number represents a specific attribute except dimensional information.</a:t>
            </a:r>
            <a:endParaRPr lang="en-AE" dirty="0"/>
          </a:p>
        </p:txBody>
      </p:sp>
      <p:sp>
        <p:nvSpPr>
          <p:cNvPr id="12" name="TextBox 11">
            <a:extLst>
              <a:ext uri="{FF2B5EF4-FFF2-40B4-BE49-F238E27FC236}">
                <a16:creationId xmlns:a16="http://schemas.microsoft.com/office/drawing/2014/main" id="{FA569393-322E-DE3C-E189-F7F845DDD596}"/>
              </a:ext>
            </a:extLst>
          </p:cNvPr>
          <p:cNvSpPr txBox="1"/>
          <p:nvPr/>
        </p:nvSpPr>
        <p:spPr>
          <a:xfrm>
            <a:off x="5486400" y="3844413"/>
            <a:ext cx="1170039" cy="369332"/>
          </a:xfrm>
          <a:prstGeom prst="rect">
            <a:avLst/>
          </a:prstGeom>
          <a:noFill/>
        </p:spPr>
        <p:txBody>
          <a:bodyPr wrap="square" rtlCol="0">
            <a:spAutoFit/>
          </a:bodyPr>
          <a:lstStyle/>
          <a:p>
            <a:r>
              <a:rPr lang="en-US" dirty="0">
                <a:solidFill>
                  <a:schemeClr val="bg1"/>
                </a:solidFill>
              </a:rPr>
              <a:t>Size/ Sch.</a:t>
            </a:r>
            <a:endParaRPr lang="en-AE" dirty="0">
              <a:solidFill>
                <a:schemeClr val="bg1"/>
              </a:solidFill>
            </a:endParaRPr>
          </a:p>
        </p:txBody>
      </p:sp>
      <p:sp>
        <p:nvSpPr>
          <p:cNvPr id="2" name="Slide Number Placeholder 1">
            <a:extLst>
              <a:ext uri="{FF2B5EF4-FFF2-40B4-BE49-F238E27FC236}">
                <a16:creationId xmlns:a16="http://schemas.microsoft.com/office/drawing/2014/main" id="{FF8980C4-ED34-3151-CF0F-3ED9B614CF57}"/>
              </a:ext>
            </a:extLst>
          </p:cNvPr>
          <p:cNvSpPr>
            <a:spLocks noGrp="1"/>
          </p:cNvSpPr>
          <p:nvPr>
            <p:ph type="sldNum" sz="quarter" idx="12"/>
          </p:nvPr>
        </p:nvSpPr>
        <p:spPr/>
        <p:txBody>
          <a:bodyPr/>
          <a:lstStyle/>
          <a:p>
            <a:fld id="{8D2BF91B-0CBE-4174-9ED3-70A36405CB62}" type="slidenum">
              <a:rPr lang="en-AE" smtClean="0"/>
              <a:t>14</a:t>
            </a:fld>
            <a:endParaRPr lang="en-AE"/>
          </a:p>
        </p:txBody>
      </p:sp>
    </p:spTree>
    <p:extLst>
      <p:ext uri="{BB962C8B-B14F-4D97-AF65-F5344CB8AC3E}">
        <p14:creationId xmlns:p14="http://schemas.microsoft.com/office/powerpoint/2010/main" val="674701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05052-21F5-B249-4159-4203F80A5E61}"/>
              </a:ext>
            </a:extLst>
          </p:cNvPr>
          <p:cNvSpPr>
            <a:spLocks noGrp="1"/>
          </p:cNvSpPr>
          <p:nvPr>
            <p:ph type="title"/>
          </p:nvPr>
        </p:nvSpPr>
        <p:spPr/>
        <p:txBody>
          <a:bodyPr/>
          <a:lstStyle/>
          <a:p>
            <a:r>
              <a:rPr lang="en-US" b="1" i="0" dirty="0">
                <a:solidFill>
                  <a:srgbClr val="0097BA"/>
                </a:solidFill>
                <a:effectLst/>
                <a:latin typeface="Roboto" panose="02000000000000000000" pitchFamily="2" charset="0"/>
              </a:rPr>
              <a:t>What are Nodes and list positions?</a:t>
            </a:r>
            <a:endParaRPr lang="en-AE" dirty="0"/>
          </a:p>
        </p:txBody>
      </p:sp>
      <p:sp>
        <p:nvSpPr>
          <p:cNvPr id="3" name="Content Placeholder 2">
            <a:extLst>
              <a:ext uri="{FF2B5EF4-FFF2-40B4-BE49-F238E27FC236}">
                <a16:creationId xmlns:a16="http://schemas.microsoft.com/office/drawing/2014/main" id="{5893FBA8-BBC8-7B8C-CFB2-8A532B3AECB0}"/>
              </a:ext>
            </a:extLst>
          </p:cNvPr>
          <p:cNvSpPr>
            <a:spLocks noGrp="1"/>
          </p:cNvSpPr>
          <p:nvPr>
            <p:ph idx="1"/>
          </p:nvPr>
        </p:nvSpPr>
        <p:spPr>
          <a:xfrm>
            <a:off x="838200" y="1532963"/>
            <a:ext cx="7184923" cy="4644000"/>
          </a:xfrm>
        </p:spPr>
        <p:txBody>
          <a:bodyPr>
            <a:normAutofit/>
          </a:bodyPr>
          <a:lstStyle/>
          <a:p>
            <a:r>
              <a:rPr lang="en-US" dirty="0"/>
              <a:t>A node is the smallest unit of a hierarchy structure that is linked to one another to define the architecture </a:t>
            </a:r>
          </a:p>
          <a:p>
            <a:pPr marL="0" indent="0">
              <a:buNone/>
            </a:pPr>
            <a:r>
              <a:rPr lang="en-US" dirty="0"/>
              <a:t>(i.e., Unit &gt;&gt; Area &gt;&gt;Fluid &gt;&gt; </a:t>
            </a:r>
            <a:r>
              <a:rPr lang="en-US" dirty="0" err="1"/>
              <a:t>LineId</a:t>
            </a:r>
            <a:r>
              <a:rPr lang="en-US" dirty="0"/>
              <a:t> &gt;&gt; Iso.).</a:t>
            </a:r>
          </a:p>
          <a:p>
            <a:pPr marL="0" indent="0">
              <a:buNone/>
            </a:pPr>
            <a:endParaRPr lang="en-US" dirty="0"/>
          </a:p>
          <a:p>
            <a:r>
              <a:rPr lang="en-US" dirty="0"/>
              <a:t>List positions are the positions that are assigned to nodes and describe the ident and property details of that node.</a:t>
            </a:r>
          </a:p>
          <a:p>
            <a:r>
              <a:rPr lang="en-US" dirty="0"/>
              <a:t>List position = MTO item ( Ident with Qty).</a:t>
            </a:r>
            <a:endParaRPr lang="en-AE" dirty="0"/>
          </a:p>
        </p:txBody>
      </p:sp>
      <p:pic>
        <p:nvPicPr>
          <p:cNvPr id="5" name="Picture 4">
            <a:extLst>
              <a:ext uri="{FF2B5EF4-FFF2-40B4-BE49-F238E27FC236}">
                <a16:creationId xmlns:a16="http://schemas.microsoft.com/office/drawing/2014/main" id="{16F6C00C-1E77-447A-F939-E824E6D6AE9A}"/>
              </a:ext>
            </a:extLst>
          </p:cNvPr>
          <p:cNvPicPr>
            <a:picLocks noChangeAspect="1"/>
          </p:cNvPicPr>
          <p:nvPr/>
        </p:nvPicPr>
        <p:blipFill>
          <a:blip r:embed="rId2"/>
          <a:stretch>
            <a:fillRect/>
          </a:stretch>
        </p:blipFill>
        <p:spPr>
          <a:xfrm>
            <a:off x="8097771" y="1503467"/>
            <a:ext cx="4094229" cy="4644000"/>
          </a:xfrm>
          <a:prstGeom prst="rect">
            <a:avLst/>
          </a:prstGeom>
        </p:spPr>
      </p:pic>
      <p:sp>
        <p:nvSpPr>
          <p:cNvPr id="4" name="Slide Number Placeholder 3">
            <a:extLst>
              <a:ext uri="{FF2B5EF4-FFF2-40B4-BE49-F238E27FC236}">
                <a16:creationId xmlns:a16="http://schemas.microsoft.com/office/drawing/2014/main" id="{04393CE2-AB8A-7609-E086-427763F3C461}"/>
              </a:ext>
            </a:extLst>
          </p:cNvPr>
          <p:cNvSpPr>
            <a:spLocks noGrp="1"/>
          </p:cNvSpPr>
          <p:nvPr>
            <p:ph type="sldNum" sz="quarter" idx="12"/>
          </p:nvPr>
        </p:nvSpPr>
        <p:spPr/>
        <p:txBody>
          <a:bodyPr/>
          <a:lstStyle/>
          <a:p>
            <a:fld id="{8D2BF91B-0CBE-4174-9ED3-70A36405CB62}" type="slidenum">
              <a:rPr lang="en-AE" smtClean="0"/>
              <a:t>15</a:t>
            </a:fld>
            <a:endParaRPr lang="en-AE"/>
          </a:p>
        </p:txBody>
      </p:sp>
    </p:spTree>
    <p:extLst>
      <p:ext uri="{BB962C8B-B14F-4D97-AF65-F5344CB8AC3E}">
        <p14:creationId xmlns:p14="http://schemas.microsoft.com/office/powerpoint/2010/main" val="653039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F8CC5B-1620-700F-7EC4-E0F156B92A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8C74E6-1DE0-2890-4A4D-F197A68BBF44}"/>
              </a:ext>
            </a:extLst>
          </p:cNvPr>
          <p:cNvSpPr txBox="1"/>
          <p:nvPr/>
        </p:nvSpPr>
        <p:spPr>
          <a:xfrm>
            <a:off x="1140542" y="639097"/>
            <a:ext cx="11051458" cy="1477328"/>
          </a:xfrm>
          <a:prstGeom prst="rect">
            <a:avLst/>
          </a:prstGeom>
          <a:noFill/>
        </p:spPr>
        <p:txBody>
          <a:bodyPr wrap="square">
            <a:spAutoFit/>
          </a:bodyPr>
          <a:lstStyle/>
          <a:p>
            <a:pPr algn="l" fontAlgn="base">
              <a:buNone/>
            </a:pPr>
            <a:r>
              <a:rPr lang="en-US" b="1" i="0" dirty="0">
                <a:solidFill>
                  <a:srgbClr val="0097BA"/>
                </a:solidFill>
                <a:effectLst/>
                <a:latin typeface="Roboto" panose="02000000000000000000" pitchFamily="2" charset="0"/>
              </a:rPr>
              <a:t>What is a work package</a:t>
            </a:r>
            <a:r>
              <a:rPr lang="en-US" b="0" i="0" dirty="0">
                <a:solidFill>
                  <a:srgbClr val="0097BA"/>
                </a:solidFill>
                <a:effectLst/>
                <a:latin typeface="Roboto" panose="02000000000000000000" pitchFamily="2" charset="0"/>
              </a:rPr>
              <a:t> </a:t>
            </a:r>
          </a:p>
          <a:p>
            <a:pPr algn="l" fontAlgn="base">
              <a:buNone/>
            </a:pPr>
            <a:r>
              <a:rPr lang="en-US" b="0" i="0" dirty="0">
                <a:solidFill>
                  <a:srgbClr val="666666"/>
                </a:solidFill>
                <a:effectLst/>
                <a:latin typeface="Roboto" panose="02000000000000000000" pitchFamily="2" charset="0"/>
              </a:rPr>
              <a:t>A work package is a user-defined selection of BOM nodes and materials that allows you to define specific </a:t>
            </a:r>
            <a:r>
              <a:rPr lang="en-US" b="1" i="0" dirty="0">
                <a:solidFill>
                  <a:srgbClr val="666666"/>
                </a:solidFill>
                <a:effectLst/>
                <a:latin typeface="Roboto" panose="02000000000000000000" pitchFamily="2" charset="0"/>
              </a:rPr>
              <a:t>Where conditions</a:t>
            </a:r>
            <a:r>
              <a:rPr lang="en-US" b="0" i="0" dirty="0">
                <a:solidFill>
                  <a:srgbClr val="666666"/>
                </a:solidFill>
                <a:effectLst/>
                <a:latin typeface="Roboto" panose="02000000000000000000" pitchFamily="2" charset="0"/>
              </a:rPr>
              <a:t> for the ident and list position selection (scope of material).</a:t>
            </a: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They are used in a forecast and reservation run to determine the material that is required to perform scheduled construction tasks. </a:t>
            </a:r>
            <a:endParaRPr lang="en-US" b="0" i="0" dirty="0">
              <a:solidFill>
                <a:srgbClr val="0097BA"/>
              </a:solidFill>
              <a:effectLst/>
              <a:latin typeface="Roboto" panose="02000000000000000000" pitchFamily="2" charset="0"/>
            </a:endParaRPr>
          </a:p>
        </p:txBody>
      </p:sp>
      <p:sp>
        <p:nvSpPr>
          <p:cNvPr id="7" name="TextBox 6">
            <a:extLst>
              <a:ext uri="{FF2B5EF4-FFF2-40B4-BE49-F238E27FC236}">
                <a16:creationId xmlns:a16="http://schemas.microsoft.com/office/drawing/2014/main" id="{EF1F7D6A-D872-3C25-61F6-92B6AAA23C87}"/>
              </a:ext>
            </a:extLst>
          </p:cNvPr>
          <p:cNvSpPr txBox="1"/>
          <p:nvPr/>
        </p:nvSpPr>
        <p:spPr>
          <a:xfrm>
            <a:off x="1140542" y="2900626"/>
            <a:ext cx="10884310" cy="3693319"/>
          </a:xfrm>
          <a:prstGeom prst="rect">
            <a:avLst/>
          </a:prstGeom>
          <a:noFill/>
        </p:spPr>
        <p:txBody>
          <a:bodyPr wrap="square">
            <a:spAutoFit/>
          </a:bodyPr>
          <a:lstStyle/>
          <a:p>
            <a:pPr algn="l" fontAlgn="base">
              <a:buNone/>
            </a:pPr>
            <a:r>
              <a:rPr lang="en-US" b="1" i="0" dirty="0">
                <a:solidFill>
                  <a:srgbClr val="0097BA"/>
                </a:solidFill>
                <a:effectLst/>
                <a:latin typeface="Roboto" panose="02000000000000000000" pitchFamily="2" charset="0"/>
              </a:rPr>
              <a:t>Where Conditions</a:t>
            </a:r>
            <a:r>
              <a:rPr lang="en-US" b="0" i="0" dirty="0">
                <a:solidFill>
                  <a:srgbClr val="0097BA"/>
                </a:solidFill>
                <a:effectLst/>
                <a:latin typeface="Roboto" panose="02000000000000000000" pitchFamily="2" charset="0"/>
              </a:rPr>
              <a:t> </a:t>
            </a:r>
          </a:p>
          <a:p>
            <a:pPr algn="l" fontAlgn="base">
              <a:buNone/>
            </a:pPr>
            <a:r>
              <a:rPr lang="en-US" b="0" i="0" dirty="0">
                <a:solidFill>
                  <a:srgbClr val="666666"/>
                </a:solidFill>
                <a:effectLst/>
                <a:latin typeface="Roboto" panose="02000000000000000000" pitchFamily="2" charset="0"/>
              </a:rPr>
              <a:t>So what are these </a:t>
            </a:r>
            <a:r>
              <a:rPr lang="en-US" b="1" i="0" dirty="0">
                <a:solidFill>
                  <a:srgbClr val="666666"/>
                </a:solidFill>
                <a:effectLst/>
                <a:latin typeface="Roboto" panose="02000000000000000000" pitchFamily="2" charset="0"/>
              </a:rPr>
              <a:t>Where conditions</a:t>
            </a:r>
            <a:r>
              <a:rPr lang="en-US" b="0" i="0" dirty="0">
                <a:solidFill>
                  <a:srgbClr val="666666"/>
                </a:solidFill>
                <a:effectLst/>
                <a:latin typeface="Roboto" panose="02000000000000000000" pitchFamily="2" charset="0"/>
              </a:rPr>
              <a:t>?</a:t>
            </a:r>
            <a:endParaRPr lang="en-US" b="0" i="0" dirty="0">
              <a:solidFill>
                <a:srgbClr val="0097BA"/>
              </a:solidFill>
              <a:effectLst/>
              <a:latin typeface="Roboto" panose="02000000000000000000" pitchFamily="2" charset="0"/>
            </a:endParaRPr>
          </a:p>
          <a:p>
            <a:pPr algn="l" fontAlgn="base">
              <a:buNone/>
            </a:pPr>
            <a:br>
              <a:rPr lang="en-US" b="0" i="0" dirty="0">
                <a:solidFill>
                  <a:srgbClr val="666666"/>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Where conditions allow you to have a limited view of the database content. </a:t>
            </a:r>
            <a:endParaRPr lang="en-US" b="0" i="0" dirty="0">
              <a:solidFill>
                <a:srgbClr val="0097BA"/>
              </a:solidFill>
              <a:effectLst/>
              <a:latin typeface="Roboto" panose="02000000000000000000" pitchFamily="2" charset="0"/>
            </a:endParaRPr>
          </a:p>
          <a:p>
            <a:pPr algn="l" fontAlgn="base">
              <a:buNone/>
            </a:pPr>
            <a:br>
              <a:rPr lang="en-US" b="0" i="0" dirty="0">
                <a:solidFill>
                  <a:srgbClr val="666666"/>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For example, you define where conditions to select specific material from the available material list while performing any audit or process.</a:t>
            </a:r>
            <a:endParaRPr lang="en-US" b="0" i="0" dirty="0">
              <a:solidFill>
                <a:srgbClr val="0097BA"/>
              </a:solidFill>
              <a:effectLst/>
              <a:latin typeface="Roboto" panose="02000000000000000000" pitchFamily="2" charset="0"/>
            </a:endParaRPr>
          </a:p>
          <a:p>
            <a:pPr algn="l" fontAlgn="base">
              <a:buNone/>
            </a:pPr>
            <a:br>
              <a:rPr lang="en-US" b="0" i="0" dirty="0">
                <a:solidFill>
                  <a:srgbClr val="0097BA"/>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We have five types of where conditions available that can be used or selected while creating a work package.</a:t>
            </a:r>
            <a:endParaRPr lang="en-US" b="0" i="0" dirty="0">
              <a:solidFill>
                <a:srgbClr val="0097BA"/>
              </a:solidFill>
              <a:effectLst/>
              <a:latin typeface="Roboto" panose="02000000000000000000" pitchFamily="2" charset="0"/>
            </a:endParaRPr>
          </a:p>
        </p:txBody>
      </p:sp>
      <p:sp>
        <p:nvSpPr>
          <p:cNvPr id="2" name="Slide Number Placeholder 1">
            <a:extLst>
              <a:ext uri="{FF2B5EF4-FFF2-40B4-BE49-F238E27FC236}">
                <a16:creationId xmlns:a16="http://schemas.microsoft.com/office/drawing/2014/main" id="{D133993E-723D-FCA4-5D03-F4A54540C90F}"/>
              </a:ext>
            </a:extLst>
          </p:cNvPr>
          <p:cNvSpPr>
            <a:spLocks noGrp="1"/>
          </p:cNvSpPr>
          <p:nvPr>
            <p:ph type="sldNum" sz="quarter" idx="12"/>
          </p:nvPr>
        </p:nvSpPr>
        <p:spPr/>
        <p:txBody>
          <a:bodyPr/>
          <a:lstStyle/>
          <a:p>
            <a:fld id="{8D2BF91B-0CBE-4174-9ED3-70A36405CB62}" type="slidenum">
              <a:rPr lang="en-AE" smtClean="0"/>
              <a:t>16</a:t>
            </a:fld>
            <a:endParaRPr lang="en-AE"/>
          </a:p>
        </p:txBody>
      </p:sp>
    </p:spTree>
    <p:extLst>
      <p:ext uri="{BB962C8B-B14F-4D97-AF65-F5344CB8AC3E}">
        <p14:creationId xmlns:p14="http://schemas.microsoft.com/office/powerpoint/2010/main" val="58187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5AF44A20-74FB-41A6-601A-4267A3482CDE}"/>
              </a:ext>
            </a:extLst>
          </p:cNvPr>
          <p:cNvSpPr txBox="1"/>
          <p:nvPr/>
        </p:nvSpPr>
        <p:spPr>
          <a:xfrm>
            <a:off x="717755" y="491613"/>
            <a:ext cx="8426245" cy="4247317"/>
          </a:xfrm>
          <a:prstGeom prst="rect">
            <a:avLst/>
          </a:prstGeom>
          <a:noFill/>
        </p:spPr>
        <p:txBody>
          <a:bodyPr wrap="square">
            <a:spAutoFit/>
          </a:bodyPr>
          <a:lstStyle/>
          <a:p>
            <a:pPr fontAlgn="base">
              <a:buNone/>
            </a:pPr>
            <a:r>
              <a:rPr lang="en-US" b="1" dirty="0">
                <a:solidFill>
                  <a:srgbClr val="0097BA"/>
                </a:solidFill>
                <a:effectLst/>
                <a:latin typeface="Roboto" panose="02000000000000000000" pitchFamily="2" charset="0"/>
              </a:rPr>
              <a:t>Where Conditions</a:t>
            </a:r>
            <a:r>
              <a:rPr lang="en-US" dirty="0">
                <a:solidFill>
                  <a:srgbClr val="0097BA"/>
                </a:solidFill>
                <a:effectLst/>
                <a:latin typeface="Roboto" panose="02000000000000000000" pitchFamily="2" charset="0"/>
              </a:rPr>
              <a:t> </a:t>
            </a:r>
          </a:p>
          <a:p>
            <a:pPr algn="l" fontAlgn="base">
              <a:buNone/>
            </a:pPr>
            <a:r>
              <a:rPr lang="en-US" b="0" i="0" dirty="0">
                <a:solidFill>
                  <a:srgbClr val="666666"/>
                </a:solidFill>
                <a:effectLst/>
                <a:latin typeface="Roboto" panose="02000000000000000000" pitchFamily="2" charset="0"/>
              </a:rPr>
              <a:t>So what are these </a:t>
            </a:r>
            <a:r>
              <a:rPr lang="en-US" b="1" i="0" dirty="0">
                <a:solidFill>
                  <a:srgbClr val="666666"/>
                </a:solidFill>
                <a:effectLst/>
                <a:latin typeface="Roboto" panose="02000000000000000000" pitchFamily="2" charset="0"/>
              </a:rPr>
              <a:t>Where conditions</a:t>
            </a:r>
            <a:r>
              <a:rPr lang="en-US" b="0" i="0" dirty="0">
                <a:solidFill>
                  <a:srgbClr val="666666"/>
                </a:solidFill>
                <a:effectLst/>
                <a:latin typeface="Roboto" panose="02000000000000000000" pitchFamily="2" charset="0"/>
              </a:rPr>
              <a:t>?</a:t>
            </a:r>
            <a:endParaRPr lang="en-US" b="0" i="0" dirty="0">
              <a:solidFill>
                <a:srgbClr val="0097BA"/>
              </a:solidFill>
              <a:effectLst/>
              <a:latin typeface="Roboto" panose="02000000000000000000" pitchFamily="2" charset="0"/>
            </a:endParaRPr>
          </a:p>
          <a:p>
            <a:pPr algn="l" fontAlgn="base">
              <a:buNone/>
            </a:pPr>
            <a:br>
              <a:rPr lang="en-US" b="0" i="0" dirty="0">
                <a:solidFill>
                  <a:srgbClr val="666666"/>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Where conditions allow you to have a limited view of the database content. </a:t>
            </a:r>
            <a:endParaRPr lang="en-US" b="0" i="0" dirty="0">
              <a:solidFill>
                <a:srgbClr val="0097BA"/>
              </a:solidFill>
              <a:effectLst/>
              <a:latin typeface="Roboto" panose="02000000000000000000" pitchFamily="2" charset="0"/>
            </a:endParaRPr>
          </a:p>
          <a:p>
            <a:pPr algn="l" fontAlgn="base">
              <a:buNone/>
            </a:pPr>
            <a:br>
              <a:rPr lang="en-US" b="0" i="0" dirty="0">
                <a:solidFill>
                  <a:srgbClr val="666666"/>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For example, you define where conditions to select specific material from the available material list while performing any audit or process.</a:t>
            </a:r>
            <a:endParaRPr lang="en-US" b="0" i="0" dirty="0">
              <a:solidFill>
                <a:srgbClr val="0097BA"/>
              </a:solidFill>
              <a:effectLst/>
              <a:latin typeface="Roboto" panose="02000000000000000000" pitchFamily="2" charset="0"/>
            </a:endParaRPr>
          </a:p>
          <a:p>
            <a:pPr algn="l" fontAlgn="base">
              <a:buNone/>
            </a:pPr>
            <a:br>
              <a:rPr lang="en-US" b="0" i="0" dirty="0">
                <a:solidFill>
                  <a:srgbClr val="0097BA"/>
                </a:solidFill>
                <a:effectLst/>
                <a:latin typeface="Roboto" panose="02000000000000000000" pitchFamily="2" charset="0"/>
              </a:rPr>
            </a:br>
            <a:endParaRPr lang="en-US" b="0" i="0" dirty="0">
              <a:solidFill>
                <a:srgbClr val="0097BA"/>
              </a:solidFill>
              <a:effectLst/>
              <a:latin typeface="Roboto" panose="02000000000000000000" pitchFamily="2" charset="0"/>
            </a:endParaRPr>
          </a:p>
          <a:p>
            <a:pPr algn="l" fontAlgn="base">
              <a:buNone/>
            </a:pPr>
            <a:r>
              <a:rPr lang="en-US" b="0" i="0" dirty="0">
                <a:solidFill>
                  <a:srgbClr val="666666"/>
                </a:solidFill>
                <a:effectLst/>
                <a:latin typeface="Roboto" panose="02000000000000000000" pitchFamily="2" charset="0"/>
              </a:rPr>
              <a:t>We have five types of where conditions available that can be used or selected while creating a work package.</a:t>
            </a:r>
            <a:endParaRPr lang="en-US" b="0" i="0" dirty="0">
              <a:solidFill>
                <a:srgbClr val="0097BA"/>
              </a:solidFill>
              <a:effectLst/>
              <a:latin typeface="Roboto" panose="02000000000000000000" pitchFamily="2" charset="0"/>
            </a:endParaRPr>
          </a:p>
          <a:p>
            <a:pPr>
              <a:buNone/>
            </a:pPr>
            <a:br>
              <a:rPr lang="en-US" dirty="0">
                <a:solidFill>
                  <a:srgbClr val="0097BA"/>
                </a:solidFill>
                <a:effectLst/>
                <a:latin typeface="Roboto" panose="02000000000000000000" pitchFamily="2" charset="0"/>
              </a:rPr>
            </a:br>
            <a:endParaRPr lang="en-AE" dirty="0"/>
          </a:p>
        </p:txBody>
      </p:sp>
      <p:sp>
        <p:nvSpPr>
          <p:cNvPr id="2" name="Slide Number Placeholder 1">
            <a:extLst>
              <a:ext uri="{FF2B5EF4-FFF2-40B4-BE49-F238E27FC236}">
                <a16:creationId xmlns:a16="http://schemas.microsoft.com/office/drawing/2014/main" id="{6BA07E7E-41B0-924E-3E8E-B7C784BC6ECB}"/>
              </a:ext>
            </a:extLst>
          </p:cNvPr>
          <p:cNvSpPr>
            <a:spLocks noGrp="1"/>
          </p:cNvSpPr>
          <p:nvPr>
            <p:ph type="sldNum" sz="quarter" idx="12"/>
          </p:nvPr>
        </p:nvSpPr>
        <p:spPr/>
        <p:txBody>
          <a:bodyPr/>
          <a:lstStyle/>
          <a:p>
            <a:fld id="{8D2BF91B-0CBE-4174-9ED3-70A36405CB62}" type="slidenum">
              <a:rPr lang="en-AE" smtClean="0"/>
              <a:t>17</a:t>
            </a:fld>
            <a:endParaRPr lang="en-AE"/>
          </a:p>
        </p:txBody>
      </p:sp>
    </p:spTree>
    <p:extLst>
      <p:ext uri="{BB962C8B-B14F-4D97-AF65-F5344CB8AC3E}">
        <p14:creationId xmlns:p14="http://schemas.microsoft.com/office/powerpoint/2010/main" val="1562538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51F2CB-BE92-DD29-2EEC-056B971DCFF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B5A47D-8987-5AA4-186F-03ABA3A255B1}"/>
              </a:ext>
            </a:extLst>
          </p:cNvPr>
          <p:cNvSpPr txBox="1"/>
          <p:nvPr/>
        </p:nvSpPr>
        <p:spPr>
          <a:xfrm>
            <a:off x="1769805" y="1632605"/>
            <a:ext cx="9871589" cy="1200329"/>
          </a:xfrm>
          <a:prstGeom prst="rect">
            <a:avLst/>
          </a:prstGeom>
          <a:noFill/>
        </p:spPr>
        <p:txBody>
          <a:bodyPr wrap="square">
            <a:spAutoFit/>
          </a:bodyPr>
          <a:lstStyle/>
          <a:p>
            <a:r>
              <a:rPr lang="en-US" dirty="0"/>
              <a:t>Material Where Condition</a:t>
            </a:r>
          </a:p>
          <a:p>
            <a:endParaRPr lang="en-US" b="0" i="0" dirty="0">
              <a:solidFill>
                <a:srgbClr val="1F1F1F"/>
              </a:solidFill>
              <a:effectLst/>
              <a:latin typeface="Courier New" panose="02070309020205020404" pitchFamily="49" charset="0"/>
            </a:endParaRPr>
          </a:p>
          <a:p>
            <a:r>
              <a:rPr lang="en-US" b="0" i="0" dirty="0">
                <a:solidFill>
                  <a:srgbClr val="1F1F1F"/>
                </a:solidFill>
                <a:effectLst/>
                <a:latin typeface="Courier New" panose="02070309020205020404" pitchFamily="49" charset="0"/>
              </a:rPr>
              <a:t>Through this condition, you can limit the idents (material) to be selected from the BOM by the forecast/reservation run.</a:t>
            </a:r>
            <a:endParaRPr lang="en-AE" dirty="0"/>
          </a:p>
        </p:txBody>
      </p:sp>
      <p:sp>
        <p:nvSpPr>
          <p:cNvPr id="11" name="TextBox 10">
            <a:extLst>
              <a:ext uri="{FF2B5EF4-FFF2-40B4-BE49-F238E27FC236}">
                <a16:creationId xmlns:a16="http://schemas.microsoft.com/office/drawing/2014/main" id="{B96D1D65-A243-3474-D85D-2ADDCE9B1A4A}"/>
              </a:ext>
            </a:extLst>
          </p:cNvPr>
          <p:cNvSpPr txBox="1"/>
          <p:nvPr/>
        </p:nvSpPr>
        <p:spPr>
          <a:xfrm>
            <a:off x="1769804" y="3256624"/>
            <a:ext cx="10186221" cy="1754326"/>
          </a:xfrm>
          <a:prstGeom prst="rect">
            <a:avLst/>
          </a:prstGeom>
          <a:noFill/>
        </p:spPr>
        <p:txBody>
          <a:bodyPr wrap="square">
            <a:spAutoFit/>
          </a:bodyPr>
          <a:lstStyle/>
          <a:p>
            <a:r>
              <a:rPr lang="en-US" dirty="0"/>
              <a:t>BOM Where Condition</a:t>
            </a:r>
          </a:p>
          <a:p>
            <a:endParaRPr lang="en-US" dirty="0"/>
          </a:p>
          <a:p>
            <a:r>
              <a:rPr lang="en-US" dirty="0">
                <a:solidFill>
                  <a:srgbClr val="1F1F1F"/>
                </a:solidFill>
                <a:latin typeface="Courier New" panose="02070309020205020404" pitchFamily="49" charset="0"/>
              </a:rPr>
              <a:t>Through this condition, you can limit the WBS nodes and BOM list positions to be selected from the BOM by the forecast/reservation run.</a:t>
            </a:r>
            <a:endParaRPr lang="en-AE" dirty="0">
              <a:solidFill>
                <a:srgbClr val="1F1F1F"/>
              </a:solidFill>
              <a:latin typeface="Courier New" panose="02070309020205020404" pitchFamily="49" charset="0"/>
            </a:endParaRPr>
          </a:p>
          <a:p>
            <a:endParaRPr lang="en-US" dirty="0"/>
          </a:p>
          <a:p>
            <a:r>
              <a:rPr lang="en-US" b="0" i="0" dirty="0">
                <a:solidFill>
                  <a:srgbClr val="FFFFFF"/>
                </a:solidFill>
                <a:effectLst/>
                <a:latin typeface="Roboto" panose="02000000000000000000" pitchFamily="2" charset="0"/>
              </a:rPr>
              <a:t>e Condition</a:t>
            </a:r>
            <a:endParaRPr lang="en-AE" dirty="0"/>
          </a:p>
        </p:txBody>
      </p:sp>
      <p:sp>
        <p:nvSpPr>
          <p:cNvPr id="3" name="TextBox 2">
            <a:extLst>
              <a:ext uri="{FF2B5EF4-FFF2-40B4-BE49-F238E27FC236}">
                <a16:creationId xmlns:a16="http://schemas.microsoft.com/office/drawing/2014/main" id="{67E117A3-8EDB-380D-4A07-E5CD7B3042C5}"/>
              </a:ext>
            </a:extLst>
          </p:cNvPr>
          <p:cNvSpPr txBox="1"/>
          <p:nvPr/>
        </p:nvSpPr>
        <p:spPr>
          <a:xfrm>
            <a:off x="1868128" y="4888668"/>
            <a:ext cx="9773266" cy="1754326"/>
          </a:xfrm>
          <a:prstGeom prst="rect">
            <a:avLst/>
          </a:prstGeom>
          <a:noFill/>
        </p:spPr>
        <p:txBody>
          <a:bodyPr wrap="square">
            <a:spAutoFit/>
          </a:bodyPr>
          <a:lstStyle>
            <a:defPPr>
              <a:defRPr lang="en-US"/>
            </a:defPPr>
          </a:lstStyle>
          <a:p>
            <a:r>
              <a:rPr lang="en-US" dirty="0"/>
              <a:t>Mandatory Material Where Condition</a:t>
            </a:r>
          </a:p>
          <a:p>
            <a:endParaRPr lang="en-US" dirty="0"/>
          </a:p>
          <a:p>
            <a:r>
              <a:rPr lang="en-US" dirty="0">
                <a:solidFill>
                  <a:srgbClr val="1F1F1F"/>
                </a:solidFill>
                <a:latin typeface="Courier New" panose="02070309020205020404" pitchFamily="49" charset="0"/>
              </a:rPr>
              <a:t>Through this condition, you can define a set of specific material (mandatory list positions) that is necessary for starting the installation. This where condition is used by the forecast/reservation run shortage option.</a:t>
            </a:r>
            <a:endParaRPr lang="en-AE" dirty="0">
              <a:solidFill>
                <a:srgbClr val="1F1F1F"/>
              </a:solidFill>
              <a:latin typeface="Courier New" panose="02070309020205020404" pitchFamily="49" charset="0"/>
            </a:endParaRPr>
          </a:p>
        </p:txBody>
      </p:sp>
      <p:sp>
        <p:nvSpPr>
          <p:cNvPr id="2" name="Slide Number Placeholder 1">
            <a:extLst>
              <a:ext uri="{FF2B5EF4-FFF2-40B4-BE49-F238E27FC236}">
                <a16:creationId xmlns:a16="http://schemas.microsoft.com/office/drawing/2014/main" id="{91F578E1-7B07-D6F3-3847-12262EC5D581}"/>
              </a:ext>
            </a:extLst>
          </p:cNvPr>
          <p:cNvSpPr>
            <a:spLocks noGrp="1"/>
          </p:cNvSpPr>
          <p:nvPr>
            <p:ph type="sldNum" sz="quarter" idx="12"/>
          </p:nvPr>
        </p:nvSpPr>
        <p:spPr/>
        <p:txBody>
          <a:bodyPr/>
          <a:lstStyle/>
          <a:p>
            <a:fld id="{8D2BF91B-0CBE-4174-9ED3-70A36405CB62}" type="slidenum">
              <a:rPr lang="en-AE" smtClean="0"/>
              <a:t>18</a:t>
            </a:fld>
            <a:endParaRPr lang="en-AE"/>
          </a:p>
        </p:txBody>
      </p:sp>
    </p:spTree>
    <p:extLst>
      <p:ext uri="{BB962C8B-B14F-4D97-AF65-F5344CB8AC3E}">
        <p14:creationId xmlns:p14="http://schemas.microsoft.com/office/powerpoint/2010/main" val="2900171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3090F-E891-FD3F-7E7B-EEE9BD7C5BAD}"/>
              </a:ext>
            </a:extLst>
          </p:cNvPr>
          <p:cNvSpPr>
            <a:spLocks noGrp="1"/>
          </p:cNvSpPr>
          <p:nvPr>
            <p:ph type="title"/>
          </p:nvPr>
        </p:nvSpPr>
        <p:spPr>
          <a:xfrm>
            <a:off x="890047" y="175353"/>
            <a:ext cx="10891684" cy="535531"/>
          </a:xfrm>
          <a:noFill/>
        </p:spPr>
        <p:txBody>
          <a:bodyPr wrap="square">
            <a:spAutoFit/>
          </a:bodyPr>
          <a:lstStyle/>
          <a:p>
            <a:pPr algn="ctr" fontAlgn="base"/>
            <a:r>
              <a:rPr lang="en-US" sz="3200" b="1" dirty="0">
                <a:solidFill>
                  <a:srgbClr val="0097BA"/>
                </a:solidFill>
                <a:latin typeface="Roboto" panose="02000000000000000000" pitchFamily="2" charset="0"/>
                <a:ea typeface="+mn-ea"/>
                <a:cs typeface="+mn-cs"/>
              </a:rPr>
              <a:t>Work package workflow</a:t>
            </a:r>
            <a:endParaRPr lang="en-AE" sz="3200" b="1" dirty="0">
              <a:solidFill>
                <a:srgbClr val="0097BA"/>
              </a:solidFill>
              <a:latin typeface="Roboto" panose="02000000000000000000" pitchFamily="2" charset="0"/>
              <a:ea typeface="+mn-ea"/>
              <a:cs typeface="+mn-cs"/>
            </a:endParaRPr>
          </a:p>
        </p:txBody>
      </p:sp>
      <p:pic>
        <p:nvPicPr>
          <p:cNvPr id="7" name="Content Placeholder 6" descr="A diagram of a work package&#10;&#10;AI-generated content may be incorrect.">
            <a:extLst>
              <a:ext uri="{FF2B5EF4-FFF2-40B4-BE49-F238E27FC236}">
                <a16:creationId xmlns:a16="http://schemas.microsoft.com/office/drawing/2014/main" id="{179A5D6A-4709-F5EF-3D45-315326455F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9634" y="868200"/>
            <a:ext cx="10507855" cy="5904000"/>
          </a:xfrm>
        </p:spPr>
      </p:pic>
      <p:sp>
        <p:nvSpPr>
          <p:cNvPr id="3" name="Slide Number Placeholder 2">
            <a:extLst>
              <a:ext uri="{FF2B5EF4-FFF2-40B4-BE49-F238E27FC236}">
                <a16:creationId xmlns:a16="http://schemas.microsoft.com/office/drawing/2014/main" id="{FB8B9AD5-FB74-7ABA-01CB-7F397C3FD33D}"/>
              </a:ext>
            </a:extLst>
          </p:cNvPr>
          <p:cNvSpPr>
            <a:spLocks noGrp="1"/>
          </p:cNvSpPr>
          <p:nvPr>
            <p:ph type="sldNum" sz="quarter" idx="12"/>
          </p:nvPr>
        </p:nvSpPr>
        <p:spPr/>
        <p:txBody>
          <a:bodyPr/>
          <a:lstStyle/>
          <a:p>
            <a:fld id="{8D2BF91B-0CBE-4174-9ED3-70A36405CB62}" type="slidenum">
              <a:rPr lang="en-AE" smtClean="0"/>
              <a:t>19</a:t>
            </a:fld>
            <a:endParaRPr lang="en-AE"/>
          </a:p>
        </p:txBody>
      </p:sp>
    </p:spTree>
    <p:extLst>
      <p:ext uri="{BB962C8B-B14F-4D97-AF65-F5344CB8AC3E}">
        <p14:creationId xmlns:p14="http://schemas.microsoft.com/office/powerpoint/2010/main" val="418704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itchbook">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extLst>
    <a:ext uri="{05A4C25C-085E-4340-85A3-A5531E510DB2}">
      <thm15:themeFamily xmlns:thm15="http://schemas.microsoft.com/office/thememl/2012/main" name="Presentation1" id="{30FC519D-8658-4255-906A-422831B44B9A}" vid="{1D49D6AA-5AD4-4F7A-9D83-CD614D2F8EC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1822</TotalTime>
  <Words>1049</Words>
  <Application>Microsoft Office PowerPoint</Application>
  <PresentationFormat>Widescreen</PresentationFormat>
  <Paragraphs>211</Paragraphs>
  <Slides>19</Slides>
  <Notes>11</Notes>
  <HiddenSlides>9</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Aptos</vt:lpstr>
      <vt:lpstr>Aptos Display</vt:lpstr>
      <vt:lpstr>Arial</vt:lpstr>
      <vt:lpstr>Calibri</vt:lpstr>
      <vt:lpstr>Courier New</vt:lpstr>
      <vt:lpstr>Roboto</vt:lpstr>
      <vt:lpstr>Times New Roman</vt:lpstr>
      <vt:lpstr>Trebuchet MS</vt:lpstr>
      <vt:lpstr>Wingdings 2</vt:lpstr>
      <vt:lpstr>Office Theme</vt:lpstr>
      <vt:lpstr>Pitchbook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Forecast Run(FR)</vt:lpstr>
      <vt:lpstr>Material Allocation</vt:lpstr>
      <vt:lpstr>Material Allocation Levels</vt:lpstr>
      <vt:lpstr>PowerPoint Presentation</vt:lpstr>
      <vt:lpstr>What are Nodes and list positions?</vt:lpstr>
      <vt:lpstr>PowerPoint Presentation</vt:lpstr>
      <vt:lpstr>PowerPoint Presentation</vt:lpstr>
      <vt:lpstr>PowerPoint Presentation</vt:lpstr>
      <vt:lpstr>Work package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Sherif Abd El Moneim</dc:creator>
  <cp:lastModifiedBy>Sherif Abd El Moneim</cp:lastModifiedBy>
  <cp:revision>13</cp:revision>
  <cp:lastPrinted>2025-09-26T05:49:23Z</cp:lastPrinted>
  <dcterms:created xsi:type="dcterms:W3CDTF">2025-09-19T05:26:15Z</dcterms:created>
  <dcterms:modified xsi:type="dcterms:W3CDTF">2025-09-29T10:25:12Z</dcterms:modified>
</cp:coreProperties>
</file>