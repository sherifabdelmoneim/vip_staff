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71" r:id="rId2"/>
  </p:sldMasterIdLst>
  <p:notesMasterIdLst>
    <p:notesMasterId r:id="rId40"/>
  </p:notesMasterIdLst>
  <p:handoutMasterIdLst>
    <p:handoutMasterId r:id="rId41"/>
  </p:handoutMasterIdLst>
  <p:sldIdLst>
    <p:sldId id="676" r:id="rId3"/>
    <p:sldId id="677" r:id="rId4"/>
    <p:sldId id="657" r:id="rId5"/>
    <p:sldId id="647" r:id="rId6"/>
    <p:sldId id="651" r:id="rId7"/>
    <p:sldId id="664" r:id="rId8"/>
    <p:sldId id="653" r:id="rId9"/>
    <p:sldId id="665" r:id="rId10"/>
    <p:sldId id="654" r:id="rId11"/>
    <p:sldId id="655" r:id="rId12"/>
    <p:sldId id="656" r:id="rId13"/>
    <p:sldId id="663" r:id="rId14"/>
    <p:sldId id="684" r:id="rId15"/>
    <p:sldId id="678" r:id="rId16"/>
    <p:sldId id="682" r:id="rId17"/>
    <p:sldId id="681" r:id="rId18"/>
    <p:sldId id="679" r:id="rId19"/>
    <p:sldId id="680" r:id="rId20"/>
    <p:sldId id="683" r:id="rId21"/>
    <p:sldId id="667" r:id="rId22"/>
    <p:sldId id="666" r:id="rId23"/>
    <p:sldId id="668" r:id="rId24"/>
    <p:sldId id="669" r:id="rId25"/>
    <p:sldId id="658" r:id="rId26"/>
    <p:sldId id="659" r:id="rId27"/>
    <p:sldId id="660" r:id="rId28"/>
    <p:sldId id="661" r:id="rId29"/>
    <p:sldId id="675" r:id="rId30"/>
    <p:sldId id="662" r:id="rId31"/>
    <p:sldId id="649" r:id="rId32"/>
    <p:sldId id="674" r:id="rId33"/>
    <p:sldId id="673" r:id="rId34"/>
    <p:sldId id="670" r:id="rId35"/>
    <p:sldId id="672" r:id="rId36"/>
    <p:sldId id="671" r:id="rId37"/>
    <p:sldId id="642" r:id="rId38"/>
    <p:sldId id="643" r:id="rId39"/>
  </p:sldIdLst>
  <p:sldSz cx="12161838" cy="51435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3831">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518D"/>
    <a:srgbClr val="195A9A"/>
    <a:srgbClr val="184880"/>
    <a:srgbClr val="175363"/>
    <a:srgbClr val="0D4461"/>
    <a:srgbClr val="387955"/>
    <a:srgbClr val="3B7C51"/>
    <a:srgbClr val="256865"/>
    <a:srgbClr val="185563"/>
    <a:srgbClr val="2264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876" autoAdjust="0"/>
  </p:normalViewPr>
  <p:slideViewPr>
    <p:cSldViewPr>
      <p:cViewPr varScale="1">
        <p:scale>
          <a:sx n="120" d="100"/>
          <a:sy n="120" d="100"/>
        </p:scale>
        <p:origin x="566" y="72"/>
      </p:cViewPr>
      <p:guideLst>
        <p:guide orient="horz" pos="1620"/>
        <p:guide pos="383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77" d="100"/>
          <a:sy n="77" d="100"/>
        </p:scale>
        <p:origin x="4002" y="96"/>
      </p:cViewPr>
      <p:guideLst>
        <p:guide orient="horz" pos="3126"/>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576" cy="4968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51098" y="0"/>
            <a:ext cx="2944958" cy="4968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F65E68A-3756-4C8E-8197-71FD050BFCFB}" type="datetimeFigureOut">
              <a:rPr lang="en-US"/>
              <a:pPr>
                <a:defRPr/>
              </a:pPr>
              <a:t>12/21/2025</a:t>
            </a:fld>
            <a:endParaRPr lang="en-US"/>
          </a:p>
        </p:txBody>
      </p:sp>
      <p:sp>
        <p:nvSpPr>
          <p:cNvPr id="4" name="Footer Placeholder 3"/>
          <p:cNvSpPr>
            <a:spLocks noGrp="1"/>
          </p:cNvSpPr>
          <p:nvPr>
            <p:ph type="ftr" sz="quarter" idx="2"/>
          </p:nvPr>
        </p:nvSpPr>
        <p:spPr>
          <a:xfrm>
            <a:off x="0" y="9428164"/>
            <a:ext cx="2946576" cy="4968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51098" y="9428164"/>
            <a:ext cx="2944958" cy="4968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9585BEDD-2D92-4105-9852-A01F24AFA79E}" type="slidenum">
              <a:rPr lang="en-US"/>
              <a:pPr>
                <a:defRPr/>
              </a:pPr>
              <a:t>‹#›</a:t>
            </a:fld>
            <a:endParaRPr lang="en-US"/>
          </a:p>
        </p:txBody>
      </p:sp>
    </p:spTree>
    <p:extLst>
      <p:ext uri="{BB962C8B-B14F-4D97-AF65-F5344CB8AC3E}">
        <p14:creationId xmlns:p14="http://schemas.microsoft.com/office/powerpoint/2010/main" val="107527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958" cy="496888"/>
          </a:xfrm>
          <a:prstGeom prst="rect">
            <a:avLst/>
          </a:prstGeom>
        </p:spPr>
        <p:txBody>
          <a:bodyPr vert="horz" rtlCol="0"/>
          <a:lstStyle>
            <a:lvl1pPr algn="l" fontAlgn="auto">
              <a:spcBef>
                <a:spcPts val="0"/>
              </a:spcBef>
              <a:spcAft>
                <a:spcPts val="0"/>
              </a:spcAft>
              <a:defRPr sz="1200">
                <a:latin typeface="+mn-lt"/>
                <a:cs typeface="+mn-cs"/>
              </a:defRPr>
            </a:lvl1pPr>
            <a:extLst/>
          </a:lstStyle>
          <a:p>
            <a:pPr>
              <a:defRPr/>
            </a:pPr>
            <a:endParaRPr lang="en-US"/>
          </a:p>
        </p:txBody>
      </p:sp>
      <p:sp>
        <p:nvSpPr>
          <p:cNvPr id="3" name="Date Placeholder 2"/>
          <p:cNvSpPr>
            <a:spLocks noGrp="1"/>
          </p:cNvSpPr>
          <p:nvPr>
            <p:ph type="dt" idx="1"/>
          </p:nvPr>
        </p:nvSpPr>
        <p:spPr>
          <a:xfrm>
            <a:off x="3851098" y="0"/>
            <a:ext cx="2944958" cy="496888"/>
          </a:xfrm>
          <a:prstGeom prst="rect">
            <a:avLst/>
          </a:prstGeom>
        </p:spPr>
        <p:txBody>
          <a:bodyPr vert="horz" rtlCol="0"/>
          <a:lstStyle>
            <a:lvl1pPr algn="r" fontAlgn="auto">
              <a:spcBef>
                <a:spcPts val="0"/>
              </a:spcBef>
              <a:spcAft>
                <a:spcPts val="0"/>
              </a:spcAft>
              <a:defRPr sz="1200">
                <a:latin typeface="+mn-lt"/>
                <a:cs typeface="+mn-cs"/>
              </a:defRPr>
            </a:lvl1pPr>
            <a:extLst/>
          </a:lstStyle>
          <a:p>
            <a:pPr>
              <a:defRPr/>
            </a:pPr>
            <a:fld id="{E7BA0EBC-DC41-4312-9195-0FBC6F620968}" type="datetimeFigureOut">
              <a:rPr lang="en-US"/>
              <a:pPr>
                <a:defRPr/>
              </a:pPr>
              <a:t>12/21/2025</a:t>
            </a:fld>
            <a:endParaRPr lang="en-US" dirty="0"/>
          </a:p>
        </p:txBody>
      </p:sp>
      <p:sp>
        <p:nvSpPr>
          <p:cNvPr id="4" name="Slide Image Placeholder 3"/>
          <p:cNvSpPr>
            <a:spLocks noGrp="1" noRot="1" noChangeAspect="1"/>
          </p:cNvSpPr>
          <p:nvPr>
            <p:ph type="sldImg" idx="2"/>
          </p:nvPr>
        </p:nvSpPr>
        <p:spPr>
          <a:xfrm>
            <a:off x="-1001713" y="744538"/>
            <a:ext cx="8801101" cy="3722687"/>
          </a:xfrm>
          <a:prstGeom prst="rect">
            <a:avLst/>
          </a:prstGeom>
          <a:noFill/>
          <a:ln w="12700">
            <a:solidFill>
              <a:prstClr val="black"/>
            </a:solidFill>
          </a:ln>
        </p:spPr>
        <p:txBody>
          <a:bodyPr vert="horz" rtlCol="0" anchor="ctr"/>
          <a:lstStyle/>
          <a:p>
            <a:pPr lvl="0"/>
            <a:endParaRPr lang="en-US" noProof="0" dirty="0"/>
          </a:p>
        </p:txBody>
      </p:sp>
      <p:sp>
        <p:nvSpPr>
          <p:cNvPr id="5" name="Notes Placeholder 4"/>
          <p:cNvSpPr>
            <a:spLocks noGrp="1"/>
          </p:cNvSpPr>
          <p:nvPr>
            <p:ph type="body" sz="quarter" idx="3"/>
          </p:nvPr>
        </p:nvSpPr>
        <p:spPr>
          <a:xfrm>
            <a:off x="679606" y="4714876"/>
            <a:ext cx="5438464" cy="4467225"/>
          </a:xfrm>
          <a:prstGeom prst="rect">
            <a:avLst/>
          </a:prstGeom>
        </p:spPr>
        <p:txBody>
          <a:bodyPr vert="horz"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164"/>
            <a:ext cx="2944958" cy="496887"/>
          </a:xfrm>
          <a:prstGeom prst="rect">
            <a:avLst/>
          </a:prstGeom>
        </p:spPr>
        <p:txBody>
          <a:bodyPr vert="horz" rtlCol="0" anchor="b"/>
          <a:lstStyle>
            <a:lvl1pPr algn="l" fontAlgn="auto">
              <a:spcBef>
                <a:spcPts val="0"/>
              </a:spcBef>
              <a:spcAft>
                <a:spcPts val="0"/>
              </a:spcAft>
              <a:defRPr sz="12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51098" y="9428164"/>
            <a:ext cx="2944958" cy="496887"/>
          </a:xfrm>
          <a:prstGeom prst="rect">
            <a:avLst/>
          </a:prstGeom>
        </p:spPr>
        <p:txBody>
          <a:bodyPr vert="horz" rtlCol="0" anchor="b"/>
          <a:lstStyle>
            <a:lvl1pPr algn="r" fontAlgn="auto">
              <a:spcBef>
                <a:spcPts val="0"/>
              </a:spcBef>
              <a:spcAft>
                <a:spcPts val="0"/>
              </a:spcAft>
              <a:defRPr sz="1200">
                <a:latin typeface="+mn-lt"/>
                <a:cs typeface="+mn-cs"/>
              </a:defRPr>
            </a:lvl1pPr>
            <a:extLst/>
          </a:lstStyle>
          <a:p>
            <a:pPr>
              <a:defRPr/>
            </a:pPr>
            <a:fld id="{6027E6F2-E782-4F5A-9617-0846F6A4C9AC}" type="slidenum">
              <a:rPr lang="en-US"/>
              <a:pPr>
                <a:defRPr/>
              </a:pPr>
              <a:t>‹#›</a:t>
            </a:fld>
            <a:endParaRPr lang="en-US" dirty="0"/>
          </a:p>
        </p:txBody>
      </p:sp>
    </p:spTree>
    <p:extLst>
      <p:ext uri="{BB962C8B-B14F-4D97-AF65-F5344CB8AC3E}">
        <p14:creationId xmlns:p14="http://schemas.microsoft.com/office/powerpoint/2010/main" val="2679624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5613" algn="l" rtl="0" eaLnBrk="0" fontAlgn="base" hangingPunct="0">
      <a:spcBef>
        <a:spcPct val="30000"/>
      </a:spcBef>
      <a:spcAft>
        <a:spcPct val="0"/>
      </a:spcAft>
      <a:defRPr sz="1200" kern="1200">
        <a:solidFill>
          <a:schemeClr val="tx1"/>
        </a:solidFill>
        <a:latin typeface="+mn-lt"/>
        <a:ea typeface="+mn-ea"/>
        <a:cs typeface="+mn-cs"/>
      </a:defRPr>
    </a:lvl2pPr>
    <a:lvl3pPr marL="912813" algn="l" rtl="0" eaLnBrk="0" fontAlgn="base" hangingPunct="0">
      <a:spcBef>
        <a:spcPct val="30000"/>
      </a:spcBef>
      <a:spcAft>
        <a:spcPct val="0"/>
      </a:spcAft>
      <a:defRPr sz="1200" kern="1200">
        <a:solidFill>
          <a:schemeClr val="tx1"/>
        </a:solidFill>
        <a:latin typeface="+mn-lt"/>
        <a:ea typeface="+mn-ea"/>
        <a:cs typeface="+mn-cs"/>
      </a:defRPr>
    </a:lvl3pPr>
    <a:lvl4pPr marL="1370013" algn="l" rtl="0" eaLnBrk="0" fontAlgn="base" hangingPunct="0">
      <a:spcBef>
        <a:spcPct val="30000"/>
      </a:spcBef>
      <a:spcAft>
        <a:spcPct val="0"/>
      </a:spcAft>
      <a:defRPr sz="1200" kern="1200">
        <a:solidFill>
          <a:schemeClr val="tx1"/>
        </a:solidFill>
        <a:latin typeface="+mn-lt"/>
        <a:ea typeface="+mn-ea"/>
        <a:cs typeface="+mn-cs"/>
      </a:defRPr>
    </a:lvl4pPr>
    <a:lvl5pPr marL="1825625" algn="l" rtl="0" eaLnBrk="0" fontAlgn="base" hangingPunct="0">
      <a:spcBef>
        <a:spcPct val="30000"/>
      </a:spcBef>
      <a:spcAft>
        <a:spcPct val="0"/>
      </a:spcAft>
      <a:defRPr sz="1200" kern="1200">
        <a:solidFill>
          <a:schemeClr val="tx1"/>
        </a:solidFill>
        <a:latin typeface="+mn-lt"/>
        <a:ea typeface="+mn-ea"/>
        <a:cs typeface="+mn-cs"/>
      </a:defRPr>
    </a:lvl5pPr>
    <a:lvl6pPr marL="2283965" algn="l" rtl="0">
      <a:defRPr sz="1200" kern="1200">
        <a:solidFill>
          <a:schemeClr val="tx1"/>
        </a:solidFill>
        <a:latin typeface="+mn-lt"/>
        <a:ea typeface="+mn-ea"/>
        <a:cs typeface="+mn-cs"/>
      </a:defRPr>
    </a:lvl6pPr>
    <a:lvl7pPr marL="2740757" algn="l" rtl="0">
      <a:defRPr sz="1200" kern="1200">
        <a:solidFill>
          <a:schemeClr val="tx1"/>
        </a:solidFill>
        <a:latin typeface="+mn-lt"/>
        <a:ea typeface="+mn-ea"/>
        <a:cs typeface="+mn-cs"/>
      </a:defRPr>
    </a:lvl7pPr>
    <a:lvl8pPr marL="3197552" algn="l" rtl="0">
      <a:defRPr sz="1200" kern="1200">
        <a:solidFill>
          <a:schemeClr val="tx1"/>
        </a:solidFill>
        <a:latin typeface="+mn-lt"/>
        <a:ea typeface="+mn-ea"/>
        <a:cs typeface="+mn-cs"/>
      </a:defRPr>
    </a:lvl8pPr>
    <a:lvl9pPr marL="3654343"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44E4F-AB0D-05F3-E988-2C2B20D73EC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43A51E9-2C26-4980-7EE9-822B9F467054}"/>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ED1D9E4B-5D32-3F49-1141-E9094C42695D}"/>
              </a:ext>
            </a:extLst>
          </p:cNvPr>
          <p:cNvSpPr>
            <a:spLocks noGrp="1"/>
          </p:cNvSpPr>
          <p:nvPr>
            <p:ph type="body" idx="1"/>
          </p:nvPr>
        </p:nvSpPr>
        <p:spPr/>
        <p:txBody>
          <a:bodyPr/>
          <a:lstStyle/>
          <a:p>
            <a:endParaRPr lang="en-US"/>
          </a:p>
        </p:txBody>
      </p:sp>
      <p:sp>
        <p:nvSpPr>
          <p:cNvPr id="4" name="Rectangle 4">
            <a:extLst>
              <a:ext uri="{FF2B5EF4-FFF2-40B4-BE49-F238E27FC236}">
                <a16:creationId xmlns:a16="http://schemas.microsoft.com/office/drawing/2014/main" id="{9AA60392-C89A-9875-5677-500641577CA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A019F3-8596-4028-9847-CBD3A185B0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10327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3028-2A5A-7BDA-FC87-14070470C75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D58EB9D-D0F4-F792-D3C3-D8C4C2D9EA41}"/>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6BBCD22B-E2E0-8E99-4C2A-F7A5D06C6E4F}"/>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0FB5A8B2-4817-8B44-3001-960469ACE83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A019F3-8596-4028-9847-CBD3A185B0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3647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4DFC-A942-4C4A-FE90-CFFA73056DA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C8F8347-3D88-804C-1FCB-6D388597589B}"/>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A2AED0D0-13C8-A017-3268-67D62FD084D6}"/>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C79118DB-6458-78B9-33A0-8F4936EA9262}"/>
              </a:ext>
            </a:extLst>
          </p:cNvPr>
          <p:cNvSpPr>
            <a:spLocks noGrp="1"/>
          </p:cNvSpPr>
          <p:nvPr>
            <p:ph type="sldNum" sz="quarter" idx="10"/>
          </p:nvPr>
        </p:nvSpPr>
        <p:spPr/>
        <p:txBody>
          <a:bodyPr/>
          <a:lstStyle/>
          <a:p>
            <a:fld id="{B3A019F3-8596-4028-9847-CBD3A185B07A}"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2180106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pPr algn="l" fontAlgn="base"/>
            <a:r>
              <a:rPr lang="en-US" b="0" i="0" dirty="0">
                <a:solidFill>
                  <a:srgbClr val="000000"/>
                </a:solidFill>
                <a:effectLst/>
                <a:latin typeface="Roboto" panose="02000000000000000000" pitchFamily="2" charset="0"/>
              </a:rPr>
              <a:t>Gather engineering requirements involves three major sub-processes. </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Defining a proper work breakdown structure is the first step in identifying the project requirements. A BOM captures all the material requirements for constructing a plant.</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Requisitions include specific details of the engineering requirements, like how much, and when.</a:t>
            </a:r>
            <a:r>
              <a:rPr lang="en-US" b="0" i="0" dirty="0">
                <a:solidFill>
                  <a:srgbClr val="2B2E38"/>
                </a:solidFill>
                <a:effectLst/>
                <a:latin typeface="Roboto" panose="02000000000000000000" pitchFamily="2" charset="0"/>
              </a:rPr>
              <a:t> </a:t>
            </a:r>
            <a:endParaRPr lang="en-US" b="0" i="0" dirty="0">
              <a:solidFill>
                <a:srgbClr val="414141"/>
              </a:solidFill>
              <a:effectLst/>
              <a:latin typeface="Roboto" panose="02000000000000000000" pitchFamily="2" charset="0"/>
            </a:endParaRPr>
          </a:p>
          <a:p>
            <a:pPr marL="171450" indent="-171450">
              <a:buFont typeface="Arial" panose="020B0604020202020204" pitchFamily="34" charset="0"/>
              <a:buChar char="•"/>
            </a:pPr>
            <a:r>
              <a:rPr lang="en-US" b="0" i="0" dirty="0">
                <a:solidFill>
                  <a:srgbClr val="2B2E38"/>
                </a:solidFill>
                <a:effectLst/>
                <a:latin typeface="Roboto" panose="02000000000000000000" pitchFamily="2" charset="0"/>
              </a:rPr>
              <a:t>Planning the fulfillment of the requisitions and tracking their progress continuously is critical to avoid surprises at a later stage, where it can cost heavily.</a:t>
            </a:r>
            <a:endParaRPr lang="en-US" dirty="0"/>
          </a:p>
          <a:p>
            <a:endParaRPr lang="en-US" dirty="0"/>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569271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BB4CD-B47A-9F87-3ECA-09A96638C17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F36542E-5577-9816-2125-59E3B12ED179}"/>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9A2E193B-3167-5147-7F81-0CA3F9F6C0D9}"/>
              </a:ext>
            </a:extLst>
          </p:cNvPr>
          <p:cNvSpPr>
            <a:spLocks noGrp="1"/>
          </p:cNvSpPr>
          <p:nvPr>
            <p:ph type="body" idx="1"/>
          </p:nvPr>
        </p:nvSpPr>
        <p:spPr/>
        <p:txBody>
          <a:bodyPr/>
          <a:lstStyle/>
          <a:p>
            <a:pPr algn="l" fontAlgn="base"/>
            <a:r>
              <a:rPr lang="en-US" b="0" i="0" dirty="0">
                <a:solidFill>
                  <a:srgbClr val="000000"/>
                </a:solidFill>
                <a:effectLst/>
                <a:latin typeface="Robototest"/>
              </a:rPr>
              <a:t>The entire material management process is about meeting the engineering requirements at the correct time. So, generating accurate engineering requirements in an efficient manner is the first step for effective material management.</a:t>
            </a:r>
          </a:p>
          <a:p>
            <a:pPr algn="l" fontAlgn="base"/>
            <a:r>
              <a:rPr lang="en-US" b="0" i="0" dirty="0">
                <a:solidFill>
                  <a:srgbClr val="000000"/>
                </a:solidFill>
                <a:effectLst/>
                <a:latin typeface="Robototest"/>
              </a:rPr>
              <a:t>The goal at this stage is to define and quantify the engineering requirements. These requirements might be new or might result from certain change management in the existing system.</a:t>
            </a:r>
          </a:p>
          <a:p>
            <a:pPr algn="l" fontAlgn="base"/>
            <a:endParaRPr lang="en-US" b="0" i="0" dirty="0">
              <a:solidFill>
                <a:srgbClr val="000000"/>
              </a:solidFill>
              <a:effectLst/>
              <a:latin typeface="Roboto" panose="02000000000000000000" pitchFamily="2" charset="0"/>
            </a:endParaRPr>
          </a:p>
          <a:p>
            <a:pPr algn="l" fontAlgn="base"/>
            <a:r>
              <a:rPr lang="en-US" b="0" i="0" dirty="0">
                <a:solidFill>
                  <a:srgbClr val="000000"/>
                </a:solidFill>
                <a:effectLst/>
                <a:latin typeface="Roboto" panose="02000000000000000000" pitchFamily="2" charset="0"/>
              </a:rPr>
              <a:t>Gather engineering requirements involves three major sub-processes. </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Defining a proper work breakdown structure is the first step in identifying the project requirements. A BOM captures all the material requirements for constructing a plant.</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Requisitions include specific details of the engineering requirements, like how much, and when.</a:t>
            </a:r>
            <a:r>
              <a:rPr lang="en-US" b="0" i="0" dirty="0">
                <a:solidFill>
                  <a:srgbClr val="2B2E38"/>
                </a:solidFill>
                <a:effectLst/>
                <a:latin typeface="Roboto" panose="02000000000000000000" pitchFamily="2" charset="0"/>
              </a:rPr>
              <a:t> </a:t>
            </a:r>
            <a:endParaRPr lang="en-US" b="0" i="0" dirty="0">
              <a:solidFill>
                <a:srgbClr val="414141"/>
              </a:solidFill>
              <a:effectLst/>
              <a:latin typeface="Roboto" panose="02000000000000000000" pitchFamily="2" charset="0"/>
            </a:endParaRPr>
          </a:p>
          <a:p>
            <a:pPr marL="171450" indent="-171450">
              <a:buFont typeface="Arial" panose="020B0604020202020204" pitchFamily="34" charset="0"/>
              <a:buChar char="•"/>
            </a:pPr>
            <a:r>
              <a:rPr lang="en-US" b="0" i="0" dirty="0">
                <a:solidFill>
                  <a:srgbClr val="2B2E38"/>
                </a:solidFill>
                <a:effectLst/>
                <a:latin typeface="Roboto" panose="02000000000000000000" pitchFamily="2" charset="0"/>
              </a:rPr>
              <a:t>Planning the fulfillment of the requisitions and tracking their progress continuously is critical to avoid surprises at a later stage, where it can cost heavily.</a:t>
            </a:r>
            <a:endParaRPr lang="en-US" dirty="0"/>
          </a:p>
          <a:p>
            <a:endParaRPr lang="en-US" dirty="0"/>
          </a:p>
        </p:txBody>
      </p:sp>
      <p:sp>
        <p:nvSpPr>
          <p:cNvPr id="4" name="Rectangle 4">
            <a:extLst>
              <a:ext uri="{FF2B5EF4-FFF2-40B4-BE49-F238E27FC236}">
                <a16:creationId xmlns:a16="http://schemas.microsoft.com/office/drawing/2014/main" id="{1676FB06-3B7A-FC01-CD73-478B9CE39F9D}"/>
              </a:ext>
            </a:extLst>
          </p:cNvPr>
          <p:cNvSpPr>
            <a:spLocks noGrp="1"/>
          </p:cNvSpPr>
          <p:nvPr>
            <p:ph type="sldNum" sz="quarter" idx="10"/>
          </p:nvPr>
        </p:nvSpPr>
        <p:spPr/>
        <p:txBody>
          <a:bodyPr/>
          <a:lstStyle/>
          <a:p>
            <a:fld id="{B3A019F3-8596-4028-9847-CBD3A185B07A}"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246293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933B4-9D05-E76A-BECE-4259C6B8503B}"/>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6965CF4-0DB3-7CC3-1639-26A608348C4D}"/>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6C18C786-5DE8-69AA-0051-8056D3A4D8B0}"/>
              </a:ext>
            </a:extLst>
          </p:cNvPr>
          <p:cNvSpPr>
            <a:spLocks noGrp="1"/>
          </p:cNvSpPr>
          <p:nvPr>
            <p:ph type="body" idx="1"/>
          </p:nvPr>
        </p:nvSpPr>
        <p:spPr/>
        <p:txBody>
          <a:bodyPr/>
          <a:lstStyle/>
          <a:p>
            <a:pPr algn="l" fontAlgn="base"/>
            <a:r>
              <a:rPr lang="en-US" b="0" i="0" dirty="0">
                <a:solidFill>
                  <a:srgbClr val="000000"/>
                </a:solidFill>
                <a:effectLst/>
                <a:latin typeface="Roboto" panose="02000000000000000000" pitchFamily="2" charset="0"/>
              </a:rPr>
              <a:t>Gather engineering requirements involves three major sub-processes. </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Defining a proper work breakdown structure is the first step in identifying the project requirements. A BOM captures all the material requirements for constructing a plant.</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Requisitions include specific details of the engineering requirements, like how much, and when.</a:t>
            </a:r>
            <a:r>
              <a:rPr lang="en-US" b="0" i="0" dirty="0">
                <a:solidFill>
                  <a:srgbClr val="2B2E38"/>
                </a:solidFill>
                <a:effectLst/>
                <a:latin typeface="Roboto" panose="02000000000000000000" pitchFamily="2" charset="0"/>
              </a:rPr>
              <a:t> </a:t>
            </a:r>
            <a:endParaRPr lang="en-US" b="0" i="0" dirty="0">
              <a:solidFill>
                <a:srgbClr val="414141"/>
              </a:solidFill>
              <a:effectLst/>
              <a:latin typeface="Roboto" panose="02000000000000000000" pitchFamily="2" charset="0"/>
            </a:endParaRPr>
          </a:p>
          <a:p>
            <a:pPr marL="171450" indent="-171450">
              <a:buFont typeface="Arial" panose="020B0604020202020204" pitchFamily="34" charset="0"/>
              <a:buChar char="•"/>
            </a:pPr>
            <a:r>
              <a:rPr lang="en-US" b="0" i="0" dirty="0">
                <a:solidFill>
                  <a:srgbClr val="2B2E38"/>
                </a:solidFill>
                <a:effectLst/>
                <a:latin typeface="Roboto" panose="02000000000000000000" pitchFamily="2" charset="0"/>
              </a:rPr>
              <a:t>Planning the fulfillment of the requisitions and tracking their progress continuously is critical to avoid surprises at a later stage, where it can cost heavily.</a:t>
            </a:r>
            <a:endParaRPr lang="en-US" dirty="0"/>
          </a:p>
          <a:p>
            <a:endParaRPr lang="en-US" dirty="0"/>
          </a:p>
        </p:txBody>
      </p:sp>
      <p:sp>
        <p:nvSpPr>
          <p:cNvPr id="4" name="Rectangle 4">
            <a:extLst>
              <a:ext uri="{FF2B5EF4-FFF2-40B4-BE49-F238E27FC236}">
                <a16:creationId xmlns:a16="http://schemas.microsoft.com/office/drawing/2014/main" id="{32961449-0D8F-955B-A77A-5BF86EA64BA8}"/>
              </a:ext>
            </a:extLst>
          </p:cNvPr>
          <p:cNvSpPr>
            <a:spLocks noGrp="1"/>
          </p:cNvSpPr>
          <p:nvPr>
            <p:ph type="sldNum" sz="quarter" idx="10"/>
          </p:nvPr>
        </p:nvSpPr>
        <p:spPr/>
        <p:txBody>
          <a:bodyPr/>
          <a:lstStyle/>
          <a:p>
            <a:fld id="{B3A019F3-8596-4028-9847-CBD3A185B07A}"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2088029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8308B-28BC-6E23-4D75-E1AD4168EC6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D49ED67-8512-AD30-79DC-CB094BE393D0}"/>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64474D4F-B18A-E4B1-E275-624BEB838B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cap="none" normalizeH="0" baseline="0" dirty="0">
                <a:ln>
                  <a:noFill/>
                </a:ln>
                <a:solidFill>
                  <a:srgbClr val="000000"/>
                </a:solidFill>
                <a:effectLst/>
                <a:latin typeface="Roboto" panose="02000000000000000000" pitchFamily="2" charset="0"/>
              </a:rPr>
              <a:t>consists of three major sub-processes.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B2E38"/>
                </a:solidFill>
                <a:effectLst/>
                <a:latin typeface="Roboto" panose="02000000000000000000" pitchFamily="2" charset="0"/>
              </a:rPr>
              <a:t>Maintaining a database of suppliers is an integral part of effective material management. However, maintaining such a database requires frequent update of critical information as well as registering new suppliers and updating existing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B2E38"/>
                </a:solidFill>
                <a:effectLst/>
                <a:latin typeface="Roboto" panose="02000000000000000000" pitchFamily="2" charset="0"/>
              </a:rPr>
              <a:t>Creating an inquiry with required information is often the first step towards fulfilling the material requirement. It ensures that only qualified suppliers participate in the bidding process and often saves time during finalizing the agreement.</a:t>
            </a:r>
            <a:endParaRPr kumimoji="0" lang="en-US" altLang="en-US" sz="1200" b="0" i="0" u="none" strike="noStrike" cap="none" normalizeH="0" baseline="0" dirty="0">
              <a:ln>
                <a:noFill/>
              </a:ln>
              <a:solidFill>
                <a:srgbClr val="2B2E38"/>
              </a:solidFill>
              <a:effectLst/>
              <a:latin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B2E38"/>
                </a:solidFill>
                <a:effectLst/>
                <a:latin typeface="Roboto" panose="02000000000000000000" pitchFamily="2" charset="0"/>
              </a:rPr>
              <a:t>Proper agreement with the appropriate clauses provides the foundation for effective engagement between both the parties. They also become the basis for subsequent planning and monitoring activities.</a:t>
            </a:r>
            <a:endParaRPr kumimoji="0" lang="en-US" altLang="en-US" sz="1200" b="0" i="0" u="none" strike="noStrike" cap="none" normalizeH="0" baseline="0" dirty="0">
              <a:ln>
                <a:noFill/>
              </a:ln>
              <a:solidFill>
                <a:srgbClr val="000000"/>
              </a:solidFill>
              <a:effectLst/>
              <a:latin typeface="Roboto" panose="02000000000000000000" pitchFamily="2" charset="0"/>
            </a:endParaRPr>
          </a:p>
        </p:txBody>
      </p:sp>
      <p:sp>
        <p:nvSpPr>
          <p:cNvPr id="4" name="Rectangle 4">
            <a:extLst>
              <a:ext uri="{FF2B5EF4-FFF2-40B4-BE49-F238E27FC236}">
                <a16:creationId xmlns:a16="http://schemas.microsoft.com/office/drawing/2014/main" id="{FB81F46C-F9E8-BE42-E484-F5AD522988C2}"/>
              </a:ext>
            </a:extLst>
          </p:cNvPr>
          <p:cNvSpPr>
            <a:spLocks noGrp="1"/>
          </p:cNvSpPr>
          <p:nvPr>
            <p:ph type="sldNum" sz="quarter" idx="10"/>
          </p:nvPr>
        </p:nvSpPr>
        <p:spPr/>
        <p:txBody>
          <a:bodyPr/>
          <a:lstStyle/>
          <a:p>
            <a:fld id="{B3A019F3-8596-4028-9847-CBD3A185B07A}"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2439505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67986-C391-ED6C-4C46-6473C5C5CD5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FE932BF-77B8-6A9C-BB31-B5894A4B1B5C}"/>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1DAF3D93-747A-EDE5-CD56-BA9BFA35CC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200" b="0" i="0" u="none" strike="noStrike" cap="none" normalizeH="0" baseline="0" dirty="0">
              <a:ln>
                <a:noFill/>
              </a:ln>
              <a:solidFill>
                <a:srgbClr val="000000"/>
              </a:solidFill>
              <a:effectLst/>
              <a:latin typeface="Roboto" panose="02000000000000000000" pitchFamily="2" charset="0"/>
            </a:endParaRPr>
          </a:p>
        </p:txBody>
      </p:sp>
      <p:sp>
        <p:nvSpPr>
          <p:cNvPr id="4" name="Rectangle 4">
            <a:extLst>
              <a:ext uri="{FF2B5EF4-FFF2-40B4-BE49-F238E27FC236}">
                <a16:creationId xmlns:a16="http://schemas.microsoft.com/office/drawing/2014/main" id="{540C6F38-7151-D823-880D-D0701F764A32}"/>
              </a:ext>
            </a:extLst>
          </p:cNvPr>
          <p:cNvSpPr>
            <a:spLocks noGrp="1"/>
          </p:cNvSpPr>
          <p:nvPr>
            <p:ph type="sldNum" sz="quarter" idx="10"/>
          </p:nvPr>
        </p:nvSpPr>
        <p:spPr/>
        <p:txBody>
          <a:bodyPr/>
          <a:lstStyle/>
          <a:p>
            <a:fld id="{B3A019F3-8596-4028-9847-CBD3A185B07A}" type="slidenum">
              <a:rPr 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1181676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B4D4-E91B-4F54-8D21-C960719E608A}"/>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56F3BE5-087F-9946-FFA4-FF4E3B1D7885}"/>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4C244118-A725-0B29-C55C-3A932CB9231E}"/>
              </a:ext>
            </a:extLst>
          </p:cNvPr>
          <p:cNvSpPr>
            <a:spLocks noGrp="1"/>
          </p:cNvSpPr>
          <p:nvPr>
            <p:ph type="body" idx="1"/>
          </p:nvPr>
        </p:nvSpPr>
        <p:spPr/>
        <p:txBody>
          <a:bodyPr/>
          <a:lstStyle/>
          <a:p>
            <a:r>
              <a:rPr lang="en-US" sz="1800" b="0" i="0" dirty="0">
                <a:solidFill>
                  <a:srgbClr val="000000"/>
                </a:solidFill>
                <a:effectLst/>
                <a:latin typeface="Roboto" panose="02000000000000000000" pitchFamily="2" charset="0"/>
              </a:rPr>
              <a:t>consists of three major sub-processes.</a:t>
            </a:r>
            <a:endParaRPr lang="en-US" sz="1800" b="0" i="0" dirty="0">
              <a:solidFill>
                <a:srgbClr val="414141"/>
              </a:solidFill>
              <a:effectLst/>
              <a:latin typeface="Roboto" panose="02000000000000000000" pitchFamily="2" charset="0"/>
            </a:endParaRP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An expediting strategy helps in early </a:t>
            </a:r>
            <a:r>
              <a:rPr lang="en-US" b="1" i="0" dirty="0">
                <a:solidFill>
                  <a:srgbClr val="414141"/>
                </a:solidFill>
                <a:effectLst/>
                <a:latin typeface="Roboto" panose="02000000000000000000" pitchFamily="2" charset="0"/>
              </a:rPr>
              <a:t>risk</a:t>
            </a:r>
            <a:r>
              <a:rPr lang="en-US" b="0" i="0" dirty="0">
                <a:solidFill>
                  <a:srgbClr val="414141"/>
                </a:solidFill>
                <a:effectLst/>
                <a:latin typeface="Roboto" panose="02000000000000000000" pitchFamily="2" charset="0"/>
              </a:rPr>
              <a:t> </a:t>
            </a:r>
            <a:r>
              <a:rPr lang="en-US" b="1" i="0" dirty="0">
                <a:solidFill>
                  <a:srgbClr val="414141"/>
                </a:solidFill>
                <a:effectLst/>
                <a:latin typeface="Roboto" panose="02000000000000000000" pitchFamily="2" charset="0"/>
              </a:rPr>
              <a:t>identification</a:t>
            </a:r>
            <a:r>
              <a:rPr lang="en-US" b="0" i="0" dirty="0">
                <a:solidFill>
                  <a:srgbClr val="414141"/>
                </a:solidFill>
                <a:effectLst/>
                <a:latin typeface="Roboto" panose="02000000000000000000" pitchFamily="2" charset="0"/>
              </a:rPr>
              <a:t> and </a:t>
            </a:r>
            <a:r>
              <a:rPr lang="en-US" b="1" i="0" dirty="0">
                <a:solidFill>
                  <a:srgbClr val="414141"/>
                </a:solidFill>
                <a:effectLst/>
                <a:latin typeface="Roboto" panose="02000000000000000000" pitchFamily="2" charset="0"/>
              </a:rPr>
              <a:t>risk</a:t>
            </a:r>
            <a:r>
              <a:rPr lang="en-US" b="0" i="0" dirty="0">
                <a:solidFill>
                  <a:srgbClr val="414141"/>
                </a:solidFill>
                <a:effectLst/>
                <a:latin typeface="Roboto" panose="02000000000000000000" pitchFamily="2" charset="0"/>
              </a:rPr>
              <a:t> </a:t>
            </a:r>
            <a:r>
              <a:rPr lang="en-US" b="1" i="0" dirty="0">
                <a:solidFill>
                  <a:srgbClr val="414141"/>
                </a:solidFill>
                <a:effectLst/>
                <a:latin typeface="Roboto" panose="02000000000000000000" pitchFamily="2" charset="0"/>
              </a:rPr>
              <a:t>mitigation</a:t>
            </a:r>
            <a:r>
              <a:rPr lang="en-US" b="0" i="0" dirty="0">
                <a:solidFill>
                  <a:srgbClr val="414141"/>
                </a:solidFill>
                <a:effectLst/>
                <a:latin typeface="Roboto" panose="02000000000000000000" pitchFamily="2" charset="0"/>
              </a:rPr>
              <a:t>. It also helps in managing and mitigating the risks in a timely manner.</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Inspection of materials to check if they </a:t>
            </a:r>
            <a:r>
              <a:rPr lang="en-US" b="1" i="0" dirty="0">
                <a:solidFill>
                  <a:srgbClr val="FF0000"/>
                </a:solidFill>
                <a:effectLst/>
                <a:highlight>
                  <a:srgbClr val="FFFF00"/>
                </a:highlight>
                <a:latin typeface="Roboto" panose="02000000000000000000" pitchFamily="2" charset="0"/>
              </a:rPr>
              <a:t>meet</a:t>
            </a:r>
            <a:r>
              <a:rPr lang="en-US" b="0" i="0" dirty="0">
                <a:solidFill>
                  <a:srgbClr val="414141"/>
                </a:solidFill>
                <a:effectLst/>
                <a:latin typeface="Roboto" panose="02000000000000000000" pitchFamily="2" charset="0"/>
              </a:rPr>
              <a:t> the </a:t>
            </a:r>
            <a:r>
              <a:rPr lang="en-US" b="1" i="0" dirty="0">
                <a:solidFill>
                  <a:srgbClr val="414141"/>
                </a:solidFill>
                <a:effectLst/>
                <a:latin typeface="Roboto" panose="02000000000000000000" pitchFamily="2" charset="0"/>
              </a:rPr>
              <a:t>requirements</a:t>
            </a:r>
            <a:r>
              <a:rPr lang="en-US" b="0" i="0" dirty="0">
                <a:solidFill>
                  <a:srgbClr val="414141"/>
                </a:solidFill>
                <a:effectLst/>
                <a:latin typeface="Roboto" panose="02000000000000000000" pitchFamily="2" charset="0"/>
              </a:rPr>
              <a:t>, is one of the most important task in the monitoring and controlling phase. Early inspection prevents later surprises and ensures proper adherence to the project plan</a:t>
            </a:r>
          </a:p>
          <a:p>
            <a:pPr marL="171450" indent="-171450">
              <a:buFont typeface="Arial" panose="020B0604020202020204" pitchFamily="34" charset="0"/>
              <a:buChar char="•"/>
            </a:pPr>
            <a:r>
              <a:rPr lang="en-US" b="0" i="0" dirty="0">
                <a:solidFill>
                  <a:srgbClr val="414141"/>
                </a:solidFill>
                <a:effectLst/>
                <a:latin typeface="Roboto" panose="02000000000000000000" pitchFamily="2" charset="0"/>
              </a:rPr>
              <a:t>Managing and tracking shipments are important for </a:t>
            </a:r>
            <a:r>
              <a:rPr lang="en-US" b="1" i="0" dirty="0">
                <a:solidFill>
                  <a:srgbClr val="414141"/>
                </a:solidFill>
                <a:effectLst/>
                <a:latin typeface="Roboto" panose="02000000000000000000" pitchFamily="2" charset="0"/>
              </a:rPr>
              <a:t>optimizing</a:t>
            </a:r>
            <a:r>
              <a:rPr lang="en-US" b="0" i="0" dirty="0">
                <a:solidFill>
                  <a:srgbClr val="414141"/>
                </a:solidFill>
                <a:effectLst/>
                <a:latin typeface="Roboto" panose="02000000000000000000" pitchFamily="2" charset="0"/>
              </a:rPr>
              <a:t> the </a:t>
            </a:r>
            <a:r>
              <a:rPr lang="en-US" b="1" i="0" dirty="0">
                <a:solidFill>
                  <a:srgbClr val="414141"/>
                </a:solidFill>
                <a:effectLst/>
                <a:latin typeface="Roboto" panose="02000000000000000000" pitchFamily="2" charset="0"/>
              </a:rPr>
              <a:t>transport</a:t>
            </a:r>
            <a:r>
              <a:rPr lang="en-US" b="0" i="0" dirty="0">
                <a:solidFill>
                  <a:srgbClr val="414141"/>
                </a:solidFill>
                <a:effectLst/>
                <a:latin typeface="Roboto" panose="02000000000000000000" pitchFamily="2" charset="0"/>
              </a:rPr>
              <a:t> </a:t>
            </a:r>
            <a:r>
              <a:rPr lang="en-US" b="1" i="0" dirty="0">
                <a:solidFill>
                  <a:srgbClr val="414141"/>
                </a:solidFill>
                <a:effectLst/>
                <a:latin typeface="Roboto" panose="02000000000000000000" pitchFamily="2" charset="0"/>
              </a:rPr>
              <a:t>cost</a:t>
            </a:r>
            <a:r>
              <a:rPr lang="en-US" b="0" i="0" dirty="0">
                <a:solidFill>
                  <a:srgbClr val="414141"/>
                </a:solidFill>
                <a:effectLst/>
                <a:latin typeface="Roboto" panose="02000000000000000000" pitchFamily="2" charset="0"/>
              </a:rPr>
              <a:t> and identifying any potential </a:t>
            </a:r>
            <a:r>
              <a:rPr lang="en-US" b="1" i="0" dirty="0">
                <a:solidFill>
                  <a:srgbClr val="414141"/>
                </a:solidFill>
                <a:effectLst/>
                <a:latin typeface="Roboto" panose="02000000000000000000" pitchFamily="2" charset="0"/>
              </a:rPr>
              <a:t>transport</a:t>
            </a:r>
            <a:r>
              <a:rPr lang="en-US" b="0" i="0" dirty="0">
                <a:solidFill>
                  <a:srgbClr val="414141"/>
                </a:solidFill>
                <a:effectLst/>
                <a:latin typeface="Roboto" panose="02000000000000000000" pitchFamily="2" charset="0"/>
              </a:rPr>
              <a:t> </a:t>
            </a:r>
            <a:r>
              <a:rPr lang="en-US" b="1" i="0" dirty="0">
                <a:solidFill>
                  <a:srgbClr val="414141"/>
                </a:solidFill>
                <a:effectLst/>
                <a:latin typeface="Roboto" panose="02000000000000000000" pitchFamily="2" charset="0"/>
              </a:rPr>
              <a:t>delay</a:t>
            </a:r>
            <a:r>
              <a:rPr lang="en-US" b="0" i="0" dirty="0">
                <a:solidFill>
                  <a:srgbClr val="414141"/>
                </a:solidFill>
                <a:effectLst/>
                <a:latin typeface="Roboto" panose="02000000000000000000" pitchFamily="2" charset="0"/>
              </a:rPr>
              <a:t>.</a:t>
            </a:r>
            <a:endParaRPr lang="en-US" dirty="0"/>
          </a:p>
        </p:txBody>
      </p:sp>
      <p:sp>
        <p:nvSpPr>
          <p:cNvPr id="4" name="Rectangle 4">
            <a:extLst>
              <a:ext uri="{FF2B5EF4-FFF2-40B4-BE49-F238E27FC236}">
                <a16:creationId xmlns:a16="http://schemas.microsoft.com/office/drawing/2014/main" id="{C0E2C865-15D6-64FC-F916-9AE77BB494BE}"/>
              </a:ext>
            </a:extLst>
          </p:cNvPr>
          <p:cNvSpPr>
            <a:spLocks noGrp="1"/>
          </p:cNvSpPr>
          <p:nvPr>
            <p:ph type="sldNum" sz="quarter" idx="10"/>
          </p:nvPr>
        </p:nvSpPr>
        <p:spPr/>
        <p:txBody>
          <a:bodyPr/>
          <a:lstStyle/>
          <a:p>
            <a:fld id="{B3A019F3-8596-4028-9847-CBD3A185B07A}"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3604846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CA57D-2375-763D-B4B6-DCA1A459A1AB}"/>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00E240D-8A3C-28FB-9C6A-D3D3942BC672}"/>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5EAF42B5-7FAE-9A3E-D07F-02FC49305B91}"/>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6C1ABB72-0484-EBEB-1679-9CE0DABDEC44}"/>
              </a:ext>
            </a:extLst>
          </p:cNvPr>
          <p:cNvSpPr>
            <a:spLocks noGrp="1"/>
          </p:cNvSpPr>
          <p:nvPr>
            <p:ph type="sldNum" sz="quarter" idx="10"/>
          </p:nvPr>
        </p:nvSpPr>
        <p:spPr/>
        <p:txBody>
          <a:bodyPr/>
          <a:lstStyle/>
          <a:p>
            <a:fld id="{B3A019F3-8596-4028-9847-CBD3A185B07A}"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852843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68D15-E970-BC2F-61B4-624517F9683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3EAF93B-CFB2-FF09-B718-8626FF15DA77}"/>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D5B1D1D2-200D-9FEA-EDE5-767265D4CA7C}"/>
              </a:ext>
            </a:extLst>
          </p:cNvPr>
          <p:cNvSpPr>
            <a:spLocks noGrp="1"/>
          </p:cNvSpPr>
          <p:nvPr>
            <p:ph type="body" idx="1"/>
          </p:nvPr>
        </p:nvSpPr>
        <p:spPr/>
        <p:txBody>
          <a:bodyPr/>
          <a:lstStyle/>
          <a:p>
            <a:r>
              <a:rPr lang="en-US" sz="1800" b="0" i="0" dirty="0">
                <a:solidFill>
                  <a:srgbClr val="000000"/>
                </a:solidFill>
                <a:effectLst/>
                <a:latin typeface="Roboto" panose="02000000000000000000" pitchFamily="2" charset="0"/>
              </a:rPr>
              <a:t>consists of three major sub-processes.</a:t>
            </a:r>
            <a:endParaRPr lang="en-US" sz="1800" b="0" i="0" dirty="0">
              <a:solidFill>
                <a:srgbClr val="414141"/>
              </a:solidFill>
              <a:effectLst/>
              <a:latin typeface="Roboto" panose="02000000000000000000" pitchFamily="2" charset="0"/>
            </a:endParaRPr>
          </a:p>
          <a:p>
            <a:pPr marL="171450" indent="-171450">
              <a:buFont typeface="Arial" panose="020B0604020202020204" pitchFamily="34" charset="0"/>
              <a:buChar char="•"/>
            </a:pPr>
            <a:r>
              <a:rPr lang="en-US" b="0" i="0" dirty="0">
                <a:solidFill>
                  <a:srgbClr val="2B2E38"/>
                </a:solidFill>
                <a:effectLst/>
                <a:latin typeface="Roboto" panose="02000000000000000000" pitchFamily="2" charset="0"/>
              </a:rPr>
              <a:t>reserving the material in advance creating proper forecasting plane.</a:t>
            </a:r>
          </a:p>
          <a:p>
            <a:pPr marL="171450" indent="-171450">
              <a:buFont typeface="Arial" panose="020B0604020202020204" pitchFamily="34" charset="0"/>
              <a:buChar char="•"/>
            </a:pPr>
            <a:r>
              <a:rPr lang="en-US" b="0" i="0" dirty="0">
                <a:solidFill>
                  <a:srgbClr val="2B2E38"/>
                </a:solidFill>
                <a:effectLst/>
                <a:latin typeface="Roboto" panose="02000000000000000000" pitchFamily="2" charset="0"/>
              </a:rPr>
              <a:t>Managing materials at the site involves receiving, issuing, and tracking the materials.</a:t>
            </a:r>
            <a:endParaRPr lang="en-US" dirty="0"/>
          </a:p>
        </p:txBody>
      </p:sp>
      <p:sp>
        <p:nvSpPr>
          <p:cNvPr id="4" name="Rectangle 4">
            <a:extLst>
              <a:ext uri="{FF2B5EF4-FFF2-40B4-BE49-F238E27FC236}">
                <a16:creationId xmlns:a16="http://schemas.microsoft.com/office/drawing/2014/main" id="{B02F5046-F8C5-6BA9-3754-EEC643620906}"/>
              </a:ext>
            </a:extLst>
          </p:cNvPr>
          <p:cNvSpPr>
            <a:spLocks noGrp="1"/>
          </p:cNvSpPr>
          <p:nvPr>
            <p:ph type="sldNum" sz="quarter" idx="10"/>
          </p:nvPr>
        </p:nvSpPr>
        <p:spPr/>
        <p:txBody>
          <a:bodyPr/>
          <a:lstStyle/>
          <a:p>
            <a:fld id="{B3A019F3-8596-4028-9847-CBD3A185B07A}"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3367832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04C6-9B92-C23D-1358-776370E8B5D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66B381C0-2489-224E-1851-EEEB99B05149}"/>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05C9A8F7-F78D-C7F3-85FF-BD9871D7D11C}"/>
              </a:ext>
            </a:extLst>
          </p:cNvPr>
          <p:cNvSpPr>
            <a:spLocks noGrp="1"/>
          </p:cNvSpPr>
          <p:nvPr>
            <p:ph type="body" idx="1"/>
          </p:nvPr>
        </p:nvSpPr>
        <p:spPr/>
        <p:txBody>
          <a:bodyPr/>
          <a:lstStyle/>
          <a:p>
            <a:pPr marL="171450" indent="-171450">
              <a:buFont typeface="Arial" panose="020B0604020202020204" pitchFamily="34" charset="0"/>
              <a:buChar char="•"/>
            </a:pPr>
            <a:r>
              <a:rPr lang="en-US" dirty="0"/>
              <a:t>Create bill of materials using diagrams and drawings.</a:t>
            </a:r>
          </a:p>
          <a:p>
            <a:pPr marL="171450" indent="-171450">
              <a:buFont typeface="Arial" panose="020B0604020202020204" pitchFamily="34" charset="0"/>
              <a:buChar char="•"/>
            </a:pPr>
            <a:r>
              <a:rPr lang="en-US" dirty="0"/>
              <a:t>Divide bill of materials into multiple lists which consolidate and organize materials based on suppliers and time will be required at site.</a:t>
            </a:r>
          </a:p>
          <a:p>
            <a:pPr marL="171450" indent="-171450">
              <a:buFont typeface="Arial" panose="020B0604020202020204" pitchFamily="34" charset="0"/>
              <a:buChar char="•"/>
            </a:pPr>
            <a:r>
              <a:rPr lang="en-US" dirty="0"/>
              <a:t>Inquiry is created with the most suitable suppliers</a:t>
            </a:r>
          </a:p>
          <a:p>
            <a:pPr marL="171450" indent="-171450">
              <a:buFont typeface="Arial" panose="020B0604020202020204" pitchFamily="34" charset="0"/>
              <a:buChar char="•"/>
            </a:pPr>
            <a:r>
              <a:rPr lang="en-US" dirty="0"/>
              <a:t>Suppliers will review the inquiry then respond with quote</a:t>
            </a:r>
          </a:p>
          <a:p>
            <a:pPr marL="171450" indent="-171450">
              <a:buFont typeface="Arial" panose="020B0604020202020204" pitchFamily="34" charset="0"/>
              <a:buChar char="•"/>
            </a:pPr>
            <a:r>
              <a:rPr lang="en-US" dirty="0"/>
              <a:t>Review each offer considering the price, reputation and reliability of each supplier.</a:t>
            </a:r>
          </a:p>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17C3B832-431C-C078-AA0D-072D786FABBE}"/>
              </a:ext>
            </a:extLst>
          </p:cNvPr>
          <p:cNvSpPr>
            <a:spLocks noGrp="1"/>
          </p:cNvSpPr>
          <p:nvPr>
            <p:ph type="sldNum" sz="quarter" idx="10"/>
          </p:nvPr>
        </p:nvSpPr>
        <p:spPr/>
        <p:txBody>
          <a:bodyPr/>
          <a:lstStyle/>
          <a:p>
            <a:fld id="{B3A019F3-8596-4028-9847-CBD3A185B07A}"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251166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242E1-3C1B-1693-E279-91B461D4AB4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7136C7D-6443-E3A0-605E-F2D24EC408E6}"/>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D3D5E68D-5E86-C28F-19CB-8045B1DEDD72}"/>
              </a:ext>
            </a:extLst>
          </p:cNvPr>
          <p:cNvSpPr>
            <a:spLocks noGrp="1"/>
          </p:cNvSpPr>
          <p:nvPr>
            <p:ph type="body" idx="1"/>
          </p:nvPr>
        </p:nvSpPr>
        <p:spPr/>
        <p:txBody>
          <a:bodyPr/>
          <a:lstStyle/>
          <a:p>
            <a:pPr marL="171450" indent="-171450">
              <a:buFont typeface="Arial" panose="020B0604020202020204" pitchFamily="34" charset="0"/>
              <a:buChar char="•"/>
            </a:pPr>
            <a:r>
              <a:rPr lang="en-US" dirty="0"/>
              <a:t>Create bill of materials using diagrams and drawings.</a:t>
            </a:r>
          </a:p>
          <a:p>
            <a:pPr marL="171450" indent="-171450">
              <a:buFont typeface="Arial" panose="020B0604020202020204" pitchFamily="34" charset="0"/>
              <a:buChar char="•"/>
            </a:pPr>
            <a:r>
              <a:rPr lang="en-US" dirty="0"/>
              <a:t>Divide bill of materials into multiple lists which consolidate and organize materials based on suppliers and time will be required at site.</a:t>
            </a:r>
          </a:p>
          <a:p>
            <a:pPr marL="171450" indent="-171450">
              <a:buFont typeface="Arial" panose="020B0604020202020204" pitchFamily="34" charset="0"/>
              <a:buChar char="•"/>
            </a:pPr>
            <a:r>
              <a:rPr lang="en-US" dirty="0"/>
              <a:t>Inquiry is created with the most suitable suppliers</a:t>
            </a:r>
          </a:p>
          <a:p>
            <a:pPr marL="171450" indent="-171450">
              <a:buFont typeface="Arial" panose="020B0604020202020204" pitchFamily="34" charset="0"/>
              <a:buChar char="•"/>
            </a:pPr>
            <a:r>
              <a:rPr lang="en-US" dirty="0"/>
              <a:t>Suppliers will review the inquiry then respond with quote</a:t>
            </a:r>
          </a:p>
          <a:p>
            <a:pPr marL="171450" indent="-171450">
              <a:buFont typeface="Arial" panose="020B0604020202020204" pitchFamily="34" charset="0"/>
              <a:buChar char="•"/>
            </a:pPr>
            <a:r>
              <a:rPr lang="en-US" dirty="0"/>
              <a:t>Review each offer considering the price, reputation and reliability of each supplier.</a:t>
            </a:r>
          </a:p>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AC57D02B-DB5B-62E7-6425-234C0A479481}"/>
              </a:ext>
            </a:extLst>
          </p:cNvPr>
          <p:cNvSpPr>
            <a:spLocks noGrp="1"/>
          </p:cNvSpPr>
          <p:nvPr>
            <p:ph type="sldNum" sz="quarter" idx="10"/>
          </p:nvPr>
        </p:nvSpPr>
        <p:spPr/>
        <p:txBody>
          <a:bodyPr/>
          <a:lstStyle/>
          <a:p>
            <a:fld id="{B3A019F3-8596-4028-9847-CBD3A185B07A}"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4130182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CAF42-F920-7BE4-E705-4978D80595C6}"/>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EA560A6-07DC-F739-CE31-2AA5D9B54560}"/>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8243A526-052E-0E82-75C4-4875B3ECAA61}"/>
              </a:ext>
            </a:extLst>
          </p:cNvPr>
          <p:cNvSpPr>
            <a:spLocks noGrp="1"/>
          </p:cNvSpPr>
          <p:nvPr>
            <p:ph type="body" idx="1"/>
          </p:nvPr>
        </p:nvSpPr>
        <p:spPr/>
        <p:txBody>
          <a:bodyPr/>
          <a:lstStyle/>
          <a:p>
            <a:pPr marL="171450" indent="-171450">
              <a:buFont typeface="Arial" panose="020B0604020202020204" pitchFamily="34" charset="0"/>
              <a:buChar char="•"/>
            </a:pPr>
            <a:r>
              <a:rPr lang="en-US" dirty="0"/>
              <a:t>Create bill of materials using diagrams and drawings.</a:t>
            </a:r>
          </a:p>
          <a:p>
            <a:pPr marL="171450" indent="-171450">
              <a:buFont typeface="Arial" panose="020B0604020202020204" pitchFamily="34" charset="0"/>
              <a:buChar char="•"/>
            </a:pPr>
            <a:r>
              <a:rPr lang="en-US" dirty="0"/>
              <a:t>Divide bill of materials into multiple lists which consolidate and organize materials based on suppliers and time will be required at site.</a:t>
            </a:r>
          </a:p>
          <a:p>
            <a:pPr marL="171450" indent="-171450">
              <a:buFont typeface="Arial" panose="020B0604020202020204" pitchFamily="34" charset="0"/>
              <a:buChar char="•"/>
            </a:pPr>
            <a:r>
              <a:rPr lang="en-US" dirty="0"/>
              <a:t>Inquiry is created with the most suitable suppliers</a:t>
            </a:r>
          </a:p>
          <a:p>
            <a:pPr marL="171450" indent="-171450">
              <a:buFont typeface="Arial" panose="020B0604020202020204" pitchFamily="34" charset="0"/>
              <a:buChar char="•"/>
            </a:pPr>
            <a:r>
              <a:rPr lang="en-US" dirty="0"/>
              <a:t>Suppliers will review the inquiry then respond with quote</a:t>
            </a:r>
          </a:p>
          <a:p>
            <a:pPr marL="171450" indent="-171450">
              <a:buFont typeface="Arial" panose="020B0604020202020204" pitchFamily="34" charset="0"/>
              <a:buChar char="•"/>
            </a:pPr>
            <a:r>
              <a:rPr lang="en-US" dirty="0"/>
              <a:t>Review each offer considering the price, reputation and reliability of each supplier.</a:t>
            </a:r>
          </a:p>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97B39AD4-9396-39F9-5CDC-D9E3CFA56A7B}"/>
              </a:ext>
            </a:extLst>
          </p:cNvPr>
          <p:cNvSpPr>
            <a:spLocks noGrp="1"/>
          </p:cNvSpPr>
          <p:nvPr>
            <p:ph type="sldNum" sz="quarter" idx="10"/>
          </p:nvPr>
        </p:nvSpPr>
        <p:spPr/>
        <p:txBody>
          <a:bodyPr/>
          <a:lstStyle/>
          <a:p>
            <a:fld id="{B3A019F3-8596-4028-9847-CBD3A185B07A}"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2022182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2442E-F648-E0D1-7861-093BA781B7BB}"/>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9415DC32-7C3D-1D67-35BF-2F7EE985211E}"/>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D874C471-58AB-A27E-4ACC-B7E0CB551DB1}"/>
              </a:ext>
            </a:extLst>
          </p:cNvPr>
          <p:cNvSpPr>
            <a:spLocks noGrp="1"/>
          </p:cNvSpPr>
          <p:nvPr>
            <p:ph type="body" idx="1"/>
          </p:nvPr>
        </p:nvSpPr>
        <p:spPr/>
        <p:txBody>
          <a:bodyPr/>
          <a:lstStyle/>
          <a:p>
            <a:pPr marL="171450" indent="-171450">
              <a:buFont typeface="Arial" panose="020B0604020202020204" pitchFamily="34" charset="0"/>
              <a:buChar char="•"/>
            </a:pPr>
            <a:r>
              <a:rPr lang="en-US" dirty="0"/>
              <a:t>Create bill of materials using diagrams and drawings.</a:t>
            </a:r>
          </a:p>
          <a:p>
            <a:pPr marL="171450" indent="-171450">
              <a:buFont typeface="Arial" panose="020B0604020202020204" pitchFamily="34" charset="0"/>
              <a:buChar char="•"/>
            </a:pPr>
            <a:r>
              <a:rPr lang="en-US" dirty="0"/>
              <a:t>Divide bill of materials into multiple lists which consolidate and organize materials based on suppliers and time will be required at site.</a:t>
            </a:r>
          </a:p>
          <a:p>
            <a:pPr marL="171450" indent="-171450">
              <a:buFont typeface="Arial" panose="020B0604020202020204" pitchFamily="34" charset="0"/>
              <a:buChar char="•"/>
            </a:pPr>
            <a:r>
              <a:rPr lang="en-US" dirty="0"/>
              <a:t>Inquiry is created with the most suitable suppliers</a:t>
            </a:r>
          </a:p>
          <a:p>
            <a:pPr marL="171450" indent="-171450">
              <a:buFont typeface="Arial" panose="020B0604020202020204" pitchFamily="34" charset="0"/>
              <a:buChar char="•"/>
            </a:pPr>
            <a:r>
              <a:rPr lang="en-US" dirty="0"/>
              <a:t>Suppliers will review the inquiry then respond with quote</a:t>
            </a:r>
          </a:p>
          <a:p>
            <a:pPr marL="171450" indent="-171450">
              <a:buFont typeface="Arial" panose="020B0604020202020204" pitchFamily="34" charset="0"/>
              <a:buChar char="•"/>
            </a:pPr>
            <a:r>
              <a:rPr lang="en-US" dirty="0"/>
              <a:t>Review each offer considering the price, reputation and reliability of each supplier.</a:t>
            </a:r>
          </a:p>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F6D4FED0-ABC0-46D4-B062-88BE97FC203D}"/>
              </a:ext>
            </a:extLst>
          </p:cNvPr>
          <p:cNvSpPr>
            <a:spLocks noGrp="1"/>
          </p:cNvSpPr>
          <p:nvPr>
            <p:ph type="sldNum" sz="quarter" idx="10"/>
          </p:nvPr>
        </p:nvSpPr>
        <p:spPr/>
        <p:txBody>
          <a:bodyPr/>
          <a:lstStyle/>
          <a:p>
            <a:fld id="{B3A019F3-8596-4028-9847-CBD3A185B07A}"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2882199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87FA5-8A61-C07D-CE49-3C9582043AC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90A89B9-2A2D-A4B8-2EF0-75FF050F4F38}"/>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2FEBA62A-71CE-F0A5-6B71-3E00E3D13781}"/>
              </a:ext>
            </a:extLst>
          </p:cNvPr>
          <p:cNvSpPr>
            <a:spLocks noGrp="1"/>
          </p:cNvSpPr>
          <p:nvPr>
            <p:ph type="body" idx="1"/>
          </p:nvPr>
        </p:nvSpPr>
        <p:spPr/>
        <p:txBody>
          <a:bodyPr/>
          <a:lstStyle/>
          <a:p>
            <a:pPr marL="171450" indent="-171450">
              <a:buFont typeface="Arial" panose="020B0604020202020204" pitchFamily="34" charset="0"/>
              <a:buChar char="•"/>
            </a:pPr>
            <a:r>
              <a:rPr lang="en-US" dirty="0"/>
              <a:t>Create bill of materials using diagrams and drawings.</a:t>
            </a:r>
          </a:p>
          <a:p>
            <a:pPr marL="171450" indent="-171450">
              <a:buFont typeface="Arial" panose="020B0604020202020204" pitchFamily="34" charset="0"/>
              <a:buChar char="•"/>
            </a:pPr>
            <a:r>
              <a:rPr lang="en-US" dirty="0"/>
              <a:t>Divide bill of materials into multiple lists which consolidate and organize materials based on suppliers and time will be required at site.</a:t>
            </a:r>
          </a:p>
          <a:p>
            <a:pPr marL="171450" indent="-171450">
              <a:buFont typeface="Arial" panose="020B0604020202020204" pitchFamily="34" charset="0"/>
              <a:buChar char="•"/>
            </a:pPr>
            <a:r>
              <a:rPr lang="en-US" dirty="0"/>
              <a:t>Inquiry is created with the most suitable suppliers</a:t>
            </a:r>
          </a:p>
          <a:p>
            <a:pPr marL="171450" indent="-171450">
              <a:buFont typeface="Arial" panose="020B0604020202020204" pitchFamily="34" charset="0"/>
              <a:buChar char="•"/>
            </a:pPr>
            <a:r>
              <a:rPr lang="en-US" dirty="0"/>
              <a:t>Suppliers will review the inquiry then respond with quote</a:t>
            </a:r>
          </a:p>
          <a:p>
            <a:pPr marL="171450" indent="-171450">
              <a:buFont typeface="Arial" panose="020B0604020202020204" pitchFamily="34" charset="0"/>
              <a:buChar char="•"/>
            </a:pPr>
            <a:r>
              <a:rPr lang="en-US" dirty="0"/>
              <a:t>Review each offer considering the price, reputation and reliability of each supplier.</a:t>
            </a:r>
          </a:p>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529313EA-3329-20B6-EB14-C8D1843A9E74}"/>
              </a:ext>
            </a:extLst>
          </p:cNvPr>
          <p:cNvSpPr>
            <a:spLocks noGrp="1"/>
          </p:cNvSpPr>
          <p:nvPr>
            <p:ph type="sldNum" sz="quarter" idx="10"/>
          </p:nvPr>
        </p:nvSpPr>
        <p:spPr/>
        <p:txBody>
          <a:bodyPr/>
          <a:lstStyle/>
          <a:p>
            <a:fld id="{B3A019F3-8596-4028-9847-CBD3A185B07A}"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3675025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DFACE-5E0E-6DC0-F0F7-3F53DA966EB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BC9C182-20AB-D42E-B863-5B3C47AB7F18}"/>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DCA39A31-6EFA-CD22-5F20-4BADB5BE068A}"/>
              </a:ext>
            </a:extLst>
          </p:cNvPr>
          <p:cNvSpPr>
            <a:spLocks noGrp="1"/>
          </p:cNvSpPr>
          <p:nvPr>
            <p:ph type="body" idx="1"/>
          </p:nvPr>
        </p:nvSpPr>
        <p:spPr/>
        <p:txBody>
          <a:bodyPr/>
          <a:lstStyle/>
          <a:p>
            <a:pPr marL="171450" indent="-171450">
              <a:buFont typeface="Arial" panose="020B0604020202020204" pitchFamily="34" charset="0"/>
              <a:buChar char="•"/>
            </a:pPr>
            <a:r>
              <a:rPr lang="en-US" dirty="0"/>
              <a:t>Create bill of materials using diagrams and drawings.</a:t>
            </a:r>
          </a:p>
          <a:p>
            <a:pPr marL="171450" indent="-171450">
              <a:buFont typeface="Arial" panose="020B0604020202020204" pitchFamily="34" charset="0"/>
              <a:buChar char="•"/>
            </a:pPr>
            <a:r>
              <a:rPr lang="en-US" dirty="0"/>
              <a:t>Divide bill of materials into multiple lists which consolidate and organize materials based on suppliers and time will be required at site.</a:t>
            </a:r>
          </a:p>
          <a:p>
            <a:pPr marL="171450" indent="-171450">
              <a:buFont typeface="Arial" panose="020B0604020202020204" pitchFamily="34" charset="0"/>
              <a:buChar char="•"/>
            </a:pPr>
            <a:r>
              <a:rPr lang="en-US" dirty="0"/>
              <a:t>Inquiry is created with the most suitable suppliers</a:t>
            </a:r>
          </a:p>
          <a:p>
            <a:pPr marL="171450" indent="-171450">
              <a:buFont typeface="Arial" panose="020B0604020202020204" pitchFamily="34" charset="0"/>
              <a:buChar char="•"/>
            </a:pPr>
            <a:r>
              <a:rPr lang="en-US" dirty="0"/>
              <a:t>Suppliers will review the inquiry then respond with quote</a:t>
            </a:r>
          </a:p>
          <a:p>
            <a:pPr marL="171450" indent="-171450">
              <a:buFont typeface="Arial" panose="020B0604020202020204" pitchFamily="34" charset="0"/>
              <a:buChar char="•"/>
            </a:pPr>
            <a:r>
              <a:rPr lang="en-US" dirty="0"/>
              <a:t>Review each offer considering the price, reputation and reliability of each supplier.</a:t>
            </a:r>
          </a:p>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4161AC23-2A1D-969C-97EC-319CE8138003}"/>
              </a:ext>
            </a:extLst>
          </p:cNvPr>
          <p:cNvSpPr>
            <a:spLocks noGrp="1"/>
          </p:cNvSpPr>
          <p:nvPr>
            <p:ph type="sldNum" sz="quarter" idx="10"/>
          </p:nvPr>
        </p:nvSpPr>
        <p:spPr/>
        <p:txBody>
          <a:bodyPr/>
          <a:lstStyle/>
          <a:p>
            <a:fld id="{B3A019F3-8596-4028-9847-CBD3A185B07A}"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3845381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12A6-E93B-9BA3-A3E6-400071F55C1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B4315C8-D1E6-A478-3242-5E5F3187BF1F}"/>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75B75CFA-3002-360D-507D-3DC5BBCA2C34}"/>
              </a:ext>
            </a:extLst>
          </p:cNvPr>
          <p:cNvSpPr>
            <a:spLocks noGrp="1"/>
          </p:cNvSpPr>
          <p:nvPr>
            <p:ph type="body" idx="1"/>
          </p:nvPr>
        </p:nvSpPr>
        <p:spPr/>
        <p:txBody>
          <a:bodyPr/>
          <a:lstStyle/>
          <a:p>
            <a:pPr marL="171450" indent="-171450">
              <a:buFont typeface="Arial" panose="020B0604020202020204" pitchFamily="34" charset="0"/>
              <a:buChar char="•"/>
            </a:pPr>
            <a:r>
              <a:rPr lang="en-US" dirty="0"/>
              <a:t>Create bill of materials using diagrams and drawings.</a:t>
            </a:r>
          </a:p>
          <a:p>
            <a:pPr marL="171450" indent="-171450">
              <a:buFont typeface="Arial" panose="020B0604020202020204" pitchFamily="34" charset="0"/>
              <a:buChar char="•"/>
            </a:pPr>
            <a:r>
              <a:rPr lang="en-US" dirty="0"/>
              <a:t>Divide bill of materials into multiple lists which consolidate and organize materials based on suppliers and time will be required at site.</a:t>
            </a:r>
          </a:p>
          <a:p>
            <a:pPr marL="171450" indent="-171450">
              <a:buFont typeface="Arial" panose="020B0604020202020204" pitchFamily="34" charset="0"/>
              <a:buChar char="•"/>
            </a:pPr>
            <a:r>
              <a:rPr lang="en-US" dirty="0"/>
              <a:t>Inquiry is created with the most suitable suppliers</a:t>
            </a:r>
          </a:p>
          <a:p>
            <a:pPr marL="171450" indent="-171450">
              <a:buFont typeface="Arial" panose="020B0604020202020204" pitchFamily="34" charset="0"/>
              <a:buChar char="•"/>
            </a:pPr>
            <a:r>
              <a:rPr lang="en-US" dirty="0"/>
              <a:t>Suppliers will review the inquiry then respond with quote</a:t>
            </a:r>
          </a:p>
          <a:p>
            <a:pPr marL="171450" indent="-171450">
              <a:buFont typeface="Arial" panose="020B0604020202020204" pitchFamily="34" charset="0"/>
              <a:buChar char="•"/>
            </a:pPr>
            <a:r>
              <a:rPr lang="en-US" dirty="0"/>
              <a:t>Review each offer considering the price, reputation and reliability of each supplier.</a:t>
            </a:r>
          </a:p>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E0B41FF0-B6B8-D833-BD03-9B9338C1FBB0}"/>
              </a:ext>
            </a:extLst>
          </p:cNvPr>
          <p:cNvSpPr>
            <a:spLocks noGrp="1"/>
          </p:cNvSpPr>
          <p:nvPr>
            <p:ph type="sldNum" sz="quarter" idx="10"/>
          </p:nvPr>
        </p:nvSpPr>
        <p:spPr/>
        <p:txBody>
          <a:bodyPr/>
          <a:lstStyle/>
          <a:p>
            <a:fld id="{B3A019F3-8596-4028-9847-CBD3A185B07A}"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1405402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70653-6CFE-3A58-3612-69FA267BAA5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4ABAC89-39AA-8939-5158-9EDED4FB7BBA}"/>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784008A0-CE91-F4EC-4076-E691178F9926}"/>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BCA0CFA9-81F5-7E37-22FD-C58C48595A86}"/>
              </a:ext>
            </a:extLst>
          </p:cNvPr>
          <p:cNvSpPr>
            <a:spLocks noGrp="1"/>
          </p:cNvSpPr>
          <p:nvPr>
            <p:ph type="sldNum" sz="quarter" idx="10"/>
          </p:nvPr>
        </p:nvSpPr>
        <p:spPr/>
        <p:txBody>
          <a:bodyPr/>
          <a:lstStyle/>
          <a:p>
            <a:fld id="{B3A019F3-8596-4028-9847-CBD3A185B07A}"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4162179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78DA-76B3-7A18-6762-BE46FCCA6E6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BD33724-4EDE-D1AC-638A-A38DE45C08E5}"/>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EA6280F3-3BCF-790F-0F57-B9ECCB678D4D}"/>
              </a:ext>
            </a:extLst>
          </p:cNvPr>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000000"/>
                </a:solidFill>
                <a:effectLst/>
                <a:latin typeface="Robototest"/>
              </a:rPr>
              <a:t>The scope of the work to be outsourced needs to be clearly defined before engaging with potential contractors.</a:t>
            </a:r>
          </a:p>
          <a:p>
            <a:pPr marL="171450" indent="-171450">
              <a:buFont typeface="Arial" panose="020B0604020202020204" pitchFamily="34" charset="0"/>
              <a:buChar char="•"/>
            </a:pPr>
            <a:r>
              <a:rPr lang="en-US" b="0" i="0" dirty="0">
                <a:solidFill>
                  <a:srgbClr val="000000"/>
                </a:solidFill>
                <a:effectLst/>
                <a:latin typeface="Robototest"/>
              </a:rPr>
              <a:t>Engaging with potential suppliers and contractors.</a:t>
            </a:r>
          </a:p>
          <a:p>
            <a:pPr marL="171450" indent="-171450">
              <a:buFont typeface="Arial" panose="020B0604020202020204" pitchFamily="34" charset="0"/>
              <a:buChar char="•"/>
            </a:pPr>
            <a:r>
              <a:rPr lang="en-US" b="0" i="0" dirty="0">
                <a:solidFill>
                  <a:srgbClr val="000000"/>
                </a:solidFill>
                <a:effectLst/>
                <a:latin typeface="Robototest"/>
              </a:rPr>
              <a:t>Creating a RFQ (Request for Quotation) with necessary details.</a:t>
            </a:r>
          </a:p>
          <a:p>
            <a:pPr marL="171450" indent="-171450">
              <a:buFont typeface="Arial" panose="020B0604020202020204" pitchFamily="34" charset="0"/>
              <a:buChar char="•"/>
            </a:pPr>
            <a:r>
              <a:rPr lang="en-US" b="0" i="0" dirty="0">
                <a:solidFill>
                  <a:srgbClr val="000000"/>
                </a:solidFill>
                <a:effectLst/>
                <a:latin typeface="Robototest"/>
              </a:rPr>
              <a:t>Evaluating quotes involves both technical and commercial evaluation. The awarding should be done after a thorough consideration of all important technical and commercial aspects of the project</a:t>
            </a:r>
            <a:endParaRPr lang="en-US" dirty="0"/>
          </a:p>
        </p:txBody>
      </p:sp>
      <p:sp>
        <p:nvSpPr>
          <p:cNvPr id="4" name="Rectangle 4">
            <a:extLst>
              <a:ext uri="{FF2B5EF4-FFF2-40B4-BE49-F238E27FC236}">
                <a16:creationId xmlns:a16="http://schemas.microsoft.com/office/drawing/2014/main" id="{3B42D32C-27A5-A0EA-9F31-CD45C325AAAE}"/>
              </a:ext>
            </a:extLst>
          </p:cNvPr>
          <p:cNvSpPr>
            <a:spLocks noGrp="1"/>
          </p:cNvSpPr>
          <p:nvPr>
            <p:ph type="sldNum" sz="quarter" idx="10"/>
          </p:nvPr>
        </p:nvSpPr>
        <p:spPr/>
        <p:txBody>
          <a:bodyPr/>
          <a:lstStyle/>
          <a:p>
            <a:fld id="{B3A019F3-8596-4028-9847-CBD3A185B07A}"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3946404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EE25B-7180-8011-6292-A27D765E53D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9B80717-3017-573B-B915-5C6721BEE299}"/>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7AAA712C-5814-5E5F-FA7F-E1486981A10C}"/>
              </a:ext>
            </a:extLst>
          </p:cNvPr>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000000"/>
                </a:solidFill>
                <a:effectLst/>
                <a:latin typeface="Robototest"/>
              </a:rPr>
              <a:t>Continuous tracking prevents late surprises and is essential for proper risk management. It is even more important in case of outsourced work.</a:t>
            </a:r>
          </a:p>
          <a:p>
            <a:pPr marL="171450" indent="-171450">
              <a:buFont typeface="Arial" panose="020B0604020202020204" pitchFamily="34" charset="0"/>
              <a:buChar char="•"/>
            </a:pPr>
            <a:r>
              <a:rPr lang="en-US" b="0" i="0" dirty="0">
                <a:solidFill>
                  <a:srgbClr val="000000"/>
                </a:solidFill>
                <a:effectLst/>
                <a:latin typeface="Robototest"/>
              </a:rPr>
              <a:t>Updating the contract to reflect scope or schedule changes</a:t>
            </a:r>
            <a:endParaRPr lang="en-US" dirty="0"/>
          </a:p>
        </p:txBody>
      </p:sp>
      <p:sp>
        <p:nvSpPr>
          <p:cNvPr id="4" name="Rectangle 4">
            <a:extLst>
              <a:ext uri="{FF2B5EF4-FFF2-40B4-BE49-F238E27FC236}">
                <a16:creationId xmlns:a16="http://schemas.microsoft.com/office/drawing/2014/main" id="{220DBE75-0847-8980-E8CA-6664A1DB9BDF}"/>
              </a:ext>
            </a:extLst>
          </p:cNvPr>
          <p:cNvSpPr>
            <a:spLocks noGrp="1"/>
          </p:cNvSpPr>
          <p:nvPr>
            <p:ph type="sldNum" sz="quarter" idx="10"/>
          </p:nvPr>
        </p:nvSpPr>
        <p:spPr/>
        <p:txBody>
          <a:bodyPr/>
          <a:lstStyle/>
          <a:p>
            <a:fld id="{B3A019F3-8596-4028-9847-CBD3A185B07A}"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106086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60020-8A6D-474D-4780-E64F14BD0E8A}"/>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A07ADF5-AF42-DD68-6F45-749FDB0D183E}"/>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C970B065-D8CA-B25D-7EFA-D64CD1F1E7EF}"/>
              </a:ext>
            </a:extLst>
          </p:cNvPr>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000000"/>
                </a:solidFill>
                <a:effectLst/>
                <a:latin typeface="Robototest"/>
              </a:rPr>
              <a:t>Continuous tracking prevents late surprises and is essential for proper risk management. It is even more important in case of outsourced work.</a:t>
            </a:r>
          </a:p>
          <a:p>
            <a:pPr marL="171450" indent="-171450">
              <a:buFont typeface="Arial" panose="020B0604020202020204" pitchFamily="34" charset="0"/>
              <a:buChar char="•"/>
            </a:pPr>
            <a:r>
              <a:rPr lang="en-US" b="0" i="0" dirty="0">
                <a:solidFill>
                  <a:srgbClr val="000000"/>
                </a:solidFill>
                <a:effectLst/>
                <a:latin typeface="Robototest"/>
              </a:rPr>
              <a:t>Updating the contract to reflect scope or schedule changes</a:t>
            </a:r>
          </a:p>
          <a:p>
            <a:pPr marL="171450" indent="-171450">
              <a:buFont typeface="Arial" panose="020B0604020202020204" pitchFamily="34" charset="0"/>
              <a:buChar char="•"/>
            </a:pPr>
            <a:r>
              <a:rPr lang="en-US" b="0" i="0" dirty="0">
                <a:solidFill>
                  <a:srgbClr val="000000"/>
                </a:solidFill>
                <a:effectLst/>
                <a:latin typeface="Robototest"/>
              </a:rPr>
              <a:t>Contract administration is important from legal point of view. It involves tracking conversations and requests for information.</a:t>
            </a:r>
            <a:endParaRPr lang="en-US" dirty="0"/>
          </a:p>
        </p:txBody>
      </p:sp>
      <p:sp>
        <p:nvSpPr>
          <p:cNvPr id="4" name="Rectangle 4">
            <a:extLst>
              <a:ext uri="{FF2B5EF4-FFF2-40B4-BE49-F238E27FC236}">
                <a16:creationId xmlns:a16="http://schemas.microsoft.com/office/drawing/2014/main" id="{1A835811-F40C-267F-0ADD-8B41128CB4B2}"/>
              </a:ext>
            </a:extLst>
          </p:cNvPr>
          <p:cNvSpPr>
            <a:spLocks noGrp="1"/>
          </p:cNvSpPr>
          <p:nvPr>
            <p:ph type="sldNum" sz="quarter" idx="10"/>
          </p:nvPr>
        </p:nvSpPr>
        <p:spPr/>
        <p:txBody>
          <a:bodyPr/>
          <a:lstStyle/>
          <a:p>
            <a:fld id="{B3A019F3-8596-4028-9847-CBD3A185B07A}"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2758926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317BF-DB9D-2F81-0543-1BBB48723366}"/>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399009C-8602-C185-43B3-6C064B8724AA}"/>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F4DBCB6E-D1EF-B6BA-8833-67D07EA8F7DA}"/>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Rectangle 4">
            <a:extLst>
              <a:ext uri="{FF2B5EF4-FFF2-40B4-BE49-F238E27FC236}">
                <a16:creationId xmlns:a16="http://schemas.microsoft.com/office/drawing/2014/main" id="{A2D9D90F-6534-ABA9-CC55-5055CB654334}"/>
              </a:ext>
            </a:extLst>
          </p:cNvPr>
          <p:cNvSpPr>
            <a:spLocks noGrp="1"/>
          </p:cNvSpPr>
          <p:nvPr>
            <p:ph type="sldNum" sz="quarter" idx="10"/>
          </p:nvPr>
        </p:nvSpPr>
        <p:spPr/>
        <p:txBody>
          <a:bodyPr/>
          <a:lstStyle/>
          <a:p>
            <a:fld id="{B3A019F3-8596-4028-9847-CBD3A185B07A}"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4222690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3E1B9-4812-D7C3-05AD-9806D5CA3FF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909E54F4-9AAC-1E99-0C87-FFEBED935FF5}"/>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57442D47-AD3C-4C4A-1272-87EF93AA5CB3}"/>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289A6E40-22DE-7427-9837-1E6E71C43C7A}"/>
              </a:ext>
            </a:extLst>
          </p:cNvPr>
          <p:cNvSpPr>
            <a:spLocks noGrp="1"/>
          </p:cNvSpPr>
          <p:nvPr>
            <p:ph type="sldNum" sz="quarter" idx="10"/>
          </p:nvPr>
        </p:nvSpPr>
        <p:spPr/>
        <p:txBody>
          <a:bodyPr/>
          <a:lstStyle/>
          <a:p>
            <a:fld id="{B3A019F3-8596-4028-9847-CBD3A185B07A}"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3629591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6A53A-B40C-AB7A-9D38-83B58F479454}"/>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1DFAF25-CA4B-4D4A-04F1-1D32A32C9006}"/>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24A232A2-AC39-25F7-FD47-B667F42E8A52}"/>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6A20D2A3-9765-F9E4-C47C-8404EBD64150}"/>
              </a:ext>
            </a:extLst>
          </p:cNvPr>
          <p:cNvSpPr>
            <a:spLocks noGrp="1"/>
          </p:cNvSpPr>
          <p:nvPr>
            <p:ph type="sldNum" sz="quarter" idx="10"/>
          </p:nvPr>
        </p:nvSpPr>
        <p:spPr/>
        <p:txBody>
          <a:bodyPr/>
          <a:lstStyle/>
          <a:p>
            <a:fld id="{B3A019F3-8596-4028-9847-CBD3A185B07A}"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32969702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E8DA0-985D-98E6-5B32-E5302D59214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0A13B0A-6768-DFEB-4A88-C7956F03C064}"/>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92B2915F-3D82-F929-DD28-53662F6AE070}"/>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E0D8B0B1-6E67-EE93-AE90-80D79C3D2292}"/>
              </a:ext>
            </a:extLst>
          </p:cNvPr>
          <p:cNvSpPr>
            <a:spLocks noGrp="1"/>
          </p:cNvSpPr>
          <p:nvPr>
            <p:ph type="sldNum" sz="quarter" idx="10"/>
          </p:nvPr>
        </p:nvSpPr>
        <p:spPr/>
        <p:txBody>
          <a:bodyPr/>
          <a:lstStyle/>
          <a:p>
            <a:fld id="{B3A019F3-8596-4028-9847-CBD3A185B07A}"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67323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0E166-0488-3931-046B-37F8E35470D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94872A3E-C36B-ECA7-EB3A-197B2A92113F}"/>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9E7CE804-0D23-6B55-90C3-EA6FAB7B9855}"/>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F875CBC4-AD90-F65C-8EA0-33B679FBBF57}"/>
              </a:ext>
            </a:extLst>
          </p:cNvPr>
          <p:cNvSpPr>
            <a:spLocks noGrp="1"/>
          </p:cNvSpPr>
          <p:nvPr>
            <p:ph type="sldNum" sz="quarter" idx="10"/>
          </p:nvPr>
        </p:nvSpPr>
        <p:spPr/>
        <p:txBody>
          <a:bodyPr/>
          <a:lstStyle/>
          <a:p>
            <a:fld id="{B3A019F3-8596-4028-9847-CBD3A185B07A}"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1143120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B6DE-8B1D-B754-549D-2358E90B6417}"/>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88D210E-26F0-8EA5-213B-FF757B98376C}"/>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505A56AA-7038-BAF4-5A6B-86D6736EFFD6}"/>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A877D7E4-CA7A-B723-B643-F0F8D5BD9D8E}"/>
              </a:ext>
            </a:extLst>
          </p:cNvPr>
          <p:cNvSpPr>
            <a:spLocks noGrp="1"/>
          </p:cNvSpPr>
          <p:nvPr>
            <p:ph type="sldNum" sz="quarter" idx="10"/>
          </p:nvPr>
        </p:nvSpPr>
        <p:spPr/>
        <p:txBody>
          <a:bodyPr/>
          <a:lstStyle/>
          <a:p>
            <a:fld id="{B3A019F3-8596-4028-9847-CBD3A185B07A}"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21763773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8E293-083B-959E-8ABD-E0AF9732B758}"/>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278E32C-DF4A-0953-CBB3-BD2FD31C8D27}"/>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3D072A68-D016-3DC0-C233-DADBC5D3ED07}"/>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ADBC340C-6556-732F-9879-47818A3E4778}"/>
              </a:ext>
            </a:extLst>
          </p:cNvPr>
          <p:cNvSpPr>
            <a:spLocks noGrp="1"/>
          </p:cNvSpPr>
          <p:nvPr>
            <p:ph type="sldNum" sz="quarter" idx="10"/>
          </p:nvPr>
        </p:nvSpPr>
        <p:spPr/>
        <p:txBody>
          <a:bodyPr/>
          <a:lstStyle/>
          <a:p>
            <a:fld id="{B3A019F3-8596-4028-9847-CBD3A185B07A}"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2311616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dirty="0"/>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25692717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33879-E86C-E453-2B84-18439C83B44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799371BA-A555-D643-B0D0-46D50BB60CCA}"/>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5B5563F1-7E50-CCFC-D557-BB5A2236C655}"/>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F351DBD2-3FE2-F447-70A1-0CA105E4184B}"/>
              </a:ext>
            </a:extLst>
          </p:cNvPr>
          <p:cNvSpPr>
            <a:spLocks noGrp="1"/>
          </p:cNvSpPr>
          <p:nvPr>
            <p:ph type="sldNum" sz="quarter" idx="10"/>
          </p:nvPr>
        </p:nvSpPr>
        <p:spPr/>
        <p:txBody>
          <a:bodyPr/>
          <a:lstStyle/>
          <a:p>
            <a:fld id="{B3A019F3-8596-4028-9847-CBD3A185B07A}"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199525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E4AC7-71B7-F120-6C0D-5B86A82657F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E0AE12D-B44F-3798-B81C-6D1ACCEBC667}"/>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D6E87A48-A10B-77EF-A962-DE6F2F844B7D}"/>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B70687D8-6C45-8A3D-7B0C-97345F1C280D}"/>
              </a:ext>
            </a:extLst>
          </p:cNvPr>
          <p:cNvSpPr>
            <a:spLocks noGrp="1"/>
          </p:cNvSpPr>
          <p:nvPr>
            <p:ph type="sldNum" sz="quarter" idx="10"/>
          </p:nvPr>
        </p:nvSpPr>
        <p:spPr/>
        <p:txBody>
          <a:bodyPr/>
          <a:lstStyle/>
          <a:p>
            <a:fld id="{B3A019F3-8596-4028-9847-CBD3A185B07A}"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5668418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F7AC-D11C-40C7-6FCD-8D0C1DE2108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76FECE0E-73C5-C36E-F08D-A7F0A3DBA47D}"/>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2CE65D8E-5E14-31F7-A9A4-9D792753B778}"/>
              </a:ext>
            </a:extLst>
          </p:cNvPr>
          <p:cNvSpPr>
            <a:spLocks noGrp="1"/>
          </p:cNvSpPr>
          <p:nvPr>
            <p:ph type="body" idx="1"/>
          </p:nvPr>
        </p:nvSpPr>
        <p:spPr/>
        <p:txBody>
          <a:bodyPr/>
          <a:lstStyle/>
          <a:p>
            <a:endParaRPr lang="en-US"/>
          </a:p>
        </p:txBody>
      </p:sp>
      <p:sp>
        <p:nvSpPr>
          <p:cNvPr id="4" name="Rectangle 4">
            <a:extLst>
              <a:ext uri="{FF2B5EF4-FFF2-40B4-BE49-F238E27FC236}">
                <a16:creationId xmlns:a16="http://schemas.microsoft.com/office/drawing/2014/main" id="{20613C2C-D6C7-9AC3-183C-DB559DA73ED7}"/>
              </a:ext>
            </a:extLst>
          </p:cNvPr>
          <p:cNvSpPr>
            <a:spLocks noGrp="1"/>
          </p:cNvSpPr>
          <p:nvPr>
            <p:ph type="sldNum" sz="quarter" idx="10"/>
          </p:nvPr>
        </p:nvSpPr>
        <p:spPr/>
        <p:txBody>
          <a:bodyPr/>
          <a:lstStyle/>
          <a:p>
            <a:fld id="{B3A019F3-8596-4028-9847-CBD3A185B07A}" type="slidenum">
              <a:rPr lang="en-US" smtClean="0">
                <a:solidFill>
                  <a:prstClr val="black"/>
                </a:solidFill>
              </a:rPr>
              <a:pPr/>
              <a:t>33</a:t>
            </a:fld>
            <a:endParaRPr lang="en-US">
              <a:solidFill>
                <a:prstClr val="black"/>
              </a:solidFill>
            </a:endParaRPr>
          </a:p>
        </p:txBody>
      </p:sp>
    </p:spTree>
    <p:extLst>
      <p:ext uri="{BB962C8B-B14F-4D97-AF65-F5344CB8AC3E}">
        <p14:creationId xmlns:p14="http://schemas.microsoft.com/office/powerpoint/2010/main" val="41849923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E2602-897C-FE9B-D2EC-9F2DC5C767F0}"/>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AB1330E3-E9C7-37B9-02BC-D28530B409B8}"/>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C76C0DE1-E2BE-DE9F-E431-8FDEE8EF2726}"/>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A3D6A8E2-435A-387B-07D3-0E874254BCDD}"/>
              </a:ext>
            </a:extLst>
          </p:cNvPr>
          <p:cNvSpPr>
            <a:spLocks noGrp="1"/>
          </p:cNvSpPr>
          <p:nvPr>
            <p:ph type="sldNum" sz="quarter" idx="10"/>
          </p:nvPr>
        </p:nvSpPr>
        <p:spPr/>
        <p:txBody>
          <a:bodyPr/>
          <a:lstStyle/>
          <a:p>
            <a:fld id="{B3A019F3-8596-4028-9847-CBD3A185B07A}"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675520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5CCF-C26D-73B8-CAFD-71A97311BB7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80F81E8-27C9-B614-93DB-774389AE9049}"/>
              </a:ext>
            </a:extLst>
          </p:cNvPr>
          <p:cNvSpPr>
            <a:spLocks noGrp="1" noRot="1" noChangeAspect="1"/>
          </p:cNvSpPr>
          <p:nvPr>
            <p:ph type="sldImg"/>
          </p:nvPr>
        </p:nvSpPr>
        <p:spPr>
          <a:xfrm>
            <a:off x="-1001713" y="744538"/>
            <a:ext cx="8801101" cy="3722687"/>
          </a:xfrm>
        </p:spPr>
      </p:sp>
      <p:sp>
        <p:nvSpPr>
          <p:cNvPr id="3" name="Rectangle 3">
            <a:extLst>
              <a:ext uri="{FF2B5EF4-FFF2-40B4-BE49-F238E27FC236}">
                <a16:creationId xmlns:a16="http://schemas.microsoft.com/office/drawing/2014/main" id="{EA712437-DA8A-34D2-270D-3B9EC00FD46F}"/>
              </a:ext>
            </a:extLst>
          </p:cNvPr>
          <p:cNvSpPr>
            <a:spLocks noGrp="1"/>
          </p:cNvSpPr>
          <p:nvPr>
            <p:ph type="body" idx="1"/>
          </p:nvPr>
        </p:nvSpPr>
        <p:spPr/>
        <p:txBody>
          <a:bodyPr/>
          <a:lstStyle/>
          <a:p>
            <a:endParaRPr lang="en-US"/>
          </a:p>
        </p:txBody>
      </p:sp>
      <p:sp>
        <p:nvSpPr>
          <p:cNvPr id="4" name="Rectangle 4">
            <a:extLst>
              <a:ext uri="{FF2B5EF4-FFF2-40B4-BE49-F238E27FC236}">
                <a16:creationId xmlns:a16="http://schemas.microsoft.com/office/drawing/2014/main" id="{B63B67C8-0188-EC33-D445-7516FB6BAA7B}"/>
              </a:ext>
            </a:extLst>
          </p:cNvPr>
          <p:cNvSpPr>
            <a:spLocks noGrp="1"/>
          </p:cNvSpPr>
          <p:nvPr>
            <p:ph type="sldNum" sz="quarter" idx="10"/>
          </p:nvPr>
        </p:nvSpPr>
        <p:spPr/>
        <p:txBody>
          <a:bodyPr/>
          <a:lstStyle/>
          <a:p>
            <a:fld id="{B3A019F3-8596-4028-9847-CBD3A185B07A}" type="slidenum">
              <a:rPr lang="en-US" smtClean="0">
                <a:solidFill>
                  <a:prstClr val="black"/>
                </a:solidFill>
              </a:rPr>
              <a:pPr/>
              <a:t>35</a:t>
            </a:fld>
            <a:endParaRPr lang="en-US">
              <a:solidFill>
                <a:prstClr val="black"/>
              </a:solidFill>
            </a:endParaRPr>
          </a:p>
        </p:txBody>
      </p:sp>
    </p:spTree>
    <p:extLst>
      <p:ext uri="{BB962C8B-B14F-4D97-AF65-F5344CB8AC3E}">
        <p14:creationId xmlns:p14="http://schemas.microsoft.com/office/powerpoint/2010/main" val="17003443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36</a:t>
            </a:fld>
            <a:endParaRPr lang="en-US">
              <a:solidFill>
                <a:prstClr val="black"/>
              </a:solidFill>
            </a:endParaRPr>
          </a:p>
        </p:txBody>
      </p:sp>
    </p:spTree>
    <p:extLst>
      <p:ext uri="{BB962C8B-B14F-4D97-AF65-F5344CB8AC3E}">
        <p14:creationId xmlns:p14="http://schemas.microsoft.com/office/powerpoint/2010/main" val="24024632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260678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230" y="841772"/>
            <a:ext cx="9121379"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0230" y="2701528"/>
            <a:ext cx="9121379"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3256128987"/>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283653824"/>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792" y="1282304"/>
            <a:ext cx="10489585"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829792" y="3442098"/>
            <a:ext cx="10489585"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29443533"/>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6126" y="1369219"/>
            <a:ext cx="5168781"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56931" y="1369219"/>
            <a:ext cx="5168781"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1022879529"/>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7711" y="273844"/>
            <a:ext cx="10489585"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7711" y="1260872"/>
            <a:ext cx="514502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7711" y="1878806"/>
            <a:ext cx="5145027"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56931" y="1260872"/>
            <a:ext cx="5170365"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56931" y="1878806"/>
            <a:ext cx="5170365"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938549581"/>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3656403576"/>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127878929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7711" y="342900"/>
            <a:ext cx="3922509"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170365" y="740569"/>
            <a:ext cx="615693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7711" y="1543050"/>
            <a:ext cx="3922509"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2332038999"/>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7711" y="342900"/>
            <a:ext cx="3922509"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70365" y="740569"/>
            <a:ext cx="615693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37711" y="1543050"/>
            <a:ext cx="3922509"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272190729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3321390649"/>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03315" y="273844"/>
            <a:ext cx="2622396"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6126" y="273844"/>
            <a:ext cx="7715166"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12/21/2025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AEE9B-351E-4F9B-A70F-C97974E9BCB8}" type="slidenum">
              <a:rPr lang="en-US" smtClean="0"/>
              <a:t>‹#›</a:t>
            </a:fld>
            <a:endParaRPr lang="en-US"/>
          </a:p>
        </p:txBody>
      </p:sp>
    </p:spTree>
    <p:extLst>
      <p:ext uri="{BB962C8B-B14F-4D97-AF65-F5344CB8AC3E}">
        <p14:creationId xmlns:p14="http://schemas.microsoft.com/office/powerpoint/2010/main" val="2115539936"/>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Up: 1 Top, 2 Botto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681E2F-2A87-AAE1-FD51-4D13237A90D0}"/>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899319" y="514350"/>
            <a:ext cx="10668104" cy="368534"/>
          </a:xfrm>
          <a:prstGeom prst="rect">
            <a:avLst/>
          </a:prstGeom>
        </p:spPr>
      </p:pic>
      <p:pic>
        <p:nvPicPr>
          <p:cNvPr id="9" name="Picture 8" descr="A green and blue gradient&#10;&#10;Description automatically generated">
            <a:extLst>
              <a:ext uri="{FF2B5EF4-FFF2-40B4-BE49-F238E27FC236}">
                <a16:creationId xmlns:a16="http://schemas.microsoft.com/office/drawing/2014/main" id="{6DB72C90-91FF-983E-3362-225E3BBCFE4E}"/>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3651" y="1"/>
            <a:ext cx="709360" cy="5143499"/>
          </a:xfrm>
          <a:prstGeom prst="rect">
            <a:avLst/>
          </a:prstGeom>
        </p:spPr>
      </p:pic>
    </p:spTree>
    <p:extLst>
      <p:ext uri="{BB962C8B-B14F-4D97-AF65-F5344CB8AC3E}">
        <p14:creationId xmlns:p14="http://schemas.microsoft.com/office/powerpoint/2010/main" val="13896581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Up: 1 Top, 2 Botto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681E2F-2A87-AAE1-FD51-4D13237A90D0}"/>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899319" y="514350"/>
            <a:ext cx="10668104" cy="368534"/>
          </a:xfrm>
          <a:prstGeom prst="rect">
            <a:avLst/>
          </a:prstGeom>
        </p:spPr>
      </p:pic>
      <p:pic>
        <p:nvPicPr>
          <p:cNvPr id="9" name="Picture 8" descr="A green and blue gradient&#10;&#10;Description automatically generated">
            <a:extLst>
              <a:ext uri="{FF2B5EF4-FFF2-40B4-BE49-F238E27FC236}">
                <a16:creationId xmlns:a16="http://schemas.microsoft.com/office/drawing/2014/main" id="{6DB72C90-91FF-983E-3362-225E3BBCFE4E}"/>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3651" y="1"/>
            <a:ext cx="709360" cy="5143499"/>
          </a:xfrm>
          <a:prstGeom prst="rect">
            <a:avLst/>
          </a:prstGeom>
        </p:spPr>
      </p:pic>
    </p:spTree>
    <p:extLst>
      <p:ext uri="{BB962C8B-B14F-4D97-AF65-F5344CB8AC3E}">
        <p14:creationId xmlns:p14="http://schemas.microsoft.com/office/powerpoint/2010/main" val="2448837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3-Up: 1 Top, 2 Bottom">
    <p:spTree>
      <p:nvGrpSpPr>
        <p:cNvPr id="1" name=""/>
        <p:cNvGrpSpPr/>
        <p:nvPr/>
      </p:nvGrpSpPr>
      <p:grpSpPr>
        <a:xfrm>
          <a:off x="0" y="0"/>
          <a:ext cx="0" cy="0"/>
          <a:chOff x="0" y="0"/>
          <a:chExt cx="0" cy="0"/>
        </a:xfrm>
      </p:grpSpPr>
      <p:pic>
        <p:nvPicPr>
          <p:cNvPr id="2" name="Picture 1" descr="A green and blue gradient&#10;&#10;Description automatically generated">
            <a:extLst>
              <a:ext uri="{FF2B5EF4-FFF2-40B4-BE49-F238E27FC236}">
                <a16:creationId xmlns:a16="http://schemas.microsoft.com/office/drawing/2014/main" id="{114F7AA7-7D7D-B807-F194-4DA4CA71D316}"/>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3651" y="1"/>
            <a:ext cx="709360" cy="5143499"/>
          </a:xfrm>
          <a:prstGeom prst="rect">
            <a:avLst/>
          </a:prstGeom>
        </p:spPr>
      </p:pic>
      <p:pic>
        <p:nvPicPr>
          <p:cNvPr id="3" name="Picture 2">
            <a:extLst>
              <a:ext uri="{FF2B5EF4-FFF2-40B4-BE49-F238E27FC236}">
                <a16:creationId xmlns:a16="http://schemas.microsoft.com/office/drawing/2014/main" id="{34B7B3D3-78B0-7F2E-5F2C-881F1A3C79F9}"/>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899319" y="514350"/>
            <a:ext cx="10668104" cy="368534"/>
          </a:xfrm>
          <a:prstGeom prst="rect">
            <a:avLst/>
          </a:prstGeom>
        </p:spPr>
      </p:pic>
    </p:spTree>
    <p:extLst>
      <p:ext uri="{BB962C8B-B14F-4D97-AF65-F5344CB8AC3E}">
        <p14:creationId xmlns:p14="http://schemas.microsoft.com/office/powerpoint/2010/main" val="4015131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p:spTree>
      <p:nvGrpSpPr>
        <p:cNvPr id="1" name=""/>
        <p:cNvGrpSpPr/>
        <p:nvPr/>
      </p:nvGrpSpPr>
      <p:grpSpPr>
        <a:xfrm>
          <a:off x="0" y="0"/>
          <a:ext cx="0" cy="0"/>
          <a:chOff x="0" y="0"/>
          <a:chExt cx="0" cy="0"/>
        </a:xfrm>
      </p:grpSpPr>
      <p:pic>
        <p:nvPicPr>
          <p:cNvPr id="5" name="Picture 4" descr="A green and blue gradient">
            <a:extLst>
              <a:ext uri="{FF2B5EF4-FFF2-40B4-BE49-F238E27FC236}">
                <a16:creationId xmlns:a16="http://schemas.microsoft.com/office/drawing/2014/main" id="{3F8AC7A3-B0F9-C25D-4A56-9C34F2467C77}"/>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00" y="313"/>
            <a:ext cx="12161638" cy="3485837"/>
          </a:xfrm>
          <a:prstGeom prst="rect">
            <a:avLst/>
          </a:prstGeom>
        </p:spPr>
      </p:pic>
      <p:pic>
        <p:nvPicPr>
          <p:cNvPr id="2" name="Picture 1" descr="A black and white logo&#10;&#10;Description automatically generated">
            <a:extLst>
              <a:ext uri="{FF2B5EF4-FFF2-40B4-BE49-F238E27FC236}">
                <a16:creationId xmlns:a16="http://schemas.microsoft.com/office/drawing/2014/main" id="{F6026F8F-28AA-255C-F674-81D5DFD164FA}"/>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a:xfrm>
            <a:off x="4927892" y="4019550"/>
            <a:ext cx="2306054" cy="687249"/>
          </a:xfrm>
          <a:prstGeom prst="rect">
            <a:avLst/>
          </a:prstGeom>
        </p:spPr>
      </p:pic>
    </p:spTree>
    <p:extLst>
      <p:ext uri="{BB962C8B-B14F-4D97-AF65-F5344CB8AC3E}">
        <p14:creationId xmlns:p14="http://schemas.microsoft.com/office/powerpoint/2010/main" val="36279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6127" y="273844"/>
            <a:ext cx="10489585"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6127" y="1369219"/>
            <a:ext cx="10489585"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6126" y="4767263"/>
            <a:ext cx="2736414"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61BEF0D-F0BB-DE4B-95CE-6DB70DBA9567}" type="datetimeFigureOut">
              <a:rPr lang="en-US" smtClean="0"/>
              <a:pPr/>
              <a:t>12/21/2025</a:t>
            </a:fld>
            <a:endParaRPr lang="en-US" dirty="0"/>
          </a:p>
        </p:txBody>
      </p:sp>
      <p:sp>
        <p:nvSpPr>
          <p:cNvPr id="5" name="Footer Placeholder 4"/>
          <p:cNvSpPr>
            <a:spLocks noGrp="1"/>
          </p:cNvSpPr>
          <p:nvPr>
            <p:ph type="ftr" sz="quarter" idx="3"/>
          </p:nvPr>
        </p:nvSpPr>
        <p:spPr>
          <a:xfrm>
            <a:off x="4028609" y="4767263"/>
            <a:ext cx="410462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89298" y="4767263"/>
            <a:ext cx="2736414"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2FAEE9B-351E-4F9B-A70F-C97974E9BCB8}" type="slidenum">
              <a:rPr lang="en-US" smtClean="0"/>
              <a:t>‹#›</a:t>
            </a:fld>
            <a:endParaRPr lang="en-US"/>
          </a:p>
        </p:txBody>
      </p:sp>
    </p:spTree>
    <p:extLst>
      <p:ext uri="{BB962C8B-B14F-4D97-AF65-F5344CB8AC3E}">
        <p14:creationId xmlns:p14="http://schemas.microsoft.com/office/powerpoint/2010/main" val="2744946441"/>
      </p:ext>
    </p:extLst>
  </p:cSld>
  <p:clrMap bg1="lt1" tx1="dk1" bg2="lt2" tx2="dk2" accent1="accent1" accent2="accent2" accent3="accent3" accent4="accent4" accent5="accent5" accent6="accent6" hlink="hlink" folHlink="folHlink"/>
  <p:sldLayoutIdLst>
    <p:sldLayoutId id="2147484272" r:id="rId1"/>
    <p:sldLayoutId id="2147484273" r:id="rId2"/>
    <p:sldLayoutId id="2147484274" r:id="rId3"/>
    <p:sldLayoutId id="2147484275" r:id="rId4"/>
    <p:sldLayoutId id="2147484276" r:id="rId5"/>
    <p:sldLayoutId id="2147484277" r:id="rId6"/>
    <p:sldLayoutId id="2147484278" r:id="rId7"/>
    <p:sldLayoutId id="2147484279" r:id="rId8"/>
    <p:sldLayoutId id="2147484280" r:id="rId9"/>
    <p:sldLayoutId id="2147484281" r:id="rId10"/>
    <p:sldLayoutId id="2147484282" r:id="rId11"/>
    <p:sldLayoutId id="2147484284" r:id="rId12"/>
    <p:sldLayoutId id="2147484171" r:id="rId13"/>
    <p:sldLayoutId id="2147484172" r:id="rId14"/>
    <p:sldLayoutId id="2147484174"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D1C9AFD-9A62-C61A-54FC-F1F2E1E960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0583B71-7DF9-81FE-7B47-5B7110E25E8B}"/>
              </a:ext>
            </a:extLst>
          </p:cNvPr>
          <p:cNvSpPr txBox="1">
            <a:spLocks noGrp="1" noRot="1" noMove="1" noResize="1" noEditPoints="1" noAdjustHandles="1" noChangeArrowheads="1" noChangeShapeType="1"/>
          </p:cNvSpPr>
          <p:nvPr/>
        </p:nvSpPr>
        <p:spPr>
          <a:xfrm>
            <a:off x="899319" y="514350"/>
            <a:ext cx="7086600"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Arial" pitchFamily="34" charset="0"/>
              </a:rPr>
              <a:t>EPC Digital Production Platform</a:t>
            </a:r>
          </a:p>
        </p:txBody>
      </p:sp>
      <p:grpSp>
        <p:nvGrpSpPr>
          <p:cNvPr id="2" name="ES">
            <a:extLst>
              <a:ext uri="{FF2B5EF4-FFF2-40B4-BE49-F238E27FC236}">
                <a16:creationId xmlns:a16="http://schemas.microsoft.com/office/drawing/2014/main" id="{77981E7E-7386-C461-EFCD-D9DAEADB4B23}"/>
              </a:ext>
            </a:extLst>
          </p:cNvPr>
          <p:cNvGrpSpPr/>
          <p:nvPr/>
        </p:nvGrpSpPr>
        <p:grpSpPr>
          <a:xfrm>
            <a:off x="1315604" y="1100578"/>
            <a:ext cx="2998623" cy="1852172"/>
            <a:chOff x="219264" y="1339458"/>
            <a:chExt cx="2998628" cy="2789944"/>
          </a:xfrm>
        </p:grpSpPr>
        <p:sp>
          <p:nvSpPr>
            <p:cNvPr id="3" name="Rounded Rectangle 51">
              <a:extLst>
                <a:ext uri="{FF2B5EF4-FFF2-40B4-BE49-F238E27FC236}">
                  <a16:creationId xmlns:a16="http://schemas.microsoft.com/office/drawing/2014/main" id="{03153611-F443-8F04-2C29-3B6EF5493778}"/>
                </a:ext>
              </a:extLst>
            </p:cNvPr>
            <p:cNvSpPr/>
            <p:nvPr/>
          </p:nvSpPr>
          <p:spPr>
            <a:xfrm>
              <a:off x="363440" y="1965253"/>
              <a:ext cx="1044821" cy="1033147"/>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Plant Design Systems (3D)</a:t>
              </a:r>
            </a:p>
          </p:txBody>
        </p:sp>
        <p:sp>
          <p:nvSpPr>
            <p:cNvPr id="5" name="Rounded Rectangle 51">
              <a:extLst>
                <a:ext uri="{FF2B5EF4-FFF2-40B4-BE49-F238E27FC236}">
                  <a16:creationId xmlns:a16="http://schemas.microsoft.com/office/drawing/2014/main" id="{55437238-A61A-191A-F251-8E5BBEEAA6D2}"/>
                </a:ext>
              </a:extLst>
            </p:cNvPr>
            <p:cNvSpPr/>
            <p:nvPr/>
          </p:nvSpPr>
          <p:spPr>
            <a:xfrm>
              <a:off x="1627174" y="1965252"/>
              <a:ext cx="1371805" cy="1033147"/>
            </a:xfrm>
            <a:prstGeom prst="rect">
              <a:avLst/>
            </a:prstGeom>
            <a:solidFill>
              <a:schemeClr val="accent1">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Engineering IM</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(Integration)</a:t>
              </a:r>
            </a:p>
          </p:txBody>
        </p:sp>
        <p:cxnSp>
          <p:nvCxnSpPr>
            <p:cNvPr id="6" name="Straight Arrow Connector 4">
              <a:extLst>
                <a:ext uri="{FF2B5EF4-FFF2-40B4-BE49-F238E27FC236}">
                  <a16:creationId xmlns:a16="http://schemas.microsoft.com/office/drawing/2014/main" id="{39349896-B862-3949-36D7-3E1DE1EACB29}"/>
                </a:ext>
              </a:extLst>
            </p:cNvPr>
            <p:cNvCxnSpPr>
              <a:cxnSpLocks/>
              <a:stCxn id="9" idx="3"/>
              <a:endCxn id="5" idx="2"/>
            </p:cNvCxnSpPr>
            <p:nvPr/>
          </p:nvCxnSpPr>
          <p:spPr>
            <a:xfrm flipV="1">
              <a:off x="1879403" y="2998400"/>
              <a:ext cx="433675" cy="528231"/>
            </a:xfrm>
            <a:prstGeom prst="bentConnector2">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0C723CD3-F7E1-6469-15CD-F8B281C379E2}"/>
                </a:ext>
              </a:extLst>
            </p:cNvPr>
            <p:cNvSpPr/>
            <p:nvPr/>
          </p:nvSpPr>
          <p:spPr>
            <a:xfrm>
              <a:off x="219264" y="1339458"/>
              <a:ext cx="2998628" cy="2789944"/>
            </a:xfrm>
            <a:prstGeom prst="rect">
              <a:avLst/>
            </a:prstGeom>
            <a:noFill/>
            <a:ln w="1905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Engineering Systems</a:t>
              </a:r>
            </a:p>
          </p:txBody>
        </p:sp>
        <p:sp>
          <p:nvSpPr>
            <p:cNvPr id="9" name="Rounded Rectangle 51">
              <a:extLst>
                <a:ext uri="{FF2B5EF4-FFF2-40B4-BE49-F238E27FC236}">
                  <a16:creationId xmlns:a16="http://schemas.microsoft.com/office/drawing/2014/main" id="{A3791593-1A89-DC3F-56D2-44D29308A0B6}"/>
                </a:ext>
              </a:extLst>
            </p:cNvPr>
            <p:cNvSpPr/>
            <p:nvPr/>
          </p:nvSpPr>
          <p:spPr>
            <a:xfrm>
              <a:off x="381000" y="3172856"/>
              <a:ext cx="1498402" cy="707550"/>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Engineering &amp; Schematics(2D)</a:t>
              </a:r>
            </a:p>
          </p:txBody>
        </p:sp>
        <p:cxnSp>
          <p:nvCxnSpPr>
            <p:cNvPr id="10" name="Straight Arrow Connector 9">
              <a:extLst>
                <a:ext uri="{FF2B5EF4-FFF2-40B4-BE49-F238E27FC236}">
                  <a16:creationId xmlns:a16="http://schemas.microsoft.com/office/drawing/2014/main" id="{84BD00A4-E250-E4C0-70F9-242742E5C0FA}"/>
                </a:ext>
              </a:extLst>
            </p:cNvPr>
            <p:cNvCxnSpPr>
              <a:cxnSpLocks/>
              <a:stCxn id="5" idx="1"/>
              <a:endCxn id="3" idx="3"/>
            </p:cNvCxnSpPr>
            <p:nvPr/>
          </p:nvCxnSpPr>
          <p:spPr>
            <a:xfrm flipH="1">
              <a:off x="1408261" y="2481826"/>
              <a:ext cx="218913"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1" name="MM">
            <a:extLst>
              <a:ext uri="{FF2B5EF4-FFF2-40B4-BE49-F238E27FC236}">
                <a16:creationId xmlns:a16="http://schemas.microsoft.com/office/drawing/2014/main" id="{267D8DEE-CE08-6DEE-C5C0-1345CA81FB02}"/>
              </a:ext>
            </a:extLst>
          </p:cNvPr>
          <p:cNvGrpSpPr/>
          <p:nvPr/>
        </p:nvGrpSpPr>
        <p:grpSpPr>
          <a:xfrm>
            <a:off x="1315601" y="2941594"/>
            <a:ext cx="2998628" cy="2061950"/>
            <a:chOff x="219263" y="4084952"/>
            <a:chExt cx="2998628" cy="2621739"/>
          </a:xfrm>
        </p:grpSpPr>
        <p:cxnSp>
          <p:nvCxnSpPr>
            <p:cNvPr id="12" name="Straight Arrow Connector 11">
              <a:extLst>
                <a:ext uri="{FF2B5EF4-FFF2-40B4-BE49-F238E27FC236}">
                  <a16:creationId xmlns:a16="http://schemas.microsoft.com/office/drawing/2014/main" id="{5E602D24-0942-EA97-3236-73C2862F0D3F}"/>
                </a:ext>
              </a:extLst>
            </p:cNvPr>
            <p:cNvCxnSpPr>
              <a:cxnSpLocks/>
              <a:endCxn id="15" idx="0"/>
            </p:cNvCxnSpPr>
            <p:nvPr/>
          </p:nvCxnSpPr>
          <p:spPr>
            <a:xfrm flipH="1">
              <a:off x="1718577" y="4084952"/>
              <a:ext cx="1" cy="33137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51">
              <a:extLst>
                <a:ext uri="{FF2B5EF4-FFF2-40B4-BE49-F238E27FC236}">
                  <a16:creationId xmlns:a16="http://schemas.microsoft.com/office/drawing/2014/main" id="{76C68D5F-E4D1-E17B-D23A-BFED65115FE2}"/>
                </a:ext>
              </a:extLst>
            </p:cNvPr>
            <p:cNvSpPr/>
            <p:nvPr/>
          </p:nvSpPr>
          <p:spPr>
            <a:xfrm>
              <a:off x="381000" y="5863048"/>
              <a:ext cx="1333034" cy="610956"/>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Supply Chain</a:t>
              </a:r>
            </a:p>
          </p:txBody>
        </p:sp>
        <p:sp>
          <p:nvSpPr>
            <p:cNvPr id="14" name="Rounded Rectangle 51">
              <a:extLst>
                <a:ext uri="{FF2B5EF4-FFF2-40B4-BE49-F238E27FC236}">
                  <a16:creationId xmlns:a16="http://schemas.microsoft.com/office/drawing/2014/main" id="{3F194B74-B437-D25A-E98E-31E44557FFEF}"/>
                </a:ext>
              </a:extLst>
            </p:cNvPr>
            <p:cNvSpPr/>
            <p:nvPr/>
          </p:nvSpPr>
          <p:spPr>
            <a:xfrm>
              <a:off x="1828800" y="5872786"/>
              <a:ext cx="1247654" cy="610956"/>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Site Control</a:t>
              </a:r>
            </a:p>
          </p:txBody>
        </p:sp>
        <p:sp>
          <p:nvSpPr>
            <p:cNvPr id="15" name="Rectangle 14">
              <a:extLst>
                <a:ext uri="{FF2B5EF4-FFF2-40B4-BE49-F238E27FC236}">
                  <a16:creationId xmlns:a16="http://schemas.microsoft.com/office/drawing/2014/main" id="{D45129BD-92A1-7CBF-58BF-C5C35E1A2A41}"/>
                </a:ext>
              </a:extLst>
            </p:cNvPr>
            <p:cNvSpPr/>
            <p:nvPr/>
          </p:nvSpPr>
          <p:spPr>
            <a:xfrm>
              <a:off x="219263" y="4416324"/>
              <a:ext cx="2998628" cy="2290367"/>
            </a:xfrm>
            <a:prstGeom prst="rect">
              <a:avLst/>
            </a:prstGeom>
            <a:noFill/>
            <a:ln w="1905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Material Management Systems</a:t>
              </a:r>
            </a:p>
          </p:txBody>
        </p:sp>
        <p:sp>
          <p:nvSpPr>
            <p:cNvPr id="16" name="Rounded Rectangle 51">
              <a:extLst>
                <a:ext uri="{FF2B5EF4-FFF2-40B4-BE49-F238E27FC236}">
                  <a16:creationId xmlns:a16="http://schemas.microsoft.com/office/drawing/2014/main" id="{30D5D771-B05E-40D3-C9B2-B9818B3C48C1}"/>
                </a:ext>
              </a:extLst>
            </p:cNvPr>
            <p:cNvSpPr/>
            <p:nvPr/>
          </p:nvSpPr>
          <p:spPr>
            <a:xfrm>
              <a:off x="1143000" y="4971121"/>
              <a:ext cx="1132603" cy="610956"/>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Reference Data</a:t>
              </a:r>
            </a:p>
          </p:txBody>
        </p:sp>
      </p:grpSp>
      <p:grpSp>
        <p:nvGrpSpPr>
          <p:cNvPr id="17" name="ERP">
            <a:extLst>
              <a:ext uri="{FF2B5EF4-FFF2-40B4-BE49-F238E27FC236}">
                <a16:creationId xmlns:a16="http://schemas.microsoft.com/office/drawing/2014/main" id="{361D6CAE-7B91-28FC-DF12-24B3A4E99AD4}"/>
              </a:ext>
            </a:extLst>
          </p:cNvPr>
          <p:cNvGrpSpPr/>
          <p:nvPr/>
        </p:nvGrpSpPr>
        <p:grpSpPr>
          <a:xfrm>
            <a:off x="4305895" y="4537421"/>
            <a:ext cx="2032963" cy="479427"/>
            <a:chOff x="3208000" y="5322312"/>
            <a:chExt cx="2032963" cy="479427"/>
          </a:xfrm>
        </p:grpSpPr>
        <p:cxnSp>
          <p:nvCxnSpPr>
            <p:cNvPr id="18" name="Straight Arrow Connector 17">
              <a:extLst>
                <a:ext uri="{FF2B5EF4-FFF2-40B4-BE49-F238E27FC236}">
                  <a16:creationId xmlns:a16="http://schemas.microsoft.com/office/drawing/2014/main" id="{BE3C4369-FEE6-3E3E-96D2-10890789C2D1}"/>
                </a:ext>
              </a:extLst>
            </p:cNvPr>
            <p:cNvCxnSpPr>
              <a:cxnSpLocks/>
              <a:stCxn id="19" idx="1"/>
            </p:cNvCxnSpPr>
            <p:nvPr/>
          </p:nvCxnSpPr>
          <p:spPr>
            <a:xfrm flipH="1">
              <a:off x="3208000" y="5562026"/>
              <a:ext cx="52790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3C421C9-B7AC-1480-4782-D9824FC38C0B}"/>
                </a:ext>
              </a:extLst>
            </p:cNvPr>
            <p:cNvSpPr/>
            <p:nvPr/>
          </p:nvSpPr>
          <p:spPr>
            <a:xfrm>
              <a:off x="3735902" y="5322312"/>
              <a:ext cx="1505061" cy="479427"/>
            </a:xfrm>
            <a:prstGeom prst="rect">
              <a:avLst/>
            </a:prstGeom>
            <a:no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ERP</a:t>
              </a:r>
            </a:p>
          </p:txBody>
        </p:sp>
      </p:grpSp>
      <p:grpSp>
        <p:nvGrpSpPr>
          <p:cNvPr id="21" name="DM">
            <a:extLst>
              <a:ext uri="{FF2B5EF4-FFF2-40B4-BE49-F238E27FC236}">
                <a16:creationId xmlns:a16="http://schemas.microsoft.com/office/drawing/2014/main" id="{8A2B7A34-5508-46E8-292F-27840B446E2D}"/>
              </a:ext>
            </a:extLst>
          </p:cNvPr>
          <p:cNvGrpSpPr/>
          <p:nvPr/>
        </p:nvGrpSpPr>
        <p:grpSpPr>
          <a:xfrm>
            <a:off x="4314227" y="1435067"/>
            <a:ext cx="4730006" cy="600569"/>
            <a:chOff x="2594465" y="1431398"/>
            <a:chExt cx="4730006" cy="600569"/>
          </a:xfrm>
        </p:grpSpPr>
        <p:cxnSp>
          <p:nvCxnSpPr>
            <p:cNvPr id="22" name="Straight Arrow Connector 21">
              <a:extLst>
                <a:ext uri="{FF2B5EF4-FFF2-40B4-BE49-F238E27FC236}">
                  <a16:creationId xmlns:a16="http://schemas.microsoft.com/office/drawing/2014/main" id="{EE5971DC-2367-CDE2-03CB-C5446FEE003D}"/>
                </a:ext>
              </a:extLst>
            </p:cNvPr>
            <p:cNvCxnSpPr>
              <a:cxnSpLocks/>
              <a:endCxn id="23" idx="1"/>
            </p:cNvCxnSpPr>
            <p:nvPr/>
          </p:nvCxnSpPr>
          <p:spPr>
            <a:xfrm>
              <a:off x="2594465" y="1731683"/>
              <a:ext cx="3313526"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ounded Rectangle 51">
              <a:extLst>
                <a:ext uri="{FF2B5EF4-FFF2-40B4-BE49-F238E27FC236}">
                  <a16:creationId xmlns:a16="http://schemas.microsoft.com/office/drawing/2014/main" id="{60EA385D-DBF3-C76C-9639-2763C32C46D6}"/>
                </a:ext>
              </a:extLst>
            </p:cNvPr>
            <p:cNvSpPr/>
            <p:nvPr/>
          </p:nvSpPr>
          <p:spPr>
            <a:xfrm>
              <a:off x="5907991" y="1431398"/>
              <a:ext cx="1416480" cy="600569"/>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Document Management</a:t>
              </a:r>
            </a:p>
          </p:txBody>
        </p:sp>
      </p:grpSp>
      <p:grpSp>
        <p:nvGrpSpPr>
          <p:cNvPr id="24" name="Construction">
            <a:extLst>
              <a:ext uri="{FF2B5EF4-FFF2-40B4-BE49-F238E27FC236}">
                <a16:creationId xmlns:a16="http://schemas.microsoft.com/office/drawing/2014/main" id="{7FFE4E22-29B2-8477-0A10-098F631FB9DC}"/>
              </a:ext>
            </a:extLst>
          </p:cNvPr>
          <p:cNvGrpSpPr/>
          <p:nvPr/>
        </p:nvGrpSpPr>
        <p:grpSpPr>
          <a:xfrm>
            <a:off x="4318053" y="2558555"/>
            <a:ext cx="2021870" cy="708026"/>
            <a:chOff x="3203166" y="3226432"/>
            <a:chExt cx="2021870" cy="708026"/>
          </a:xfrm>
        </p:grpSpPr>
        <p:sp>
          <p:nvSpPr>
            <p:cNvPr id="25" name="Rounded Rectangle 51">
              <a:extLst>
                <a:ext uri="{FF2B5EF4-FFF2-40B4-BE49-F238E27FC236}">
                  <a16:creationId xmlns:a16="http://schemas.microsoft.com/office/drawing/2014/main" id="{BA5C2218-7EC0-E55E-13B8-47FA01F6DEAA}"/>
                </a:ext>
              </a:extLst>
            </p:cNvPr>
            <p:cNvSpPr/>
            <p:nvPr/>
          </p:nvSpPr>
          <p:spPr>
            <a:xfrm>
              <a:off x="3717857" y="3226432"/>
              <a:ext cx="1507179" cy="708026"/>
            </a:xfrm>
            <a:prstGeom prst="rect">
              <a:avLst/>
            </a:prstGeom>
            <a:solidFill>
              <a:schemeClr val="accent1">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Construction &amp; Commissioning</a:t>
              </a:r>
            </a:p>
          </p:txBody>
        </p:sp>
        <p:cxnSp>
          <p:nvCxnSpPr>
            <p:cNvPr id="26" name="Straight Arrow Connector 25">
              <a:extLst>
                <a:ext uri="{FF2B5EF4-FFF2-40B4-BE49-F238E27FC236}">
                  <a16:creationId xmlns:a16="http://schemas.microsoft.com/office/drawing/2014/main" id="{60C0318D-615F-A1B7-3030-255F7066F738}"/>
                </a:ext>
              </a:extLst>
            </p:cNvPr>
            <p:cNvCxnSpPr>
              <a:cxnSpLocks/>
            </p:cNvCxnSpPr>
            <p:nvPr/>
          </p:nvCxnSpPr>
          <p:spPr>
            <a:xfrm flipH="1">
              <a:off x="3203166" y="3477258"/>
              <a:ext cx="524076"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 name="DT">
            <a:extLst>
              <a:ext uri="{FF2B5EF4-FFF2-40B4-BE49-F238E27FC236}">
                <a16:creationId xmlns:a16="http://schemas.microsoft.com/office/drawing/2014/main" id="{3451998E-9D37-B453-6CDB-1AC82DB5454C}"/>
              </a:ext>
            </a:extLst>
          </p:cNvPr>
          <p:cNvGrpSpPr/>
          <p:nvPr/>
        </p:nvGrpSpPr>
        <p:grpSpPr>
          <a:xfrm>
            <a:off x="4314227" y="965496"/>
            <a:ext cx="6948292" cy="4099364"/>
            <a:chOff x="2819775" y="1441353"/>
            <a:chExt cx="6948292" cy="4099364"/>
          </a:xfrm>
        </p:grpSpPr>
        <p:cxnSp>
          <p:nvCxnSpPr>
            <p:cNvPr id="28" name="Straight Arrow Connector 27">
              <a:extLst>
                <a:ext uri="{FF2B5EF4-FFF2-40B4-BE49-F238E27FC236}">
                  <a16:creationId xmlns:a16="http://schemas.microsoft.com/office/drawing/2014/main" id="{688EB670-C334-4656-AAE1-9F15FE3F68A7}"/>
                </a:ext>
              </a:extLst>
            </p:cNvPr>
            <p:cNvCxnSpPr>
              <a:cxnSpLocks/>
              <a:endCxn id="25" idx="3"/>
            </p:cNvCxnSpPr>
            <p:nvPr/>
          </p:nvCxnSpPr>
          <p:spPr>
            <a:xfrm flipH="1">
              <a:off x="4845471" y="3388425"/>
              <a:ext cx="1287830" cy="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ounded Rectangle 51">
              <a:extLst>
                <a:ext uri="{FF2B5EF4-FFF2-40B4-BE49-F238E27FC236}">
                  <a16:creationId xmlns:a16="http://schemas.microsoft.com/office/drawing/2014/main" id="{B79CF64E-ACDA-FB1E-CE0D-A95769178322}"/>
                </a:ext>
              </a:extLst>
            </p:cNvPr>
            <p:cNvSpPr/>
            <p:nvPr/>
          </p:nvSpPr>
          <p:spPr>
            <a:xfrm>
              <a:off x="8554039" y="3655620"/>
              <a:ext cx="1214026" cy="475488"/>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Client</a:t>
              </a:r>
            </a:p>
          </p:txBody>
        </p:sp>
        <p:sp>
          <p:nvSpPr>
            <p:cNvPr id="30" name="Rounded Rectangle 51">
              <a:extLst>
                <a:ext uri="{FF2B5EF4-FFF2-40B4-BE49-F238E27FC236}">
                  <a16:creationId xmlns:a16="http://schemas.microsoft.com/office/drawing/2014/main" id="{782BB470-4DF2-5522-41E9-3172EDF04165}"/>
                </a:ext>
              </a:extLst>
            </p:cNvPr>
            <p:cNvSpPr/>
            <p:nvPr/>
          </p:nvSpPr>
          <p:spPr>
            <a:xfrm>
              <a:off x="8554039" y="4299160"/>
              <a:ext cx="1214026" cy="472020"/>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Asset Integrity</a:t>
              </a:r>
            </a:p>
          </p:txBody>
        </p:sp>
        <p:cxnSp>
          <p:nvCxnSpPr>
            <p:cNvPr id="31" name="Straight Arrow Connector 30">
              <a:extLst>
                <a:ext uri="{FF2B5EF4-FFF2-40B4-BE49-F238E27FC236}">
                  <a16:creationId xmlns:a16="http://schemas.microsoft.com/office/drawing/2014/main" id="{3839FF98-6DC8-BED9-A91A-09F5C2242699}"/>
                </a:ext>
              </a:extLst>
            </p:cNvPr>
            <p:cNvCxnSpPr>
              <a:cxnSpLocks/>
              <a:stCxn id="29" idx="1"/>
            </p:cNvCxnSpPr>
            <p:nvPr/>
          </p:nvCxnSpPr>
          <p:spPr>
            <a:xfrm flipH="1" flipV="1">
              <a:off x="7549781" y="3893363"/>
              <a:ext cx="1004258" cy="1"/>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FD9D84B-8F3A-8E90-F4F7-F35AB1513DDC}"/>
                </a:ext>
              </a:extLst>
            </p:cNvPr>
            <p:cNvCxnSpPr>
              <a:cxnSpLocks/>
              <a:stCxn id="30" idx="1"/>
            </p:cNvCxnSpPr>
            <p:nvPr/>
          </p:nvCxnSpPr>
          <p:spPr>
            <a:xfrm flipH="1">
              <a:off x="7549781" y="4535170"/>
              <a:ext cx="1004258"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Rounded Rectangle 51">
              <a:extLst>
                <a:ext uri="{FF2B5EF4-FFF2-40B4-BE49-F238E27FC236}">
                  <a16:creationId xmlns:a16="http://schemas.microsoft.com/office/drawing/2014/main" id="{99A5D270-122E-6E33-7FF8-528CFBEA1F08}"/>
                </a:ext>
              </a:extLst>
            </p:cNvPr>
            <p:cNvSpPr/>
            <p:nvPr/>
          </p:nvSpPr>
          <p:spPr>
            <a:xfrm>
              <a:off x="8554041" y="3015547"/>
              <a:ext cx="1214026" cy="475488"/>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Visualization</a:t>
              </a:r>
            </a:p>
          </p:txBody>
        </p:sp>
        <p:cxnSp>
          <p:nvCxnSpPr>
            <p:cNvPr id="34" name="Straight Arrow Connector 33">
              <a:extLst>
                <a:ext uri="{FF2B5EF4-FFF2-40B4-BE49-F238E27FC236}">
                  <a16:creationId xmlns:a16="http://schemas.microsoft.com/office/drawing/2014/main" id="{E8277281-1CCE-95AC-D783-9392298ED8D0}"/>
                </a:ext>
              </a:extLst>
            </p:cNvPr>
            <p:cNvCxnSpPr>
              <a:cxnSpLocks/>
              <a:stCxn id="33" idx="1"/>
            </p:cNvCxnSpPr>
            <p:nvPr/>
          </p:nvCxnSpPr>
          <p:spPr>
            <a:xfrm flipH="1">
              <a:off x="7549783" y="3253291"/>
              <a:ext cx="1004258"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Rounded Rectangle 51">
              <a:extLst>
                <a:ext uri="{FF2B5EF4-FFF2-40B4-BE49-F238E27FC236}">
                  <a16:creationId xmlns:a16="http://schemas.microsoft.com/office/drawing/2014/main" id="{9EB7B0FF-706D-96C0-E291-B11859498852}"/>
                </a:ext>
              </a:extLst>
            </p:cNvPr>
            <p:cNvSpPr/>
            <p:nvPr/>
          </p:nvSpPr>
          <p:spPr>
            <a:xfrm>
              <a:off x="6133303" y="2677765"/>
              <a:ext cx="1416481" cy="2814940"/>
            </a:xfrm>
            <a:prstGeom prst="rect">
              <a:avLst/>
            </a:prstGeom>
            <a:solidFill>
              <a:schemeClr val="accent1">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Integrated Digital Delivery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(Digital Twin)</a:t>
              </a:r>
            </a:p>
          </p:txBody>
        </p:sp>
        <p:cxnSp>
          <p:nvCxnSpPr>
            <p:cNvPr id="36" name="Straight Arrow Connector 35">
              <a:extLst>
                <a:ext uri="{FF2B5EF4-FFF2-40B4-BE49-F238E27FC236}">
                  <a16:creationId xmlns:a16="http://schemas.microsoft.com/office/drawing/2014/main" id="{73B362A2-4939-EADA-64AF-701329730A3F}"/>
                </a:ext>
              </a:extLst>
            </p:cNvPr>
            <p:cNvCxnSpPr>
              <a:cxnSpLocks/>
              <a:endCxn id="39" idx="3"/>
            </p:cNvCxnSpPr>
            <p:nvPr/>
          </p:nvCxnSpPr>
          <p:spPr>
            <a:xfrm flipH="1">
              <a:off x="4845471" y="4159372"/>
              <a:ext cx="1287830"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2F40AF8-34BE-C686-2632-58D8EAA0D9C8}"/>
                </a:ext>
              </a:extLst>
            </p:cNvPr>
            <p:cNvCxnSpPr>
              <a:cxnSpLocks/>
            </p:cNvCxnSpPr>
            <p:nvPr/>
          </p:nvCxnSpPr>
          <p:spPr>
            <a:xfrm>
              <a:off x="2819775" y="2793581"/>
              <a:ext cx="3313526"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58CD76F-D3D3-F3B3-E6B8-4641322F50C8}"/>
                </a:ext>
              </a:extLst>
            </p:cNvPr>
            <p:cNvCxnSpPr>
              <a:cxnSpLocks/>
              <a:stCxn id="23" idx="2"/>
              <a:endCxn id="35" idx="0"/>
            </p:cNvCxnSpPr>
            <p:nvPr/>
          </p:nvCxnSpPr>
          <p:spPr>
            <a:xfrm>
              <a:off x="6841541" y="2511493"/>
              <a:ext cx="3" cy="166272"/>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D1B7DF7-09F7-615C-0C3A-7F78FDC116BB}"/>
                </a:ext>
              </a:extLst>
            </p:cNvPr>
            <p:cNvSpPr txBox="1"/>
            <p:nvPr/>
          </p:nvSpPr>
          <p:spPr>
            <a:xfrm>
              <a:off x="3338300" y="4020872"/>
              <a:ext cx="1507171" cy="276999"/>
            </a:xfrm>
            <a:prstGeom prst="rect">
              <a:avLst/>
            </a:prstGeom>
            <a:noFill/>
            <a:ln w="9525">
              <a:solidFill>
                <a:schemeClr val="tx2"/>
              </a:solidFill>
              <a:prstDash val="solid"/>
            </a:ln>
          </p:spPr>
          <p:txBody>
            <a:bodyPr wrap="squar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Schedule</a:t>
              </a:r>
            </a:p>
          </p:txBody>
        </p:sp>
        <p:cxnSp>
          <p:nvCxnSpPr>
            <p:cNvPr id="40" name="Straight Arrow Connector 39">
              <a:extLst>
                <a:ext uri="{FF2B5EF4-FFF2-40B4-BE49-F238E27FC236}">
                  <a16:creationId xmlns:a16="http://schemas.microsoft.com/office/drawing/2014/main" id="{82672FA3-6B53-6CC0-5708-4912F053BAAE}"/>
                </a:ext>
              </a:extLst>
            </p:cNvPr>
            <p:cNvCxnSpPr>
              <a:cxnSpLocks/>
              <a:endCxn id="15" idx="3"/>
            </p:cNvCxnSpPr>
            <p:nvPr/>
          </p:nvCxnSpPr>
          <p:spPr>
            <a:xfrm flipH="1" flipV="1">
              <a:off x="2819777" y="4578735"/>
              <a:ext cx="3313524" cy="1617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85C5BF85-8B5F-0375-2A41-FDB722D16B8D}"/>
                </a:ext>
              </a:extLst>
            </p:cNvPr>
            <p:cNvSpPr/>
            <p:nvPr/>
          </p:nvSpPr>
          <p:spPr>
            <a:xfrm>
              <a:off x="5517712" y="1441353"/>
              <a:ext cx="2655596" cy="4099364"/>
            </a:xfrm>
            <a:prstGeom prst="rect">
              <a:avLst/>
            </a:prstGeom>
            <a:noFill/>
            <a:ln w="1905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Asset Information Systems</a:t>
              </a:r>
            </a:p>
          </p:txBody>
        </p:sp>
      </p:grpSp>
    </p:spTree>
    <p:extLst>
      <p:ext uri="{BB962C8B-B14F-4D97-AF65-F5344CB8AC3E}">
        <p14:creationId xmlns:p14="http://schemas.microsoft.com/office/powerpoint/2010/main" val="40109126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57548-9E96-5EE0-8953-0A5F6D17FAD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45F4B12-BBAA-E120-FF35-B5473DC059A8}"/>
              </a:ext>
            </a:extLst>
          </p:cNvPr>
          <p:cNvSpPr txBox="1">
            <a:spLocks noGrp="1" noRot="1" noMove="1" noResize="1" noEditPoints="1" noAdjustHandles="1" noChangeArrowheads="1" noChangeShapeType="1"/>
          </p:cNvSpPr>
          <p:nvPr/>
        </p:nvSpPr>
        <p:spPr>
          <a:xfrm>
            <a:off x="899319" y="514350"/>
            <a:ext cx="7086600"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Arial" pitchFamily="34" charset="0"/>
              </a:rPr>
              <a:t>EPC Digital Production Platform</a:t>
            </a:r>
          </a:p>
        </p:txBody>
      </p:sp>
      <p:grpSp>
        <p:nvGrpSpPr>
          <p:cNvPr id="76" name="Group 75">
            <a:extLst>
              <a:ext uri="{FF2B5EF4-FFF2-40B4-BE49-F238E27FC236}">
                <a16:creationId xmlns:a16="http://schemas.microsoft.com/office/drawing/2014/main" id="{0CE3F605-DBE9-F941-435D-FE4A5B53FDE1}"/>
              </a:ext>
            </a:extLst>
          </p:cNvPr>
          <p:cNvGrpSpPr/>
          <p:nvPr/>
        </p:nvGrpSpPr>
        <p:grpSpPr>
          <a:xfrm>
            <a:off x="6193392" y="1152833"/>
            <a:ext cx="3657600" cy="2060459"/>
            <a:chOff x="5109394" y="2511421"/>
            <a:chExt cx="2998628" cy="1909550"/>
          </a:xfrm>
        </p:grpSpPr>
        <p:sp>
          <p:nvSpPr>
            <p:cNvPr id="13" name="Rounded Rectangle 51">
              <a:extLst>
                <a:ext uri="{FF2B5EF4-FFF2-40B4-BE49-F238E27FC236}">
                  <a16:creationId xmlns:a16="http://schemas.microsoft.com/office/drawing/2014/main" id="{AE8214A9-E195-B59D-6BE4-98E64F6B6230}"/>
                </a:ext>
              </a:extLst>
            </p:cNvPr>
            <p:cNvSpPr/>
            <p:nvPr/>
          </p:nvSpPr>
          <p:spPr>
            <a:xfrm>
              <a:off x="6766719" y="3774759"/>
              <a:ext cx="1247655" cy="474277"/>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Supply Chain</a:t>
              </a:r>
            </a:p>
          </p:txBody>
        </p:sp>
        <p:sp>
          <p:nvSpPr>
            <p:cNvPr id="14" name="Rounded Rectangle 51">
              <a:extLst>
                <a:ext uri="{FF2B5EF4-FFF2-40B4-BE49-F238E27FC236}">
                  <a16:creationId xmlns:a16="http://schemas.microsoft.com/office/drawing/2014/main" id="{9B977124-38E7-5FFB-088A-88DEB71954FF}"/>
                </a:ext>
              </a:extLst>
            </p:cNvPr>
            <p:cNvSpPr/>
            <p:nvPr/>
          </p:nvSpPr>
          <p:spPr>
            <a:xfrm>
              <a:off x="6766719" y="3077047"/>
              <a:ext cx="1247654" cy="480506"/>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Site Control</a:t>
              </a:r>
            </a:p>
          </p:txBody>
        </p:sp>
        <p:sp>
          <p:nvSpPr>
            <p:cNvPr id="15" name="Rectangle 14">
              <a:extLst>
                <a:ext uri="{FF2B5EF4-FFF2-40B4-BE49-F238E27FC236}">
                  <a16:creationId xmlns:a16="http://schemas.microsoft.com/office/drawing/2014/main" id="{AF9F9CA0-D648-BEA1-7E56-F7A7004A9DA1}"/>
                </a:ext>
              </a:extLst>
            </p:cNvPr>
            <p:cNvSpPr/>
            <p:nvPr/>
          </p:nvSpPr>
          <p:spPr>
            <a:xfrm>
              <a:off x="5109394" y="2511421"/>
              <a:ext cx="2998628" cy="1909550"/>
            </a:xfrm>
            <a:prstGeom prst="rect">
              <a:avLst/>
            </a:prstGeom>
            <a:noFill/>
            <a:ln w="1905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Material Management Systems</a:t>
              </a:r>
            </a:p>
          </p:txBody>
        </p:sp>
        <p:sp>
          <p:nvSpPr>
            <p:cNvPr id="16" name="Rounded Rectangle 51">
              <a:extLst>
                <a:ext uri="{FF2B5EF4-FFF2-40B4-BE49-F238E27FC236}">
                  <a16:creationId xmlns:a16="http://schemas.microsoft.com/office/drawing/2014/main" id="{094C41B0-F360-2AAB-C6B2-1EA82F416FE9}"/>
                </a:ext>
              </a:extLst>
            </p:cNvPr>
            <p:cNvSpPr/>
            <p:nvPr/>
          </p:nvSpPr>
          <p:spPr>
            <a:xfrm>
              <a:off x="5271131" y="3077047"/>
              <a:ext cx="1333034" cy="480506"/>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Reference Data</a:t>
              </a:r>
            </a:p>
          </p:txBody>
        </p:sp>
        <p:sp>
          <p:nvSpPr>
            <p:cNvPr id="47" name="Rounded Rectangle 51">
              <a:extLst>
                <a:ext uri="{FF2B5EF4-FFF2-40B4-BE49-F238E27FC236}">
                  <a16:creationId xmlns:a16="http://schemas.microsoft.com/office/drawing/2014/main" id="{5C811B36-CBB6-779E-1D7A-69195150D32B}"/>
                </a:ext>
              </a:extLst>
            </p:cNvPr>
            <p:cNvSpPr/>
            <p:nvPr/>
          </p:nvSpPr>
          <p:spPr>
            <a:xfrm>
              <a:off x="5275674" y="3774759"/>
              <a:ext cx="1333034" cy="480506"/>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dirty="0">
                  <a:solidFill>
                    <a:srgbClr val="FFFFFF"/>
                  </a:solidFill>
                  <a:latin typeface="Trebuchet MS" panose="020B0603020202020204" pitchFamily="34" charset="0"/>
                  <a:cs typeface="Calibri" panose="020F0502020204030204" pitchFamily="34" charset="0"/>
                </a:rPr>
                <a:t>Requisitions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Agreements</a:t>
              </a:r>
            </a:p>
          </p:txBody>
        </p:sp>
      </p:grpSp>
      <p:grpSp>
        <p:nvGrpSpPr>
          <p:cNvPr id="17" name="ERP">
            <a:extLst>
              <a:ext uri="{FF2B5EF4-FFF2-40B4-BE49-F238E27FC236}">
                <a16:creationId xmlns:a16="http://schemas.microsoft.com/office/drawing/2014/main" id="{7068C753-5CD8-B0B3-22AB-D219B78A354B}"/>
              </a:ext>
            </a:extLst>
          </p:cNvPr>
          <p:cNvGrpSpPr/>
          <p:nvPr/>
        </p:nvGrpSpPr>
        <p:grpSpPr>
          <a:xfrm>
            <a:off x="9850992" y="2733865"/>
            <a:ext cx="1411527" cy="479427"/>
            <a:chOff x="2982071" y="5322312"/>
            <a:chExt cx="2258892" cy="479427"/>
          </a:xfrm>
        </p:grpSpPr>
        <p:cxnSp>
          <p:nvCxnSpPr>
            <p:cNvPr id="18" name="Straight Arrow Connector 17">
              <a:extLst>
                <a:ext uri="{FF2B5EF4-FFF2-40B4-BE49-F238E27FC236}">
                  <a16:creationId xmlns:a16="http://schemas.microsoft.com/office/drawing/2014/main" id="{D30B3EF8-78A7-866E-1828-D6B07AA2F740}"/>
                </a:ext>
              </a:extLst>
            </p:cNvPr>
            <p:cNvCxnSpPr>
              <a:cxnSpLocks/>
              <a:stCxn id="19" idx="1"/>
            </p:cNvCxnSpPr>
            <p:nvPr/>
          </p:nvCxnSpPr>
          <p:spPr>
            <a:xfrm flipH="1">
              <a:off x="2982071" y="5562026"/>
              <a:ext cx="753831" cy="568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B7B446-5491-B801-DB17-3F4C4819E78F}"/>
                </a:ext>
              </a:extLst>
            </p:cNvPr>
            <p:cNvSpPr/>
            <p:nvPr/>
          </p:nvSpPr>
          <p:spPr>
            <a:xfrm>
              <a:off x="3735902" y="5322312"/>
              <a:ext cx="1505061" cy="479427"/>
            </a:xfrm>
            <a:prstGeom prst="rect">
              <a:avLst/>
            </a:prstGeom>
            <a:no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ERP</a:t>
              </a:r>
            </a:p>
          </p:txBody>
        </p:sp>
      </p:grpSp>
      <p:grpSp>
        <p:nvGrpSpPr>
          <p:cNvPr id="2" name="ES">
            <a:extLst>
              <a:ext uri="{FF2B5EF4-FFF2-40B4-BE49-F238E27FC236}">
                <a16:creationId xmlns:a16="http://schemas.microsoft.com/office/drawing/2014/main" id="{F8D00389-F25B-BA93-F68E-AF196096D6F7}"/>
              </a:ext>
            </a:extLst>
          </p:cNvPr>
          <p:cNvGrpSpPr/>
          <p:nvPr/>
        </p:nvGrpSpPr>
        <p:grpSpPr>
          <a:xfrm>
            <a:off x="1903025" y="1152833"/>
            <a:ext cx="2998623" cy="3657599"/>
            <a:chOff x="219264" y="1339457"/>
            <a:chExt cx="2998628" cy="3221057"/>
          </a:xfrm>
        </p:grpSpPr>
        <p:sp>
          <p:nvSpPr>
            <p:cNvPr id="3" name="Rounded Rectangle 51">
              <a:extLst>
                <a:ext uri="{FF2B5EF4-FFF2-40B4-BE49-F238E27FC236}">
                  <a16:creationId xmlns:a16="http://schemas.microsoft.com/office/drawing/2014/main" id="{54F983A1-4C21-14D0-853D-897388C9935C}"/>
                </a:ext>
              </a:extLst>
            </p:cNvPr>
            <p:cNvSpPr/>
            <p:nvPr/>
          </p:nvSpPr>
          <p:spPr>
            <a:xfrm>
              <a:off x="355034" y="1659111"/>
              <a:ext cx="1143002" cy="1936493"/>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Plant Design Systems (3D)</a:t>
              </a:r>
            </a:p>
          </p:txBody>
        </p:sp>
        <p:sp>
          <p:nvSpPr>
            <p:cNvPr id="8" name="Rectangle 7">
              <a:extLst>
                <a:ext uri="{FF2B5EF4-FFF2-40B4-BE49-F238E27FC236}">
                  <a16:creationId xmlns:a16="http://schemas.microsoft.com/office/drawing/2014/main" id="{44EC27F4-5745-E251-6147-181BC43D4570}"/>
                </a:ext>
              </a:extLst>
            </p:cNvPr>
            <p:cNvSpPr/>
            <p:nvPr/>
          </p:nvSpPr>
          <p:spPr>
            <a:xfrm>
              <a:off x="219264" y="1339457"/>
              <a:ext cx="2998628" cy="3221057"/>
            </a:xfrm>
            <a:prstGeom prst="rect">
              <a:avLst/>
            </a:prstGeom>
            <a:noFill/>
            <a:ln w="1905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Engineering Systems</a:t>
              </a:r>
            </a:p>
          </p:txBody>
        </p:sp>
        <p:sp>
          <p:nvSpPr>
            <p:cNvPr id="20" name="Rounded Rectangle 51">
              <a:extLst>
                <a:ext uri="{FF2B5EF4-FFF2-40B4-BE49-F238E27FC236}">
                  <a16:creationId xmlns:a16="http://schemas.microsoft.com/office/drawing/2014/main" id="{E5973B22-270A-C15B-7953-0EE8FCE6C236}"/>
                </a:ext>
              </a:extLst>
            </p:cNvPr>
            <p:cNvSpPr/>
            <p:nvPr/>
          </p:nvSpPr>
          <p:spPr>
            <a:xfrm>
              <a:off x="2092215" y="2333539"/>
              <a:ext cx="1066802" cy="830362"/>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Plant IM</a:t>
              </a:r>
            </a:p>
          </p:txBody>
        </p:sp>
        <p:sp>
          <p:nvSpPr>
            <p:cNvPr id="42" name="Rounded Rectangle 51">
              <a:extLst>
                <a:ext uri="{FF2B5EF4-FFF2-40B4-BE49-F238E27FC236}">
                  <a16:creationId xmlns:a16="http://schemas.microsoft.com/office/drawing/2014/main" id="{D4CB2058-BFDB-5F3C-C8BE-C443C526347E}"/>
                </a:ext>
              </a:extLst>
            </p:cNvPr>
            <p:cNvSpPr/>
            <p:nvPr/>
          </p:nvSpPr>
          <p:spPr>
            <a:xfrm>
              <a:off x="2087673" y="1659110"/>
              <a:ext cx="1066801" cy="527280"/>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Supports Management</a:t>
              </a:r>
            </a:p>
          </p:txBody>
        </p:sp>
      </p:grpSp>
      <p:cxnSp>
        <p:nvCxnSpPr>
          <p:cNvPr id="43" name="Straight Arrow Connector 42">
            <a:extLst>
              <a:ext uri="{FF2B5EF4-FFF2-40B4-BE49-F238E27FC236}">
                <a16:creationId xmlns:a16="http://schemas.microsoft.com/office/drawing/2014/main" id="{F28268AB-140D-7628-0D6E-D338BAAEEF4F}"/>
              </a:ext>
            </a:extLst>
          </p:cNvPr>
          <p:cNvCxnSpPr>
            <a:cxnSpLocks/>
          </p:cNvCxnSpPr>
          <p:nvPr/>
        </p:nvCxnSpPr>
        <p:spPr>
          <a:xfrm flipH="1">
            <a:off x="3181795" y="1733550"/>
            <a:ext cx="612426"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3286410-493B-D51A-5189-63F681135520}"/>
              </a:ext>
            </a:extLst>
          </p:cNvPr>
          <p:cNvCxnSpPr>
            <a:cxnSpLocks/>
          </p:cNvCxnSpPr>
          <p:nvPr/>
        </p:nvCxnSpPr>
        <p:spPr>
          <a:xfrm flipH="1">
            <a:off x="3181795" y="2479601"/>
            <a:ext cx="580804"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CC7FD8E-75DE-9D94-FEDF-2D97D189FDD2}"/>
              </a:ext>
            </a:extLst>
          </p:cNvPr>
          <p:cNvSpPr txBox="1"/>
          <p:nvPr/>
        </p:nvSpPr>
        <p:spPr>
          <a:xfrm>
            <a:off x="3217682" y="2266950"/>
            <a:ext cx="527902" cy="261610"/>
          </a:xfrm>
          <a:prstGeom prst="rect">
            <a:avLst/>
          </a:prstGeom>
          <a:noFill/>
        </p:spPr>
        <p:txBody>
          <a:bodyPr wrap="square" rtlCol="0">
            <a:spAutoFit/>
          </a:bodyPr>
          <a:lstStyle/>
          <a:p>
            <a:r>
              <a:rPr lang="en-US" sz="1100" dirty="0"/>
              <a:t>SPECs</a:t>
            </a:r>
          </a:p>
        </p:txBody>
      </p:sp>
      <p:cxnSp>
        <p:nvCxnSpPr>
          <p:cNvPr id="49" name="Straight Arrow Connector 48">
            <a:extLst>
              <a:ext uri="{FF2B5EF4-FFF2-40B4-BE49-F238E27FC236}">
                <a16:creationId xmlns:a16="http://schemas.microsoft.com/office/drawing/2014/main" id="{51BDD90C-B8A1-1C17-E6C6-9CDB398B5ADA}"/>
              </a:ext>
            </a:extLst>
          </p:cNvPr>
          <p:cNvCxnSpPr>
            <a:cxnSpLocks/>
          </p:cNvCxnSpPr>
          <p:nvPr/>
        </p:nvCxnSpPr>
        <p:spPr>
          <a:xfrm>
            <a:off x="3185319" y="3105150"/>
            <a:ext cx="580804"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1766807-F138-6D7C-F85D-F2B271FB0BD6}"/>
              </a:ext>
            </a:extLst>
          </p:cNvPr>
          <p:cNvSpPr txBox="1"/>
          <p:nvPr/>
        </p:nvSpPr>
        <p:spPr>
          <a:xfrm>
            <a:off x="3238802" y="2571750"/>
            <a:ext cx="486265" cy="261610"/>
          </a:xfrm>
          <a:prstGeom prst="rect">
            <a:avLst/>
          </a:prstGeom>
          <a:noFill/>
        </p:spPr>
        <p:txBody>
          <a:bodyPr wrap="square" rtlCol="0">
            <a:spAutoFit/>
          </a:bodyPr>
          <a:lstStyle/>
          <a:p>
            <a:r>
              <a:rPr lang="en-US" sz="1100" dirty="0"/>
              <a:t>DWG</a:t>
            </a:r>
          </a:p>
        </p:txBody>
      </p:sp>
      <p:cxnSp>
        <p:nvCxnSpPr>
          <p:cNvPr id="52" name="Straight Arrow Connector 51">
            <a:extLst>
              <a:ext uri="{FF2B5EF4-FFF2-40B4-BE49-F238E27FC236}">
                <a16:creationId xmlns:a16="http://schemas.microsoft.com/office/drawing/2014/main" id="{8F5A0B70-1381-8970-F120-9DEB2A0F115F}"/>
              </a:ext>
            </a:extLst>
          </p:cNvPr>
          <p:cNvCxnSpPr>
            <a:cxnSpLocks/>
          </p:cNvCxnSpPr>
          <p:nvPr/>
        </p:nvCxnSpPr>
        <p:spPr>
          <a:xfrm>
            <a:off x="3181795" y="2789942"/>
            <a:ext cx="613124"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CD7BA90-8B1C-B9E1-EC50-FD119E423900}"/>
              </a:ext>
            </a:extLst>
          </p:cNvPr>
          <p:cNvSpPr txBox="1"/>
          <p:nvPr/>
        </p:nvSpPr>
        <p:spPr>
          <a:xfrm>
            <a:off x="3266141" y="2876550"/>
            <a:ext cx="486265" cy="261610"/>
          </a:xfrm>
          <a:prstGeom prst="rect">
            <a:avLst/>
          </a:prstGeom>
          <a:noFill/>
        </p:spPr>
        <p:txBody>
          <a:bodyPr wrap="square" rtlCol="0">
            <a:spAutoFit/>
          </a:bodyPr>
          <a:lstStyle/>
          <a:p>
            <a:r>
              <a:rPr lang="en-US" sz="1100" dirty="0"/>
              <a:t>BOM</a:t>
            </a:r>
          </a:p>
        </p:txBody>
      </p:sp>
      <p:cxnSp>
        <p:nvCxnSpPr>
          <p:cNvPr id="54" name="Straight Arrow Connector 53">
            <a:extLst>
              <a:ext uri="{FF2B5EF4-FFF2-40B4-BE49-F238E27FC236}">
                <a16:creationId xmlns:a16="http://schemas.microsoft.com/office/drawing/2014/main" id="{863BC7A4-DD45-18B1-508C-F68B71B11DD8}"/>
              </a:ext>
            </a:extLst>
          </p:cNvPr>
          <p:cNvCxnSpPr>
            <a:cxnSpLocks/>
          </p:cNvCxnSpPr>
          <p:nvPr/>
        </p:nvCxnSpPr>
        <p:spPr>
          <a:xfrm>
            <a:off x="4901648" y="2879912"/>
            <a:ext cx="1291744"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7DCA6E3-9576-7EC4-E43E-F89D7F8CC7CB}"/>
              </a:ext>
            </a:extLst>
          </p:cNvPr>
          <p:cNvCxnSpPr>
            <a:cxnSpLocks/>
            <a:stCxn id="16" idx="1"/>
          </p:cNvCxnSpPr>
          <p:nvPr/>
        </p:nvCxnSpPr>
        <p:spPr>
          <a:xfrm flipH="1">
            <a:off x="4901648" y="2022400"/>
            <a:ext cx="1489024"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B685158-DA8F-CD96-F772-B7B81474B9BE}"/>
              </a:ext>
            </a:extLst>
          </p:cNvPr>
          <p:cNvSpPr txBox="1"/>
          <p:nvPr/>
        </p:nvSpPr>
        <p:spPr>
          <a:xfrm>
            <a:off x="5289854" y="2647950"/>
            <a:ext cx="486265" cy="489301"/>
          </a:xfrm>
          <a:prstGeom prst="rect">
            <a:avLst/>
          </a:prstGeom>
          <a:noFill/>
        </p:spPr>
        <p:txBody>
          <a:bodyPr wrap="square" rtlCol="0">
            <a:spAutoFit/>
          </a:bodyPr>
          <a:lstStyle/>
          <a:p>
            <a:r>
              <a:rPr lang="en-US" sz="1100" dirty="0"/>
              <a:t>BOM</a:t>
            </a:r>
          </a:p>
          <a:p>
            <a:pPr>
              <a:lnSpc>
                <a:spcPct val="150000"/>
              </a:lnSpc>
            </a:pPr>
            <a:r>
              <a:rPr lang="en-US" sz="1100" dirty="0"/>
              <a:t>BOQ</a:t>
            </a:r>
          </a:p>
        </p:txBody>
      </p:sp>
      <p:sp>
        <p:nvSpPr>
          <p:cNvPr id="67" name="TextBox 66">
            <a:extLst>
              <a:ext uri="{FF2B5EF4-FFF2-40B4-BE49-F238E27FC236}">
                <a16:creationId xmlns:a16="http://schemas.microsoft.com/office/drawing/2014/main" id="{7E7F9CA6-0643-7091-99A3-38503843917E}"/>
              </a:ext>
            </a:extLst>
          </p:cNvPr>
          <p:cNvSpPr txBox="1"/>
          <p:nvPr/>
        </p:nvSpPr>
        <p:spPr>
          <a:xfrm>
            <a:off x="5281935" y="1788155"/>
            <a:ext cx="527902" cy="261610"/>
          </a:xfrm>
          <a:prstGeom prst="rect">
            <a:avLst/>
          </a:prstGeom>
          <a:noFill/>
        </p:spPr>
        <p:txBody>
          <a:bodyPr wrap="square" rtlCol="0">
            <a:spAutoFit/>
          </a:bodyPr>
          <a:lstStyle/>
          <a:p>
            <a:r>
              <a:rPr lang="en-US" sz="1100" dirty="0"/>
              <a:t>SPECs</a:t>
            </a:r>
          </a:p>
        </p:txBody>
      </p:sp>
      <p:grpSp>
        <p:nvGrpSpPr>
          <p:cNvPr id="75" name="Group 74">
            <a:extLst>
              <a:ext uri="{FF2B5EF4-FFF2-40B4-BE49-F238E27FC236}">
                <a16:creationId xmlns:a16="http://schemas.microsoft.com/office/drawing/2014/main" id="{A79CBA81-6CEC-1842-B530-05E55874C34B}"/>
              </a:ext>
            </a:extLst>
          </p:cNvPr>
          <p:cNvGrpSpPr/>
          <p:nvPr/>
        </p:nvGrpSpPr>
        <p:grpSpPr>
          <a:xfrm>
            <a:off x="6198558" y="3525121"/>
            <a:ext cx="3652434" cy="1408827"/>
            <a:chOff x="8286585" y="1056462"/>
            <a:chExt cx="2655596" cy="1146614"/>
          </a:xfrm>
        </p:grpSpPr>
        <p:sp>
          <p:nvSpPr>
            <p:cNvPr id="23" name="Rounded Rectangle 51">
              <a:extLst>
                <a:ext uri="{FF2B5EF4-FFF2-40B4-BE49-F238E27FC236}">
                  <a16:creationId xmlns:a16="http://schemas.microsoft.com/office/drawing/2014/main" id="{C05653EB-69B3-479F-D92E-95ED5EBE7707}"/>
                </a:ext>
              </a:extLst>
            </p:cNvPr>
            <p:cNvSpPr/>
            <p:nvPr/>
          </p:nvSpPr>
          <p:spPr>
            <a:xfrm>
              <a:off x="8753753" y="1440086"/>
              <a:ext cx="1721260" cy="600569"/>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Document Management</a:t>
              </a:r>
            </a:p>
          </p:txBody>
        </p:sp>
        <p:sp>
          <p:nvSpPr>
            <p:cNvPr id="74" name="Rectangle 73">
              <a:extLst>
                <a:ext uri="{FF2B5EF4-FFF2-40B4-BE49-F238E27FC236}">
                  <a16:creationId xmlns:a16="http://schemas.microsoft.com/office/drawing/2014/main" id="{784EAC41-7F5C-D21C-B25B-3E26C0CC86D2}"/>
                </a:ext>
              </a:extLst>
            </p:cNvPr>
            <p:cNvSpPr/>
            <p:nvPr/>
          </p:nvSpPr>
          <p:spPr>
            <a:xfrm>
              <a:off x="8286585" y="1056462"/>
              <a:ext cx="2655596" cy="1146614"/>
            </a:xfrm>
            <a:prstGeom prst="rect">
              <a:avLst/>
            </a:prstGeom>
            <a:noFill/>
            <a:ln w="1905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92934"/>
                  </a:solidFill>
                  <a:effectLst/>
                  <a:uLnTx/>
                  <a:uFillTx/>
                  <a:latin typeface="Trebuchet MS" panose="020B0603020202020204" pitchFamily="34" charset="0"/>
                  <a:ea typeface="+mn-ea"/>
                  <a:cs typeface="Calibri" panose="020F0502020204030204" pitchFamily="34" charset="0"/>
                </a:rPr>
                <a:t>Asset Information Systems</a:t>
              </a:r>
            </a:p>
          </p:txBody>
        </p:sp>
      </p:grpSp>
      <p:cxnSp>
        <p:nvCxnSpPr>
          <p:cNvPr id="84" name="Straight Arrow Connector 83">
            <a:extLst>
              <a:ext uri="{FF2B5EF4-FFF2-40B4-BE49-F238E27FC236}">
                <a16:creationId xmlns:a16="http://schemas.microsoft.com/office/drawing/2014/main" id="{ACE895E7-3A55-4774-930D-62E6C1D4E1C6}"/>
              </a:ext>
            </a:extLst>
          </p:cNvPr>
          <p:cNvCxnSpPr>
            <a:cxnSpLocks/>
            <a:endCxn id="47" idx="2"/>
          </p:cNvCxnSpPr>
          <p:nvPr/>
        </p:nvCxnSpPr>
        <p:spPr>
          <a:xfrm flipV="1">
            <a:off x="7209203" y="3034491"/>
            <a:ext cx="0" cy="49063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F946D5A7-E890-D355-73E4-F88359E283F3}"/>
              </a:ext>
            </a:extLst>
          </p:cNvPr>
          <p:cNvCxnSpPr>
            <a:cxnSpLocks/>
          </p:cNvCxnSpPr>
          <p:nvPr/>
        </p:nvCxnSpPr>
        <p:spPr>
          <a:xfrm>
            <a:off x="3181795" y="3640834"/>
            <a:ext cx="3011597"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0DFD53EF-450C-AE15-7C8C-377619DF0B63}"/>
              </a:ext>
            </a:extLst>
          </p:cNvPr>
          <p:cNvCxnSpPr>
            <a:cxnSpLocks/>
            <a:endCxn id="20" idx="2"/>
          </p:cNvCxnSpPr>
          <p:nvPr/>
        </p:nvCxnSpPr>
        <p:spPr>
          <a:xfrm flipV="1">
            <a:off x="4309373" y="3224540"/>
            <a:ext cx="0" cy="416294"/>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C9DEC2FD-EAC2-2CC8-DA17-98EC1EC4A4A2}"/>
              </a:ext>
            </a:extLst>
          </p:cNvPr>
          <p:cNvSpPr txBox="1"/>
          <p:nvPr/>
        </p:nvSpPr>
        <p:spPr>
          <a:xfrm>
            <a:off x="5166519" y="3409950"/>
            <a:ext cx="1030610" cy="261610"/>
          </a:xfrm>
          <a:prstGeom prst="rect">
            <a:avLst/>
          </a:prstGeom>
          <a:noFill/>
        </p:spPr>
        <p:txBody>
          <a:bodyPr wrap="square" rtlCol="0">
            <a:spAutoFit/>
          </a:bodyPr>
          <a:lstStyle/>
          <a:p>
            <a:r>
              <a:rPr lang="en-US" sz="1100" dirty="0"/>
              <a:t>Deliverables</a:t>
            </a:r>
          </a:p>
        </p:txBody>
      </p:sp>
      <p:sp>
        <p:nvSpPr>
          <p:cNvPr id="106" name="TextBox 105">
            <a:extLst>
              <a:ext uri="{FF2B5EF4-FFF2-40B4-BE49-F238E27FC236}">
                <a16:creationId xmlns:a16="http://schemas.microsoft.com/office/drawing/2014/main" id="{12CA5EF3-B2FF-7472-6248-9E18D3292FF9}"/>
              </a:ext>
            </a:extLst>
          </p:cNvPr>
          <p:cNvSpPr txBox="1"/>
          <p:nvPr/>
        </p:nvSpPr>
        <p:spPr>
          <a:xfrm>
            <a:off x="7147719" y="3224540"/>
            <a:ext cx="1030610" cy="261610"/>
          </a:xfrm>
          <a:prstGeom prst="rect">
            <a:avLst/>
          </a:prstGeom>
          <a:noFill/>
        </p:spPr>
        <p:txBody>
          <a:bodyPr wrap="square" rtlCol="0">
            <a:spAutoFit/>
          </a:bodyPr>
          <a:lstStyle/>
          <a:p>
            <a:r>
              <a:rPr lang="en-US" sz="1100" dirty="0"/>
              <a:t>Deliverables</a:t>
            </a:r>
          </a:p>
        </p:txBody>
      </p:sp>
      <p:sp>
        <p:nvSpPr>
          <p:cNvPr id="117" name="Rounded Rectangle 51">
            <a:extLst>
              <a:ext uri="{FF2B5EF4-FFF2-40B4-BE49-F238E27FC236}">
                <a16:creationId xmlns:a16="http://schemas.microsoft.com/office/drawing/2014/main" id="{38250D87-F10C-0945-6EAD-FCA3A8EB3424}"/>
              </a:ext>
            </a:extLst>
          </p:cNvPr>
          <p:cNvSpPr/>
          <p:nvPr/>
        </p:nvSpPr>
        <p:spPr>
          <a:xfrm>
            <a:off x="2036857" y="3969644"/>
            <a:ext cx="1143000" cy="685880"/>
          </a:xfrm>
          <a:prstGeom prst="rect">
            <a:avLst/>
          </a:prstGeom>
          <a:solidFill>
            <a:schemeClr val="accent1">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Engineering IM</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(Integration)</a:t>
            </a:r>
          </a:p>
        </p:txBody>
      </p:sp>
      <p:sp>
        <p:nvSpPr>
          <p:cNvPr id="119" name="Rounded Rectangle 51">
            <a:extLst>
              <a:ext uri="{FF2B5EF4-FFF2-40B4-BE49-F238E27FC236}">
                <a16:creationId xmlns:a16="http://schemas.microsoft.com/office/drawing/2014/main" id="{352E3B1D-3D81-365C-7182-4A550620EA44}"/>
              </a:ext>
            </a:extLst>
          </p:cNvPr>
          <p:cNvSpPr/>
          <p:nvPr/>
        </p:nvSpPr>
        <p:spPr>
          <a:xfrm>
            <a:off x="3566319" y="4016080"/>
            <a:ext cx="1271912" cy="593007"/>
          </a:xfrm>
          <a:prstGeom prst="rect">
            <a:avLst/>
          </a:prstGeom>
          <a:solidFill>
            <a:schemeClr val="accent5">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Calibri" panose="020F0502020204030204" pitchFamily="34" charset="0"/>
              </a:rPr>
              <a:t>Engineering &amp; Schematics(2D)</a:t>
            </a:r>
          </a:p>
        </p:txBody>
      </p:sp>
      <p:cxnSp>
        <p:nvCxnSpPr>
          <p:cNvPr id="120" name="Straight Arrow Connector 119">
            <a:extLst>
              <a:ext uri="{FF2B5EF4-FFF2-40B4-BE49-F238E27FC236}">
                <a16:creationId xmlns:a16="http://schemas.microsoft.com/office/drawing/2014/main" id="{3AE7468B-96B6-0B96-455B-F59285CB0464}"/>
              </a:ext>
            </a:extLst>
          </p:cNvPr>
          <p:cNvCxnSpPr>
            <a:cxnSpLocks/>
            <a:stCxn id="117" idx="0"/>
            <a:endCxn id="3" idx="2"/>
          </p:cNvCxnSpPr>
          <p:nvPr/>
        </p:nvCxnSpPr>
        <p:spPr>
          <a:xfrm flipV="1">
            <a:off x="2608357" y="3714750"/>
            <a:ext cx="1938" cy="254894"/>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D82CB9FA-4125-8EE1-3828-58DB79314CCB}"/>
              </a:ext>
            </a:extLst>
          </p:cNvPr>
          <p:cNvCxnSpPr>
            <a:cxnSpLocks/>
            <a:stCxn id="119" idx="1"/>
            <a:endCxn id="117" idx="3"/>
          </p:cNvCxnSpPr>
          <p:nvPr/>
        </p:nvCxnSpPr>
        <p:spPr>
          <a:xfrm flipH="1">
            <a:off x="3179857" y="4312584"/>
            <a:ext cx="38646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9E35E3EC-853D-A6B7-5886-111592922C3F}"/>
              </a:ext>
            </a:extLst>
          </p:cNvPr>
          <p:cNvCxnSpPr>
            <a:cxnSpLocks/>
            <a:endCxn id="119" idx="0"/>
          </p:cNvCxnSpPr>
          <p:nvPr/>
        </p:nvCxnSpPr>
        <p:spPr>
          <a:xfrm>
            <a:off x="4202275" y="3640834"/>
            <a:ext cx="0" cy="375246"/>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3895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4023-973A-7DC7-A870-ED660E8C556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1A5675-CBC5-D4B7-9CB6-C5269E0F8BC5}"/>
              </a:ext>
            </a:extLst>
          </p:cNvPr>
          <p:cNvSpPr>
            <a:spLocks noGrp="1" noRot="1" noMove="1" noResize="1" noEditPoints="1" noAdjustHandles="1" noChangeArrowheads="1" noChangeShapeType="1"/>
          </p:cNvSpPr>
          <p:nvPr/>
        </p:nvSpPr>
        <p:spPr>
          <a:xfrm>
            <a:off x="810789" y="1148318"/>
            <a:ext cx="10134865" cy="2211354"/>
          </a:xfrm>
          <a:prstGeom prst="rect">
            <a:avLst/>
          </a:prstGeom>
        </p:spPr>
        <p:txBody>
          <a:bodyPr wrap="square" lIns="91423" tIns="45710" rIns="91423" bIns="45710">
            <a:spAutoFit/>
          </a:bodyPr>
          <a:lstStyle/>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It is an integrated solution for the life-cycle management of materials, supply chain, and contract/subcontracts.</a:t>
            </a:r>
          </a:p>
          <a:p>
            <a:pPr marL="36535" lvl="1" indent="0" algn="just">
              <a:lnSpc>
                <a:spcPct val="90000"/>
              </a:lnSpc>
              <a:spcAft>
                <a:spcPct val="15000"/>
              </a:spcAft>
              <a:buSzPct val="80000"/>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Major Functions</a:t>
            </a:r>
          </a:p>
          <a:p>
            <a:pPr marL="36535" lvl="1" indent="0" algn="just">
              <a:lnSpc>
                <a:spcPct val="90000"/>
              </a:lnSpc>
              <a:spcAft>
                <a:spcPct val="15000"/>
              </a:spcAft>
              <a:buSzPct val="80000"/>
              <a:defRPr/>
            </a:pPr>
            <a:endParaRPr lang="en-US" b="1" dirty="0">
              <a:solidFill>
                <a:srgbClr val="328C3B"/>
              </a:solidFill>
              <a:latin typeface="Trebuchet MS" panose="020B0603020202020204" pitchFamily="34" charset="0"/>
            </a:endParaRPr>
          </a:p>
          <a:p>
            <a:pPr marL="877367" lvl="2" indent="-383632" algn="just">
              <a:lnSpc>
                <a:spcPct val="90000"/>
              </a:lnSpc>
              <a:spcAft>
                <a:spcPct val="15000"/>
              </a:spcAft>
              <a:buSzPct val="80000"/>
              <a:buFont typeface="Wingdings 2"/>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Material Management</a:t>
            </a:r>
          </a:p>
          <a:p>
            <a:pPr marL="877367" lvl="2" indent="-383632" algn="just">
              <a:lnSpc>
                <a:spcPct val="90000"/>
              </a:lnSpc>
              <a:spcAft>
                <a:spcPct val="15000"/>
              </a:spcAft>
              <a:buSzPct val="80000"/>
              <a:buFont typeface="Wingdings 2"/>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Contract Management</a:t>
            </a:r>
          </a:p>
          <a:p>
            <a:pPr marL="420167" lvl="1" indent="-383632" algn="just">
              <a:lnSpc>
                <a:spcPct val="90000"/>
              </a:lnSpc>
              <a:spcAft>
                <a:spcPct val="15000"/>
              </a:spcAft>
              <a:buSzPct val="80000"/>
              <a:buFont typeface="Wingdings 2"/>
              <a:buChar char=""/>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2" name="Rectangle 1">
            <a:extLst>
              <a:ext uri="{FF2B5EF4-FFF2-40B4-BE49-F238E27FC236}">
                <a16:creationId xmlns:a16="http://schemas.microsoft.com/office/drawing/2014/main" id="{0AD491FC-60BF-AE8A-AEEC-2C37EB23FCAC}"/>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sp>
        <p:nvSpPr>
          <p:cNvPr id="7" name="TextBox 6">
            <a:extLst>
              <a:ext uri="{FF2B5EF4-FFF2-40B4-BE49-F238E27FC236}">
                <a16:creationId xmlns:a16="http://schemas.microsoft.com/office/drawing/2014/main" id="{FC655606-BE46-C96F-1287-176BC45C5ED3}"/>
              </a:ext>
            </a:extLst>
          </p:cNvPr>
          <p:cNvSpPr txBox="1">
            <a:spLocks noGrp="1" noRot="1" noMove="1" noResize="1" noEditPoints="1" noAdjustHandles="1" noChangeArrowheads="1" noChangeShapeType="1"/>
          </p:cNvSpPr>
          <p:nvPr/>
        </p:nvSpPr>
        <p:spPr>
          <a:xfrm>
            <a:off x="899319" y="514350"/>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What is Smart Materials ?</a:t>
            </a:r>
          </a:p>
        </p:txBody>
      </p:sp>
    </p:spTree>
    <p:extLst>
      <p:ext uri="{BB962C8B-B14F-4D97-AF65-F5344CB8AC3E}">
        <p14:creationId xmlns:p14="http://schemas.microsoft.com/office/powerpoint/2010/main" val="8267491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844524-AA45-014E-4926-F0516745B490}"/>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Material Management processes</a:t>
            </a:r>
          </a:p>
        </p:txBody>
      </p:sp>
      <p:sp>
        <p:nvSpPr>
          <p:cNvPr id="3" name="Rectangle 2">
            <a:extLst>
              <a:ext uri="{FF2B5EF4-FFF2-40B4-BE49-F238E27FC236}">
                <a16:creationId xmlns:a16="http://schemas.microsoft.com/office/drawing/2014/main" id="{FFE9C1A8-186B-13F2-08AA-D76C7CD517D8}"/>
              </a:ext>
            </a:extLst>
          </p:cNvPr>
          <p:cNvSpPr>
            <a:spLocks noGrp="1" noRot="1" noMove="1" noResize="1" noEditPoints="1" noAdjustHandles="1" noChangeArrowheads="1" noChangeShapeType="1"/>
          </p:cNvSpPr>
          <p:nvPr/>
        </p:nvSpPr>
        <p:spPr>
          <a:xfrm>
            <a:off x="810789" y="1148318"/>
            <a:ext cx="10134865" cy="1477307"/>
          </a:xfrm>
          <a:prstGeom prst="rect">
            <a:avLst/>
          </a:prstGeom>
        </p:spPr>
        <p:txBody>
          <a:bodyPr wrap="square" lIns="91423" tIns="45710" rIns="91423" bIns="45710">
            <a:spAutoFit/>
          </a:bodyPr>
          <a:lstStyle/>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Gather engineering requirements</a:t>
            </a:r>
          </a:p>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Agreement strategy</a:t>
            </a:r>
          </a:p>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Post agreement</a:t>
            </a:r>
          </a:p>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Site Control</a:t>
            </a:r>
          </a:p>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880F1151-15ED-183A-0A6F-83F233555D0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spTree>
    <p:extLst>
      <p:ext uri="{BB962C8B-B14F-4D97-AF65-F5344CB8AC3E}">
        <p14:creationId xmlns:p14="http://schemas.microsoft.com/office/powerpoint/2010/main" val="1089579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A9030-F5FC-026F-D2D0-7F3E25F024E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FBB057A-7826-A57B-EA66-9937C7AA3A03}"/>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Gather engineering requirements</a:t>
            </a:r>
          </a:p>
        </p:txBody>
      </p:sp>
      <p:sp>
        <p:nvSpPr>
          <p:cNvPr id="3" name="Rectangle 2">
            <a:extLst>
              <a:ext uri="{FF2B5EF4-FFF2-40B4-BE49-F238E27FC236}">
                <a16:creationId xmlns:a16="http://schemas.microsoft.com/office/drawing/2014/main" id="{5637DD7F-F9D0-0A5E-9D12-2101E7BF11FC}"/>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98A4DB35-4DF0-0A73-A9B7-F83FC376E2C1}"/>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2" name="Picture 1" descr="A yellow arrow with a sign and a wrench and gears&#10;&#10;Description automatically generated">
            <a:extLst>
              <a:ext uri="{FF2B5EF4-FFF2-40B4-BE49-F238E27FC236}">
                <a16:creationId xmlns:a16="http://schemas.microsoft.com/office/drawing/2014/main" id="{5816519B-0E9B-D53E-4565-FC81EDC16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2719" y="1774066"/>
            <a:ext cx="2743200" cy="1900167"/>
          </a:xfrm>
          <a:prstGeom prst="rect">
            <a:avLst/>
          </a:prstGeom>
        </p:spPr>
      </p:pic>
      <p:pic>
        <p:nvPicPr>
          <p:cNvPr id="4" name="Picture 3" descr="A green arrow with a pen and a clipboard and gears&#10;&#10;Description automatically generated">
            <a:extLst>
              <a:ext uri="{FF2B5EF4-FFF2-40B4-BE49-F238E27FC236}">
                <a16:creationId xmlns:a16="http://schemas.microsoft.com/office/drawing/2014/main" id="{0D98CEAD-E92E-BE93-B640-E7FA5B17FF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6241" y="1657350"/>
            <a:ext cx="2743200" cy="2151089"/>
          </a:xfrm>
          <a:prstGeom prst="rect">
            <a:avLst/>
          </a:prstGeom>
        </p:spPr>
      </p:pic>
      <p:pic>
        <p:nvPicPr>
          <p:cNvPr id="5" name="Picture 4" descr="A blue arrow with a white circle with a white circle with a white circle with a white circle with a white circle with a green line and a white circle with a green line with a white circle&#10;&#10;Description automatically generated">
            <a:extLst>
              <a:ext uri="{FF2B5EF4-FFF2-40B4-BE49-F238E27FC236}">
                <a16:creationId xmlns:a16="http://schemas.microsoft.com/office/drawing/2014/main" id="{74DADEB1-C67C-09D1-10D5-6468BCA7B5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8319" y="1704195"/>
            <a:ext cx="2743200" cy="2057400"/>
          </a:xfrm>
          <a:prstGeom prst="rect">
            <a:avLst/>
          </a:prstGeom>
        </p:spPr>
      </p:pic>
    </p:spTree>
    <p:extLst>
      <p:ext uri="{BB962C8B-B14F-4D97-AF65-F5344CB8AC3E}">
        <p14:creationId xmlns:p14="http://schemas.microsoft.com/office/powerpoint/2010/main" val="17842436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1214079-C430-9072-E52A-41FE40DD1AC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64EE42-F2CA-2C72-0076-33DABE384579}"/>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Gather engineering requirements</a:t>
            </a:r>
          </a:p>
        </p:txBody>
      </p:sp>
      <p:sp>
        <p:nvSpPr>
          <p:cNvPr id="3" name="Rectangle 2">
            <a:extLst>
              <a:ext uri="{FF2B5EF4-FFF2-40B4-BE49-F238E27FC236}">
                <a16:creationId xmlns:a16="http://schemas.microsoft.com/office/drawing/2014/main" id="{6CDDFF25-2338-C32E-D53F-BC1F4BE448CE}"/>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D2F2059C-BA41-12A1-B20B-E297CDD87AFC}"/>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1026" name="Picture 2">
            <a:extLst>
              <a:ext uri="{FF2B5EF4-FFF2-40B4-BE49-F238E27FC236}">
                <a16:creationId xmlns:a16="http://schemas.microsoft.com/office/drawing/2014/main" id="{9F724CC1-60D6-B562-C8CD-984B91A7E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919" y="982806"/>
            <a:ext cx="5943600" cy="4136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934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35BA-3372-FE27-CCA9-86503C1F8B9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BC0E7A5-EAF9-8103-5DF9-4F7E7FD77836}"/>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Agreement strategy</a:t>
            </a:r>
          </a:p>
        </p:txBody>
      </p:sp>
      <p:sp>
        <p:nvSpPr>
          <p:cNvPr id="3" name="Rectangle 2">
            <a:extLst>
              <a:ext uri="{FF2B5EF4-FFF2-40B4-BE49-F238E27FC236}">
                <a16:creationId xmlns:a16="http://schemas.microsoft.com/office/drawing/2014/main" id="{93816C94-0447-5AD0-304E-4FB8082BEEA2}"/>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17498E05-025B-762C-1168-24BB9D8F9351}"/>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2" name="Picture 1">
            <a:extLst>
              <a:ext uri="{FF2B5EF4-FFF2-40B4-BE49-F238E27FC236}">
                <a16:creationId xmlns:a16="http://schemas.microsoft.com/office/drawing/2014/main" id="{254D7697-30C3-96D1-6CB6-0FC5247A50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32719" y="1776412"/>
            <a:ext cx="2743200" cy="1895475"/>
          </a:xfrm>
          <a:prstGeom prst="rect">
            <a:avLst/>
          </a:prstGeom>
        </p:spPr>
      </p:pic>
      <p:pic>
        <p:nvPicPr>
          <p:cNvPr id="4" name="Picture 3">
            <a:extLst>
              <a:ext uri="{FF2B5EF4-FFF2-40B4-BE49-F238E27FC236}">
                <a16:creationId xmlns:a16="http://schemas.microsoft.com/office/drawing/2014/main" id="{B1EEC8D9-4AD1-A7ED-A100-162C46C403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726241" y="1699432"/>
            <a:ext cx="2743200" cy="2066925"/>
          </a:xfrm>
          <a:prstGeom prst="rect">
            <a:avLst/>
          </a:prstGeom>
        </p:spPr>
      </p:pic>
      <p:pic>
        <p:nvPicPr>
          <p:cNvPr id="5" name="Picture 4">
            <a:extLst>
              <a:ext uri="{FF2B5EF4-FFF2-40B4-BE49-F238E27FC236}">
                <a16:creationId xmlns:a16="http://schemas.microsoft.com/office/drawing/2014/main" id="{A96D9B14-3FD8-30D2-9939-5CAEFFD6F3D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167933" y="1704195"/>
            <a:ext cx="2683971" cy="2057400"/>
          </a:xfrm>
          <a:prstGeom prst="rect">
            <a:avLst/>
          </a:prstGeom>
        </p:spPr>
      </p:pic>
    </p:spTree>
    <p:extLst>
      <p:ext uri="{BB962C8B-B14F-4D97-AF65-F5344CB8AC3E}">
        <p14:creationId xmlns:p14="http://schemas.microsoft.com/office/powerpoint/2010/main" val="37658995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747C213-DC8B-73EF-0EDD-61F02509B31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27BD9C5-3B42-C09C-F01C-9DEDD67BE6F6}"/>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Agreement strategy</a:t>
            </a:r>
          </a:p>
        </p:txBody>
      </p:sp>
      <p:sp>
        <p:nvSpPr>
          <p:cNvPr id="3" name="Rectangle 2">
            <a:extLst>
              <a:ext uri="{FF2B5EF4-FFF2-40B4-BE49-F238E27FC236}">
                <a16:creationId xmlns:a16="http://schemas.microsoft.com/office/drawing/2014/main" id="{59274E36-A1BD-662D-F88A-A4A47B814625}"/>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13EA2A1F-AEBD-1386-FC78-EB8B4C1F9EA3}"/>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2050" name="Picture 2">
            <a:extLst>
              <a:ext uri="{FF2B5EF4-FFF2-40B4-BE49-F238E27FC236}">
                <a16:creationId xmlns:a16="http://schemas.microsoft.com/office/drawing/2014/main" id="{FE0F2606-CCC0-FE5D-BAAC-ABDF01E771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32919" y="889516"/>
            <a:ext cx="4465412" cy="3566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600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C71C-5EA4-C03F-209E-9D2B590D229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F571187-004D-C5F1-03E8-EFB0C26EBE87}"/>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Post agreement activities</a:t>
            </a:r>
          </a:p>
        </p:txBody>
      </p:sp>
      <p:sp>
        <p:nvSpPr>
          <p:cNvPr id="3" name="Rectangle 2">
            <a:extLst>
              <a:ext uri="{FF2B5EF4-FFF2-40B4-BE49-F238E27FC236}">
                <a16:creationId xmlns:a16="http://schemas.microsoft.com/office/drawing/2014/main" id="{6D7043A2-4D75-725F-D2BD-12F829B22FAE}"/>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51E3EE2A-ACEF-2ADE-89CF-AF33A3AAE231}"/>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2" name="Picture 1">
            <a:extLst>
              <a:ext uri="{FF2B5EF4-FFF2-40B4-BE49-F238E27FC236}">
                <a16:creationId xmlns:a16="http://schemas.microsoft.com/office/drawing/2014/main" id="{DA0134E4-DFBB-86D9-4772-832D71C550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92067" y="1776412"/>
            <a:ext cx="2624503" cy="1895475"/>
          </a:xfrm>
          <a:prstGeom prst="rect">
            <a:avLst/>
          </a:prstGeom>
        </p:spPr>
      </p:pic>
      <p:pic>
        <p:nvPicPr>
          <p:cNvPr id="4" name="Picture 3">
            <a:extLst>
              <a:ext uri="{FF2B5EF4-FFF2-40B4-BE49-F238E27FC236}">
                <a16:creationId xmlns:a16="http://schemas.microsoft.com/office/drawing/2014/main" id="{92C20D39-DE1A-6BFF-9AA7-5A30CE158A9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751067" y="1699432"/>
            <a:ext cx="2693548" cy="2066925"/>
          </a:xfrm>
          <a:prstGeom prst="rect">
            <a:avLst/>
          </a:prstGeom>
        </p:spPr>
      </p:pic>
      <p:pic>
        <p:nvPicPr>
          <p:cNvPr id="5" name="Picture 4">
            <a:extLst>
              <a:ext uri="{FF2B5EF4-FFF2-40B4-BE49-F238E27FC236}">
                <a16:creationId xmlns:a16="http://schemas.microsoft.com/office/drawing/2014/main" id="{1CE21655-226D-9086-4FF6-0BF0D1C0F47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191896" y="1704195"/>
            <a:ext cx="2636044" cy="2057400"/>
          </a:xfrm>
          <a:prstGeom prst="rect">
            <a:avLst/>
          </a:prstGeom>
        </p:spPr>
      </p:pic>
    </p:spTree>
    <p:extLst>
      <p:ext uri="{BB962C8B-B14F-4D97-AF65-F5344CB8AC3E}">
        <p14:creationId xmlns:p14="http://schemas.microsoft.com/office/powerpoint/2010/main" val="2098804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CD0B64-0BE0-3ED4-ADF9-2D21B27B7D0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B07D642-C512-5A79-12E0-C42EF7C7F328}"/>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Post agreement activities</a:t>
            </a:r>
          </a:p>
        </p:txBody>
      </p:sp>
      <p:sp>
        <p:nvSpPr>
          <p:cNvPr id="3" name="Rectangle 2">
            <a:extLst>
              <a:ext uri="{FF2B5EF4-FFF2-40B4-BE49-F238E27FC236}">
                <a16:creationId xmlns:a16="http://schemas.microsoft.com/office/drawing/2014/main" id="{5226A9ED-038E-D1F2-1F51-0A334A0A6BB5}"/>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0C8C544B-9051-BC62-E9BE-A7568FF73B3C}"/>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3074" name="Picture 2">
            <a:extLst>
              <a:ext uri="{FF2B5EF4-FFF2-40B4-BE49-F238E27FC236}">
                <a16:creationId xmlns:a16="http://schemas.microsoft.com/office/drawing/2014/main" id="{0E4305F1-D3C4-AA09-9433-0EF32880E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920" y="889516"/>
            <a:ext cx="7749091" cy="4206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352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25270-F382-454D-62F9-9B7471D538D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684AD23-A8A4-2FB7-41A8-EACA718EFE9B}"/>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Site Control</a:t>
            </a:r>
          </a:p>
        </p:txBody>
      </p:sp>
      <p:sp>
        <p:nvSpPr>
          <p:cNvPr id="3" name="Rectangle 2">
            <a:extLst>
              <a:ext uri="{FF2B5EF4-FFF2-40B4-BE49-F238E27FC236}">
                <a16:creationId xmlns:a16="http://schemas.microsoft.com/office/drawing/2014/main" id="{62EEC713-1F2B-2BC8-D4BD-4A47FA641FAA}"/>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88CA6DB4-8AFD-6D51-9EA6-A4C86BB83697}"/>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2" name="Picture 1">
            <a:extLst>
              <a:ext uri="{FF2B5EF4-FFF2-40B4-BE49-F238E27FC236}">
                <a16:creationId xmlns:a16="http://schemas.microsoft.com/office/drawing/2014/main" id="{A8B65704-A110-0328-747F-CBA92563C5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804319" y="1826533"/>
            <a:ext cx="2624503" cy="1795233"/>
          </a:xfrm>
          <a:prstGeom prst="rect">
            <a:avLst/>
          </a:prstGeom>
        </p:spPr>
      </p:pic>
      <p:pic>
        <p:nvPicPr>
          <p:cNvPr id="4" name="Picture 3">
            <a:extLst>
              <a:ext uri="{FF2B5EF4-FFF2-40B4-BE49-F238E27FC236}">
                <a16:creationId xmlns:a16="http://schemas.microsoft.com/office/drawing/2014/main" id="{CFB10746-F86E-5B5D-16C0-76F506C48D8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104667" y="1699432"/>
            <a:ext cx="2610852" cy="2066925"/>
          </a:xfrm>
          <a:prstGeom prst="rect">
            <a:avLst/>
          </a:prstGeom>
        </p:spPr>
      </p:pic>
    </p:spTree>
    <p:extLst>
      <p:ext uri="{BB962C8B-B14F-4D97-AF65-F5344CB8AC3E}">
        <p14:creationId xmlns:p14="http://schemas.microsoft.com/office/powerpoint/2010/main" val="123698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6BE08-0928-ACE3-AC88-51710AB80F5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917E8B5-51FE-8721-823C-F00C3C24B8E3}"/>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Complete flow through data</a:t>
            </a:r>
          </a:p>
        </p:txBody>
      </p:sp>
      <p:sp>
        <p:nvSpPr>
          <p:cNvPr id="3" name="Rectangle 2">
            <a:extLst>
              <a:ext uri="{FF2B5EF4-FFF2-40B4-BE49-F238E27FC236}">
                <a16:creationId xmlns:a16="http://schemas.microsoft.com/office/drawing/2014/main" id="{AD4C98CB-3D8A-4E30-3424-098DF5091347}"/>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92682C4E-FFDE-8904-3ED0-848BE2588405}"/>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sp>
        <p:nvSpPr>
          <p:cNvPr id="6" name="Rectangle 5">
            <a:extLst>
              <a:ext uri="{FF2B5EF4-FFF2-40B4-BE49-F238E27FC236}">
                <a16:creationId xmlns:a16="http://schemas.microsoft.com/office/drawing/2014/main" id="{5F6CE6FC-92E5-1DCD-0155-77BFE80697C1}"/>
              </a:ext>
            </a:extLst>
          </p:cNvPr>
          <p:cNvSpPr/>
          <p:nvPr/>
        </p:nvSpPr>
        <p:spPr>
          <a:xfrm>
            <a:off x="1304188" y="1157430"/>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Create a Bill of Materials</a:t>
            </a:r>
          </a:p>
        </p:txBody>
      </p:sp>
      <p:sp>
        <p:nvSpPr>
          <p:cNvPr id="8" name="Rectangle 7">
            <a:extLst>
              <a:ext uri="{FF2B5EF4-FFF2-40B4-BE49-F238E27FC236}">
                <a16:creationId xmlns:a16="http://schemas.microsoft.com/office/drawing/2014/main" id="{4703A629-C32A-3213-409E-B4565A3AF1BA}"/>
              </a:ext>
            </a:extLst>
          </p:cNvPr>
          <p:cNvSpPr/>
          <p:nvPr/>
        </p:nvSpPr>
        <p:spPr>
          <a:xfrm>
            <a:off x="3947319" y="1148318"/>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Create a Requisition</a:t>
            </a:r>
          </a:p>
        </p:txBody>
      </p:sp>
      <p:sp>
        <p:nvSpPr>
          <p:cNvPr id="9" name="Rectangle 8">
            <a:extLst>
              <a:ext uri="{FF2B5EF4-FFF2-40B4-BE49-F238E27FC236}">
                <a16:creationId xmlns:a16="http://schemas.microsoft.com/office/drawing/2014/main" id="{0C4E66D8-3AE3-AC74-0CC8-CBDB3CE81AE8}"/>
              </a:ext>
            </a:extLst>
          </p:cNvPr>
          <p:cNvSpPr/>
          <p:nvPr/>
        </p:nvSpPr>
        <p:spPr>
          <a:xfrm>
            <a:off x="6597948" y="1157430"/>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Release Req. to Procurement</a:t>
            </a:r>
          </a:p>
        </p:txBody>
      </p:sp>
      <p:sp>
        <p:nvSpPr>
          <p:cNvPr id="10" name="Rectangle 9">
            <a:extLst>
              <a:ext uri="{FF2B5EF4-FFF2-40B4-BE49-F238E27FC236}">
                <a16:creationId xmlns:a16="http://schemas.microsoft.com/office/drawing/2014/main" id="{19E61029-87C2-38E7-F439-3174206EE639}"/>
              </a:ext>
            </a:extLst>
          </p:cNvPr>
          <p:cNvSpPr/>
          <p:nvPr/>
        </p:nvSpPr>
        <p:spPr>
          <a:xfrm>
            <a:off x="9128919" y="1158920"/>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Create Inquiry from same Req.</a:t>
            </a:r>
          </a:p>
        </p:txBody>
      </p:sp>
      <p:sp>
        <p:nvSpPr>
          <p:cNvPr id="12" name="Rectangle 11">
            <a:extLst>
              <a:ext uri="{FF2B5EF4-FFF2-40B4-BE49-F238E27FC236}">
                <a16:creationId xmlns:a16="http://schemas.microsoft.com/office/drawing/2014/main" id="{C55DB3D9-C7DD-275C-9D99-967D00D0ACF1}"/>
              </a:ext>
            </a:extLst>
          </p:cNvPr>
          <p:cNvSpPr/>
          <p:nvPr/>
        </p:nvSpPr>
        <p:spPr>
          <a:xfrm>
            <a:off x="1304188" y="2510790"/>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Expediting/ Inspection/Shipping</a:t>
            </a:r>
          </a:p>
        </p:txBody>
      </p:sp>
      <p:sp>
        <p:nvSpPr>
          <p:cNvPr id="13" name="Rectangle 12">
            <a:extLst>
              <a:ext uri="{FF2B5EF4-FFF2-40B4-BE49-F238E27FC236}">
                <a16:creationId xmlns:a16="http://schemas.microsoft.com/office/drawing/2014/main" id="{01C1ADA7-4516-FBAF-EC1F-FD6D485400F8}"/>
              </a:ext>
            </a:extLst>
          </p:cNvPr>
          <p:cNvSpPr/>
          <p:nvPr/>
        </p:nvSpPr>
        <p:spPr>
          <a:xfrm>
            <a:off x="3954817" y="2491630"/>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Create an Agreement</a:t>
            </a:r>
          </a:p>
        </p:txBody>
      </p:sp>
      <p:sp>
        <p:nvSpPr>
          <p:cNvPr id="14" name="Rectangle 13">
            <a:extLst>
              <a:ext uri="{FF2B5EF4-FFF2-40B4-BE49-F238E27FC236}">
                <a16:creationId xmlns:a16="http://schemas.microsoft.com/office/drawing/2014/main" id="{F5D6F4DC-A3A6-3D80-A85B-C05B1908C703}"/>
              </a:ext>
            </a:extLst>
          </p:cNvPr>
          <p:cNvSpPr/>
          <p:nvPr/>
        </p:nvSpPr>
        <p:spPr>
          <a:xfrm>
            <a:off x="6588618" y="2492098"/>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Award the Quote</a:t>
            </a:r>
          </a:p>
        </p:txBody>
      </p:sp>
      <p:sp>
        <p:nvSpPr>
          <p:cNvPr id="15" name="Rectangle 14">
            <a:extLst>
              <a:ext uri="{FF2B5EF4-FFF2-40B4-BE49-F238E27FC236}">
                <a16:creationId xmlns:a16="http://schemas.microsoft.com/office/drawing/2014/main" id="{E5CA736B-5B12-6776-85D8-CC27002CBAEA}"/>
              </a:ext>
            </a:extLst>
          </p:cNvPr>
          <p:cNvSpPr/>
          <p:nvPr/>
        </p:nvSpPr>
        <p:spPr>
          <a:xfrm>
            <a:off x="9128919" y="2492566"/>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Approve Inquiry.</a:t>
            </a:r>
          </a:p>
        </p:txBody>
      </p:sp>
      <p:sp>
        <p:nvSpPr>
          <p:cNvPr id="16" name="Rectangle 15">
            <a:extLst>
              <a:ext uri="{FF2B5EF4-FFF2-40B4-BE49-F238E27FC236}">
                <a16:creationId xmlns:a16="http://schemas.microsoft.com/office/drawing/2014/main" id="{438B4D40-F527-3327-CC21-26B9743451E2}"/>
              </a:ext>
            </a:extLst>
          </p:cNvPr>
          <p:cNvSpPr/>
          <p:nvPr/>
        </p:nvSpPr>
        <p:spPr>
          <a:xfrm>
            <a:off x="1304188" y="3919377"/>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Manage Warehouses</a:t>
            </a:r>
          </a:p>
        </p:txBody>
      </p:sp>
      <p:sp>
        <p:nvSpPr>
          <p:cNvPr id="17" name="Rectangle 16">
            <a:extLst>
              <a:ext uri="{FF2B5EF4-FFF2-40B4-BE49-F238E27FC236}">
                <a16:creationId xmlns:a16="http://schemas.microsoft.com/office/drawing/2014/main" id="{AD0A6254-4CEF-18CB-4DAA-EF805FB6FC8E}"/>
              </a:ext>
            </a:extLst>
          </p:cNvPr>
          <p:cNvSpPr/>
          <p:nvPr/>
        </p:nvSpPr>
        <p:spPr>
          <a:xfrm>
            <a:off x="3937989" y="3924374"/>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Receive Material</a:t>
            </a:r>
          </a:p>
        </p:txBody>
      </p:sp>
      <p:sp>
        <p:nvSpPr>
          <p:cNvPr id="18" name="Rectangle 17">
            <a:extLst>
              <a:ext uri="{FF2B5EF4-FFF2-40B4-BE49-F238E27FC236}">
                <a16:creationId xmlns:a16="http://schemas.microsoft.com/office/drawing/2014/main" id="{943C33DF-C147-7E2C-5964-6159B597AE8E}"/>
              </a:ext>
            </a:extLst>
          </p:cNvPr>
          <p:cNvSpPr/>
          <p:nvPr/>
        </p:nvSpPr>
        <p:spPr>
          <a:xfrm>
            <a:off x="6614319" y="3919377"/>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Forecast and reservation </a:t>
            </a:r>
          </a:p>
        </p:txBody>
      </p:sp>
      <p:sp>
        <p:nvSpPr>
          <p:cNvPr id="19" name="Rectangle 18">
            <a:extLst>
              <a:ext uri="{FF2B5EF4-FFF2-40B4-BE49-F238E27FC236}">
                <a16:creationId xmlns:a16="http://schemas.microsoft.com/office/drawing/2014/main" id="{EDD2ED4D-5B6B-67D4-2475-2B050ADE489F}"/>
              </a:ext>
            </a:extLst>
          </p:cNvPr>
          <p:cNvSpPr/>
          <p:nvPr/>
        </p:nvSpPr>
        <p:spPr>
          <a:xfrm>
            <a:off x="9155418" y="3919377"/>
            <a:ext cx="214884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Material Issuance and Transfer</a:t>
            </a:r>
          </a:p>
        </p:txBody>
      </p:sp>
      <p:cxnSp>
        <p:nvCxnSpPr>
          <p:cNvPr id="21" name="Straight Arrow Connector 20">
            <a:extLst>
              <a:ext uri="{FF2B5EF4-FFF2-40B4-BE49-F238E27FC236}">
                <a16:creationId xmlns:a16="http://schemas.microsoft.com/office/drawing/2014/main" id="{4B17623F-672D-6E16-E025-CC93ED08F645}"/>
              </a:ext>
            </a:extLst>
          </p:cNvPr>
          <p:cNvCxnSpPr/>
          <p:nvPr/>
        </p:nvCxnSpPr>
        <p:spPr>
          <a:xfrm flipV="1">
            <a:off x="3453028" y="1605518"/>
            <a:ext cx="4942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2DE64BD-9DCF-315C-0DC1-BCAB837258D1}"/>
              </a:ext>
            </a:extLst>
          </p:cNvPr>
          <p:cNvCxnSpPr/>
          <p:nvPr/>
        </p:nvCxnSpPr>
        <p:spPr>
          <a:xfrm flipV="1">
            <a:off x="6080919" y="1614630"/>
            <a:ext cx="4942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93AF418-F069-583F-34C3-5C32E8F161E0}"/>
              </a:ext>
            </a:extLst>
          </p:cNvPr>
          <p:cNvCxnSpPr>
            <a:cxnSpLocks/>
          </p:cNvCxnSpPr>
          <p:nvPr/>
        </p:nvCxnSpPr>
        <p:spPr>
          <a:xfrm>
            <a:off x="8720909" y="1614630"/>
            <a:ext cx="382131" cy="1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450ACC4-6D29-874B-7C32-6B16F411F4D7}"/>
              </a:ext>
            </a:extLst>
          </p:cNvPr>
          <p:cNvCxnSpPr/>
          <p:nvPr/>
        </p:nvCxnSpPr>
        <p:spPr>
          <a:xfrm>
            <a:off x="10203339" y="2073320"/>
            <a:ext cx="0" cy="419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25854A7-C7AB-F0A5-3275-CA2B159ED917}"/>
              </a:ext>
            </a:extLst>
          </p:cNvPr>
          <p:cNvCxnSpPr>
            <a:cxnSpLocks/>
          </p:cNvCxnSpPr>
          <p:nvPr/>
        </p:nvCxnSpPr>
        <p:spPr>
          <a:xfrm flipH="1" flipV="1">
            <a:off x="8746788" y="2966118"/>
            <a:ext cx="391461" cy="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61D3F3F-32B7-97AD-17FC-13D7277E1160}"/>
              </a:ext>
            </a:extLst>
          </p:cNvPr>
          <p:cNvCxnSpPr>
            <a:cxnSpLocks/>
          </p:cNvCxnSpPr>
          <p:nvPr/>
        </p:nvCxnSpPr>
        <p:spPr>
          <a:xfrm flipH="1" flipV="1">
            <a:off x="6129358" y="2948830"/>
            <a:ext cx="484961" cy="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984F1D9-CF6B-210F-7442-7EDD1819EA68}"/>
              </a:ext>
            </a:extLst>
          </p:cNvPr>
          <p:cNvCxnSpPr>
            <a:cxnSpLocks/>
          </p:cNvCxnSpPr>
          <p:nvPr/>
        </p:nvCxnSpPr>
        <p:spPr>
          <a:xfrm flipH="1">
            <a:off x="3453028" y="2948830"/>
            <a:ext cx="4646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561C962-5766-6544-A55A-6C5306D2320B}"/>
              </a:ext>
            </a:extLst>
          </p:cNvPr>
          <p:cNvCxnSpPr>
            <a:cxnSpLocks/>
          </p:cNvCxnSpPr>
          <p:nvPr/>
        </p:nvCxnSpPr>
        <p:spPr>
          <a:xfrm>
            <a:off x="2378608" y="3409950"/>
            <a:ext cx="0" cy="494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A966A5A-E7D5-3990-3911-86BB9F971BAB}"/>
              </a:ext>
            </a:extLst>
          </p:cNvPr>
          <p:cNvCxnSpPr/>
          <p:nvPr/>
        </p:nvCxnSpPr>
        <p:spPr>
          <a:xfrm>
            <a:off x="3453028" y="4376577"/>
            <a:ext cx="484961" cy="4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E23C88F-AD18-AC98-B1EC-313617EA73EE}"/>
              </a:ext>
            </a:extLst>
          </p:cNvPr>
          <p:cNvCxnSpPr>
            <a:cxnSpLocks/>
          </p:cNvCxnSpPr>
          <p:nvPr/>
        </p:nvCxnSpPr>
        <p:spPr>
          <a:xfrm flipV="1">
            <a:off x="6070458" y="4376577"/>
            <a:ext cx="527490" cy="4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2D5F92E-CD2F-7A53-4F07-473160B22B69}"/>
              </a:ext>
            </a:extLst>
          </p:cNvPr>
          <p:cNvCxnSpPr>
            <a:cxnSpLocks/>
          </p:cNvCxnSpPr>
          <p:nvPr/>
        </p:nvCxnSpPr>
        <p:spPr>
          <a:xfrm flipV="1">
            <a:off x="8729094" y="4376577"/>
            <a:ext cx="399825" cy="9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9639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DBF48-B176-CE16-BA1A-B64A205B7A3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4F4E69E-19CC-4487-67B9-1A70387E0D18}"/>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Deliverables (Engineering Requisition)</a:t>
            </a:r>
          </a:p>
        </p:txBody>
      </p:sp>
      <p:sp>
        <p:nvSpPr>
          <p:cNvPr id="3" name="Rectangle 2">
            <a:extLst>
              <a:ext uri="{FF2B5EF4-FFF2-40B4-BE49-F238E27FC236}">
                <a16:creationId xmlns:a16="http://schemas.microsoft.com/office/drawing/2014/main" id="{BB16D349-01F7-1F0E-F457-5FBE739FF44D}"/>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D23BE1DE-1F20-C7BB-F0DB-9B1E0974FF07}"/>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5" name="Picture 4">
            <a:extLst>
              <a:ext uri="{FF2B5EF4-FFF2-40B4-BE49-F238E27FC236}">
                <a16:creationId xmlns:a16="http://schemas.microsoft.com/office/drawing/2014/main" id="{BF3AE839-F7B2-3677-61D9-D411AB4305F6}"/>
              </a:ext>
            </a:extLst>
          </p:cNvPr>
          <p:cNvPicPr>
            <a:picLocks noChangeAspect="1"/>
          </p:cNvPicPr>
          <p:nvPr/>
        </p:nvPicPr>
        <p:blipFill>
          <a:blip r:embed="rId3"/>
          <a:stretch>
            <a:fillRect/>
          </a:stretch>
        </p:blipFill>
        <p:spPr>
          <a:xfrm>
            <a:off x="2651919" y="913459"/>
            <a:ext cx="5942987" cy="4206240"/>
          </a:xfrm>
          <a:prstGeom prst="rect">
            <a:avLst/>
          </a:prstGeom>
        </p:spPr>
      </p:pic>
    </p:spTree>
    <p:extLst>
      <p:ext uri="{BB962C8B-B14F-4D97-AF65-F5344CB8AC3E}">
        <p14:creationId xmlns:p14="http://schemas.microsoft.com/office/powerpoint/2010/main" val="93176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9DA46-DFA4-E9D1-04EB-99E16156532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20927AC-0B17-8013-6A6C-9F9A00F4255E}"/>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Deliverables (Bid Tab.)</a:t>
            </a:r>
          </a:p>
        </p:txBody>
      </p:sp>
      <p:sp>
        <p:nvSpPr>
          <p:cNvPr id="3" name="Rectangle 2">
            <a:extLst>
              <a:ext uri="{FF2B5EF4-FFF2-40B4-BE49-F238E27FC236}">
                <a16:creationId xmlns:a16="http://schemas.microsoft.com/office/drawing/2014/main" id="{7FE38D46-00A6-DC16-5876-1B3D896C97C5}"/>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8146980D-A5A2-88C7-61E2-EA247973D670}"/>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4" name="Picture 2">
            <a:extLst>
              <a:ext uri="{FF2B5EF4-FFF2-40B4-BE49-F238E27FC236}">
                <a16:creationId xmlns:a16="http://schemas.microsoft.com/office/drawing/2014/main" id="{0B786339-CB12-858A-B993-73F6EB73C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115" y="895067"/>
            <a:ext cx="7867608" cy="421200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7652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B76E-C97D-2C26-C351-99D1C602877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1F0DBC9-F9B6-46F6-0457-0B649D35270C}"/>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Deliverables (PO)</a:t>
            </a:r>
          </a:p>
        </p:txBody>
      </p:sp>
      <p:sp>
        <p:nvSpPr>
          <p:cNvPr id="3" name="Rectangle 2">
            <a:extLst>
              <a:ext uri="{FF2B5EF4-FFF2-40B4-BE49-F238E27FC236}">
                <a16:creationId xmlns:a16="http://schemas.microsoft.com/office/drawing/2014/main" id="{E6F1618D-6480-8FAA-BF20-CFDAB092A9CD}"/>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147326AE-18E0-29F3-6EC3-C8B04DB2AAD4}"/>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2" name="Picture 1">
            <a:extLst>
              <a:ext uri="{FF2B5EF4-FFF2-40B4-BE49-F238E27FC236}">
                <a16:creationId xmlns:a16="http://schemas.microsoft.com/office/drawing/2014/main" id="{BECC74E4-9D1B-1563-6419-62F30B699F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32918" y="883683"/>
            <a:ext cx="6438453" cy="4236018"/>
          </a:xfrm>
          <a:prstGeom prst="rect">
            <a:avLst/>
          </a:prstGeom>
          <a:noFill/>
          <a:ln>
            <a:noFill/>
          </a:ln>
        </p:spPr>
      </p:pic>
    </p:spTree>
    <p:extLst>
      <p:ext uri="{BB962C8B-B14F-4D97-AF65-F5344CB8AC3E}">
        <p14:creationId xmlns:p14="http://schemas.microsoft.com/office/powerpoint/2010/main" val="36685694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DB350-0D14-5DFD-043B-CBE557D418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D628BC7-FB02-D4DF-4078-66EE191F17FD}"/>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Reports (Engineering Requisitions status)</a:t>
            </a:r>
          </a:p>
        </p:txBody>
      </p:sp>
      <p:sp>
        <p:nvSpPr>
          <p:cNvPr id="3" name="Rectangle 2">
            <a:extLst>
              <a:ext uri="{FF2B5EF4-FFF2-40B4-BE49-F238E27FC236}">
                <a16:creationId xmlns:a16="http://schemas.microsoft.com/office/drawing/2014/main" id="{3B989E4E-DB72-2586-2D7C-7D6E94BC75D2}"/>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4B24751F-1A57-F147-4EDB-A432D465CD0B}"/>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5" name="Picture 4">
            <a:extLst>
              <a:ext uri="{FF2B5EF4-FFF2-40B4-BE49-F238E27FC236}">
                <a16:creationId xmlns:a16="http://schemas.microsoft.com/office/drawing/2014/main" id="{68F41C0F-B349-5C01-13AF-F0A4032D4704}"/>
              </a:ext>
            </a:extLst>
          </p:cNvPr>
          <p:cNvPicPr>
            <a:picLocks noChangeAspect="1"/>
          </p:cNvPicPr>
          <p:nvPr/>
        </p:nvPicPr>
        <p:blipFill>
          <a:blip r:embed="rId3"/>
          <a:stretch>
            <a:fillRect/>
          </a:stretch>
        </p:blipFill>
        <p:spPr>
          <a:xfrm>
            <a:off x="2301025" y="913459"/>
            <a:ext cx="7559788" cy="4206240"/>
          </a:xfrm>
          <a:prstGeom prst="rect">
            <a:avLst/>
          </a:prstGeom>
          <a:ln>
            <a:solidFill>
              <a:schemeClr val="bg1">
                <a:lumMod val="85000"/>
              </a:schemeClr>
            </a:solidFill>
          </a:ln>
        </p:spPr>
      </p:pic>
    </p:spTree>
    <p:extLst>
      <p:ext uri="{BB962C8B-B14F-4D97-AF65-F5344CB8AC3E}">
        <p14:creationId xmlns:p14="http://schemas.microsoft.com/office/powerpoint/2010/main" val="9785468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42DC6-758A-5891-3F16-7DF5F51CEEF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8A2A78B-8DEB-967C-1294-625DC64887A9}"/>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Supply Chain Dashboard </a:t>
            </a:r>
          </a:p>
        </p:txBody>
      </p:sp>
      <p:sp>
        <p:nvSpPr>
          <p:cNvPr id="3" name="Rectangle 2">
            <a:extLst>
              <a:ext uri="{FF2B5EF4-FFF2-40B4-BE49-F238E27FC236}">
                <a16:creationId xmlns:a16="http://schemas.microsoft.com/office/drawing/2014/main" id="{2B19D6B0-4F7E-B34A-73C4-BF1D862A0EC5}"/>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D447853A-09C0-D2E9-2FD6-620E693C1E04}"/>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8" name="Picture 7">
            <a:extLst>
              <a:ext uri="{FF2B5EF4-FFF2-40B4-BE49-F238E27FC236}">
                <a16:creationId xmlns:a16="http://schemas.microsoft.com/office/drawing/2014/main" id="{CB5A5AD1-ECF6-507A-9130-C0B51F241D1A}"/>
              </a:ext>
            </a:extLst>
          </p:cNvPr>
          <p:cNvPicPr>
            <a:picLocks noChangeAspect="1"/>
          </p:cNvPicPr>
          <p:nvPr/>
        </p:nvPicPr>
        <p:blipFill>
          <a:blip r:embed="rId3"/>
          <a:stretch>
            <a:fillRect/>
          </a:stretch>
        </p:blipFill>
        <p:spPr>
          <a:xfrm>
            <a:off x="2149325" y="917358"/>
            <a:ext cx="7457792" cy="4206240"/>
          </a:xfrm>
          <a:prstGeom prst="rect">
            <a:avLst/>
          </a:prstGeom>
          <a:ln>
            <a:solidFill>
              <a:schemeClr val="bg1">
                <a:lumMod val="85000"/>
              </a:schemeClr>
            </a:solidFill>
          </a:ln>
        </p:spPr>
      </p:pic>
    </p:spTree>
    <p:extLst>
      <p:ext uri="{BB962C8B-B14F-4D97-AF65-F5344CB8AC3E}">
        <p14:creationId xmlns:p14="http://schemas.microsoft.com/office/powerpoint/2010/main" val="21189181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B3BA8-A9AF-4C46-5DD3-EC14ACB858F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6066E5C-D23B-A191-6A80-91611E5BE07A}"/>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Spools Fabrication Dashboard </a:t>
            </a:r>
          </a:p>
        </p:txBody>
      </p:sp>
      <p:sp>
        <p:nvSpPr>
          <p:cNvPr id="3" name="Rectangle 2">
            <a:extLst>
              <a:ext uri="{FF2B5EF4-FFF2-40B4-BE49-F238E27FC236}">
                <a16:creationId xmlns:a16="http://schemas.microsoft.com/office/drawing/2014/main" id="{63107A5E-1799-5C3D-FE91-0A333990F6D3}"/>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9378F20E-7824-4B93-705D-F527A62ADF6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5" name="Picture 4">
            <a:extLst>
              <a:ext uri="{FF2B5EF4-FFF2-40B4-BE49-F238E27FC236}">
                <a16:creationId xmlns:a16="http://schemas.microsoft.com/office/drawing/2014/main" id="{07207526-B8A1-904C-57A5-BBE936A637E8}"/>
              </a:ext>
            </a:extLst>
          </p:cNvPr>
          <p:cNvPicPr>
            <a:picLocks noChangeAspect="1"/>
          </p:cNvPicPr>
          <p:nvPr/>
        </p:nvPicPr>
        <p:blipFill>
          <a:blip r:embed="rId3"/>
          <a:stretch>
            <a:fillRect/>
          </a:stretch>
        </p:blipFill>
        <p:spPr>
          <a:xfrm>
            <a:off x="2321733" y="915014"/>
            <a:ext cx="7518372" cy="4206240"/>
          </a:xfrm>
          <a:prstGeom prst="rect">
            <a:avLst/>
          </a:prstGeom>
          <a:ln>
            <a:solidFill>
              <a:schemeClr val="bg1">
                <a:lumMod val="85000"/>
              </a:schemeClr>
            </a:solidFill>
          </a:ln>
        </p:spPr>
      </p:pic>
    </p:spTree>
    <p:extLst>
      <p:ext uri="{BB962C8B-B14F-4D97-AF65-F5344CB8AC3E}">
        <p14:creationId xmlns:p14="http://schemas.microsoft.com/office/powerpoint/2010/main" val="2540115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9C7F0-ACCC-EB41-ACD6-42ABFFEB4A4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4DE191A-B039-1B49-3F33-4BCE2B8488EE}"/>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SMAT Website</a:t>
            </a:r>
          </a:p>
        </p:txBody>
      </p:sp>
      <p:sp>
        <p:nvSpPr>
          <p:cNvPr id="3" name="Rectangle 2">
            <a:extLst>
              <a:ext uri="{FF2B5EF4-FFF2-40B4-BE49-F238E27FC236}">
                <a16:creationId xmlns:a16="http://schemas.microsoft.com/office/drawing/2014/main" id="{C4AB24E6-A4B5-1936-2FAB-F03769ABDC3B}"/>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8B6B51B7-D5C8-7971-4156-F1E2B65F5CD6}"/>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2" name="Picture 1">
            <a:extLst>
              <a:ext uri="{FF2B5EF4-FFF2-40B4-BE49-F238E27FC236}">
                <a16:creationId xmlns:a16="http://schemas.microsoft.com/office/drawing/2014/main" id="{A738BC3A-90BE-956F-5AA4-935C57DF3622}"/>
              </a:ext>
            </a:extLst>
          </p:cNvPr>
          <p:cNvPicPr>
            <a:picLocks noChangeAspect="1"/>
          </p:cNvPicPr>
          <p:nvPr/>
        </p:nvPicPr>
        <p:blipFill>
          <a:blip r:embed="rId3"/>
          <a:stretch>
            <a:fillRect/>
          </a:stretch>
        </p:blipFill>
        <p:spPr>
          <a:xfrm>
            <a:off x="2744692" y="910350"/>
            <a:ext cx="6329661" cy="4176000"/>
          </a:xfrm>
          <a:prstGeom prst="rect">
            <a:avLst/>
          </a:prstGeom>
          <a:ln>
            <a:solidFill>
              <a:schemeClr val="bg1">
                <a:lumMod val="65000"/>
              </a:schemeClr>
            </a:solidFill>
          </a:ln>
        </p:spPr>
      </p:pic>
    </p:spTree>
    <p:extLst>
      <p:ext uri="{BB962C8B-B14F-4D97-AF65-F5344CB8AC3E}">
        <p14:creationId xmlns:p14="http://schemas.microsoft.com/office/powerpoint/2010/main" val="36232775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A95EB-54EB-0DEB-6553-2C2FBA273AB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4EB7C3F-31F3-FD08-A71C-3CC551444A7B}"/>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Contract Management (pre-award)</a:t>
            </a:r>
          </a:p>
        </p:txBody>
      </p:sp>
      <p:sp>
        <p:nvSpPr>
          <p:cNvPr id="3" name="Rectangle 2">
            <a:extLst>
              <a:ext uri="{FF2B5EF4-FFF2-40B4-BE49-F238E27FC236}">
                <a16:creationId xmlns:a16="http://schemas.microsoft.com/office/drawing/2014/main" id="{F0101EAE-0CA7-9CB0-2907-1BCE345F1A02}"/>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B8472509-BF06-6B83-A8F8-6237D3A16604}"/>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4" name="Picture 3">
            <a:extLst>
              <a:ext uri="{FF2B5EF4-FFF2-40B4-BE49-F238E27FC236}">
                <a16:creationId xmlns:a16="http://schemas.microsoft.com/office/drawing/2014/main" id="{C77D812B-6895-4791-A3C4-A22FA63A3A04}"/>
              </a:ext>
            </a:extLst>
          </p:cNvPr>
          <p:cNvPicPr>
            <a:picLocks noChangeAspect="1"/>
          </p:cNvPicPr>
          <p:nvPr/>
        </p:nvPicPr>
        <p:blipFill>
          <a:blip r:embed="rId3"/>
          <a:stretch>
            <a:fillRect/>
          </a:stretch>
        </p:blipFill>
        <p:spPr>
          <a:xfrm>
            <a:off x="1013241" y="1799665"/>
            <a:ext cx="2705478" cy="1933845"/>
          </a:xfrm>
          <a:prstGeom prst="rect">
            <a:avLst/>
          </a:prstGeom>
        </p:spPr>
      </p:pic>
      <p:pic>
        <p:nvPicPr>
          <p:cNvPr id="8" name="Picture 7">
            <a:extLst>
              <a:ext uri="{FF2B5EF4-FFF2-40B4-BE49-F238E27FC236}">
                <a16:creationId xmlns:a16="http://schemas.microsoft.com/office/drawing/2014/main" id="{F9CD4285-6D2E-69F0-06C8-BE09066D2C71}"/>
              </a:ext>
            </a:extLst>
          </p:cNvPr>
          <p:cNvPicPr>
            <a:picLocks noChangeAspect="1"/>
          </p:cNvPicPr>
          <p:nvPr/>
        </p:nvPicPr>
        <p:blipFill>
          <a:blip r:embed="rId4"/>
          <a:stretch>
            <a:fillRect/>
          </a:stretch>
        </p:blipFill>
        <p:spPr>
          <a:xfrm>
            <a:off x="3794919" y="1778706"/>
            <a:ext cx="2553056" cy="1962424"/>
          </a:xfrm>
          <a:prstGeom prst="rect">
            <a:avLst/>
          </a:prstGeom>
        </p:spPr>
      </p:pic>
      <p:pic>
        <p:nvPicPr>
          <p:cNvPr id="13" name="Picture 12">
            <a:extLst>
              <a:ext uri="{FF2B5EF4-FFF2-40B4-BE49-F238E27FC236}">
                <a16:creationId xmlns:a16="http://schemas.microsoft.com/office/drawing/2014/main" id="{1DC7ACB5-EC32-5537-8D9E-709323D5526A}"/>
              </a:ext>
            </a:extLst>
          </p:cNvPr>
          <p:cNvPicPr>
            <a:picLocks noChangeAspect="1"/>
          </p:cNvPicPr>
          <p:nvPr/>
        </p:nvPicPr>
        <p:blipFill>
          <a:blip r:embed="rId5"/>
          <a:stretch>
            <a:fillRect/>
          </a:stretch>
        </p:blipFill>
        <p:spPr>
          <a:xfrm>
            <a:off x="6385719" y="1771379"/>
            <a:ext cx="2495898" cy="1943371"/>
          </a:xfrm>
          <a:prstGeom prst="rect">
            <a:avLst/>
          </a:prstGeom>
        </p:spPr>
      </p:pic>
      <p:pic>
        <p:nvPicPr>
          <p:cNvPr id="15" name="Picture 14">
            <a:extLst>
              <a:ext uri="{FF2B5EF4-FFF2-40B4-BE49-F238E27FC236}">
                <a16:creationId xmlns:a16="http://schemas.microsoft.com/office/drawing/2014/main" id="{085170E8-A3FF-BB3B-13D9-B659A4F3B0F4}"/>
              </a:ext>
            </a:extLst>
          </p:cNvPr>
          <p:cNvPicPr>
            <a:picLocks noChangeAspect="1"/>
          </p:cNvPicPr>
          <p:nvPr/>
        </p:nvPicPr>
        <p:blipFill>
          <a:blip r:embed="rId6"/>
          <a:stretch>
            <a:fillRect/>
          </a:stretch>
        </p:blipFill>
        <p:spPr>
          <a:xfrm>
            <a:off x="8976519" y="1740082"/>
            <a:ext cx="2419688" cy="1914792"/>
          </a:xfrm>
          <a:prstGeom prst="rect">
            <a:avLst/>
          </a:prstGeom>
        </p:spPr>
      </p:pic>
    </p:spTree>
    <p:extLst>
      <p:ext uri="{BB962C8B-B14F-4D97-AF65-F5344CB8AC3E}">
        <p14:creationId xmlns:p14="http://schemas.microsoft.com/office/powerpoint/2010/main" val="26398936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82768-0A90-73F5-7D5F-5158CC7A5F8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64FE3EB-15FF-1D5E-9322-49F7D48C5AF9}"/>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Contract Management</a:t>
            </a:r>
          </a:p>
        </p:txBody>
      </p:sp>
      <p:sp>
        <p:nvSpPr>
          <p:cNvPr id="3" name="Rectangle 2">
            <a:extLst>
              <a:ext uri="{FF2B5EF4-FFF2-40B4-BE49-F238E27FC236}">
                <a16:creationId xmlns:a16="http://schemas.microsoft.com/office/drawing/2014/main" id="{E9B8FBD9-53D9-4040-0248-FBA78FD13FF0}"/>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DE8DD432-E1C4-595E-ECB4-9C4B234CCFBE}"/>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4100" name="Picture 4" descr="Develop Subcontracts_HighLevelWorkflow">
            <a:extLst>
              <a:ext uri="{FF2B5EF4-FFF2-40B4-BE49-F238E27FC236}">
                <a16:creationId xmlns:a16="http://schemas.microsoft.com/office/drawing/2014/main" id="{B4E94A60-7F7E-E8E7-C4B4-2B1699D6F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919" y="887140"/>
            <a:ext cx="5668148"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514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A77A6-E204-ED83-9BB1-13281E17964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E759D7-135D-11F3-B53C-B55062F65625}"/>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Execute contracts (post award)</a:t>
            </a:r>
          </a:p>
        </p:txBody>
      </p:sp>
      <p:sp>
        <p:nvSpPr>
          <p:cNvPr id="3" name="Rectangle 2">
            <a:extLst>
              <a:ext uri="{FF2B5EF4-FFF2-40B4-BE49-F238E27FC236}">
                <a16:creationId xmlns:a16="http://schemas.microsoft.com/office/drawing/2014/main" id="{8CCF4E4D-0184-58A9-2380-BA5B81DF0A6C}"/>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8DA6CA47-D46D-1A33-1804-5708EE51A8DD}"/>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6" name="Picture 5">
            <a:extLst>
              <a:ext uri="{FF2B5EF4-FFF2-40B4-BE49-F238E27FC236}">
                <a16:creationId xmlns:a16="http://schemas.microsoft.com/office/drawing/2014/main" id="{6721366D-3DC2-DCB5-B30C-A6018CA5CCA8}"/>
              </a:ext>
            </a:extLst>
          </p:cNvPr>
          <p:cNvPicPr>
            <a:picLocks noChangeAspect="1"/>
          </p:cNvPicPr>
          <p:nvPr/>
        </p:nvPicPr>
        <p:blipFill>
          <a:blip r:embed="rId3"/>
          <a:stretch>
            <a:fillRect/>
          </a:stretch>
        </p:blipFill>
        <p:spPr>
          <a:xfrm>
            <a:off x="1517233" y="1809750"/>
            <a:ext cx="2734886" cy="1920240"/>
          </a:xfrm>
          <a:prstGeom prst="rect">
            <a:avLst/>
          </a:prstGeom>
        </p:spPr>
      </p:pic>
      <p:pic>
        <p:nvPicPr>
          <p:cNvPr id="9" name="Picture 8">
            <a:extLst>
              <a:ext uri="{FF2B5EF4-FFF2-40B4-BE49-F238E27FC236}">
                <a16:creationId xmlns:a16="http://schemas.microsoft.com/office/drawing/2014/main" id="{B1DCC2FB-C94E-082B-589C-8A7A16518E45}"/>
              </a:ext>
            </a:extLst>
          </p:cNvPr>
          <p:cNvPicPr>
            <a:picLocks noChangeAspect="1"/>
          </p:cNvPicPr>
          <p:nvPr/>
        </p:nvPicPr>
        <p:blipFill>
          <a:blip r:embed="rId4"/>
          <a:stretch>
            <a:fillRect/>
          </a:stretch>
        </p:blipFill>
        <p:spPr>
          <a:xfrm>
            <a:off x="4855076" y="1721032"/>
            <a:ext cx="2673643" cy="2011680"/>
          </a:xfrm>
          <a:prstGeom prst="rect">
            <a:avLst/>
          </a:prstGeom>
        </p:spPr>
      </p:pic>
      <p:pic>
        <p:nvPicPr>
          <p:cNvPr id="12" name="Picture 11">
            <a:extLst>
              <a:ext uri="{FF2B5EF4-FFF2-40B4-BE49-F238E27FC236}">
                <a16:creationId xmlns:a16="http://schemas.microsoft.com/office/drawing/2014/main" id="{91B47D3B-532D-6034-8039-06A7BFA7FD60}"/>
              </a:ext>
            </a:extLst>
          </p:cNvPr>
          <p:cNvPicPr>
            <a:picLocks noChangeAspect="1"/>
          </p:cNvPicPr>
          <p:nvPr/>
        </p:nvPicPr>
        <p:blipFill>
          <a:blip r:embed="rId5"/>
          <a:stretch>
            <a:fillRect/>
          </a:stretch>
        </p:blipFill>
        <p:spPr>
          <a:xfrm>
            <a:off x="8214520" y="1617054"/>
            <a:ext cx="2816195" cy="2103120"/>
          </a:xfrm>
          <a:prstGeom prst="rect">
            <a:avLst/>
          </a:prstGeom>
        </p:spPr>
      </p:pic>
    </p:spTree>
    <p:extLst>
      <p:ext uri="{BB962C8B-B14F-4D97-AF65-F5344CB8AC3E}">
        <p14:creationId xmlns:p14="http://schemas.microsoft.com/office/powerpoint/2010/main" val="8443944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6D09-C58C-D539-A70E-D5201EF793F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ABFC6FD-3C84-FF57-8BFD-1C2F9CB29E1D}"/>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Execute contracts (post award)</a:t>
            </a:r>
          </a:p>
        </p:txBody>
      </p:sp>
      <p:sp>
        <p:nvSpPr>
          <p:cNvPr id="3" name="Rectangle 2">
            <a:extLst>
              <a:ext uri="{FF2B5EF4-FFF2-40B4-BE49-F238E27FC236}">
                <a16:creationId xmlns:a16="http://schemas.microsoft.com/office/drawing/2014/main" id="{104DC9C4-73C7-16A2-B6A3-3A07957E27F2}"/>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6DA34E0D-0364-8DD5-4AE1-80FFF7F3B287}"/>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5122" name="Picture 2">
            <a:extLst>
              <a:ext uri="{FF2B5EF4-FFF2-40B4-BE49-F238E27FC236}">
                <a16:creationId xmlns:a16="http://schemas.microsoft.com/office/drawing/2014/main" id="{9AB4559B-4BE4-047E-DCC0-40EA252827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85319" y="889516"/>
            <a:ext cx="5431760" cy="4206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5311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4A085-A690-3518-31D2-4AF910B975C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C80191F-4422-401D-4F87-D1F3E4815186}"/>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SMAT old environment</a:t>
            </a:r>
          </a:p>
        </p:txBody>
      </p:sp>
      <p:sp>
        <p:nvSpPr>
          <p:cNvPr id="3" name="Rectangle 2">
            <a:extLst>
              <a:ext uri="{FF2B5EF4-FFF2-40B4-BE49-F238E27FC236}">
                <a16:creationId xmlns:a16="http://schemas.microsoft.com/office/drawing/2014/main" id="{129C158E-99D9-4A3D-DB15-C5FEA730CD0D}"/>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E0B9860C-6554-533E-0544-95C29761C9BD}"/>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9" name="Picture 8" descr="A computer server and a green cylinder&#10;&#10;Description automatically generated with medium confidence">
            <a:extLst>
              <a:ext uri="{FF2B5EF4-FFF2-40B4-BE49-F238E27FC236}">
                <a16:creationId xmlns:a16="http://schemas.microsoft.com/office/drawing/2014/main" id="{A5A8AF26-2CA2-428F-E54D-41384B5AD7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18919" y="1423639"/>
            <a:ext cx="1463040" cy="1463040"/>
          </a:xfrm>
          <a:prstGeom prst="rect">
            <a:avLst/>
          </a:prstGeom>
        </p:spPr>
      </p:pic>
      <p:pic>
        <p:nvPicPr>
          <p:cNvPr id="12" name="Picture 11">
            <a:extLst>
              <a:ext uri="{FF2B5EF4-FFF2-40B4-BE49-F238E27FC236}">
                <a16:creationId xmlns:a16="http://schemas.microsoft.com/office/drawing/2014/main" id="{4761A6D0-09DE-F5D8-7ADC-BD454460BB1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098725" y="1712637"/>
            <a:ext cx="1463040" cy="1463040"/>
          </a:xfrm>
          <a:prstGeom prst="rect">
            <a:avLst/>
          </a:prstGeom>
        </p:spPr>
      </p:pic>
      <p:pic>
        <p:nvPicPr>
          <p:cNvPr id="15" name="Picture 14" descr="A blue and black sign with black dots&#10;&#10;Description automatically generated">
            <a:extLst>
              <a:ext uri="{FF2B5EF4-FFF2-40B4-BE49-F238E27FC236}">
                <a16:creationId xmlns:a16="http://schemas.microsoft.com/office/drawing/2014/main" id="{0AFAA826-62F8-EB86-CE74-D11DE751CD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58597" y="1867426"/>
            <a:ext cx="1463040" cy="1280160"/>
          </a:xfrm>
          <a:prstGeom prst="rect">
            <a:avLst/>
          </a:prstGeom>
        </p:spPr>
      </p:pic>
      <p:sp>
        <p:nvSpPr>
          <p:cNvPr id="16" name="TextBox 15">
            <a:extLst>
              <a:ext uri="{FF2B5EF4-FFF2-40B4-BE49-F238E27FC236}">
                <a16:creationId xmlns:a16="http://schemas.microsoft.com/office/drawing/2014/main" id="{F9238E3F-D4A5-76C2-9C6A-87A47E373A61}"/>
              </a:ext>
            </a:extLst>
          </p:cNvPr>
          <p:cNvSpPr txBox="1"/>
          <p:nvPr/>
        </p:nvSpPr>
        <p:spPr>
          <a:xfrm>
            <a:off x="5252807" y="1123950"/>
            <a:ext cx="1656223" cy="338554"/>
          </a:xfrm>
          <a:prstGeom prst="rect">
            <a:avLst/>
          </a:prstGeom>
          <a:noFill/>
        </p:spPr>
        <p:txBody>
          <a:bodyPr wrap="none" rtlCol="0">
            <a:spAutoFit/>
          </a:bodyPr>
          <a:lstStyle/>
          <a:p>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Database server</a:t>
            </a:r>
          </a:p>
        </p:txBody>
      </p:sp>
      <p:sp>
        <p:nvSpPr>
          <p:cNvPr id="17" name="TextBox 16">
            <a:extLst>
              <a:ext uri="{FF2B5EF4-FFF2-40B4-BE49-F238E27FC236}">
                <a16:creationId xmlns:a16="http://schemas.microsoft.com/office/drawing/2014/main" id="{B90B2975-A8A8-D6B6-921C-7B658C530BEE}"/>
              </a:ext>
            </a:extLst>
          </p:cNvPr>
          <p:cNvSpPr txBox="1"/>
          <p:nvPr/>
        </p:nvSpPr>
        <p:spPr>
          <a:xfrm>
            <a:off x="2258597" y="1480786"/>
            <a:ext cx="1455848" cy="338554"/>
          </a:xfrm>
          <a:prstGeom prst="rect">
            <a:avLst/>
          </a:prstGeom>
          <a:noFill/>
        </p:spPr>
        <p:txBody>
          <a:bodyPr wrap="none" rtlCol="0">
            <a:spAutoFit/>
          </a:bodyPr>
          <a:lstStyle/>
          <a:p>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App-01 server</a:t>
            </a:r>
          </a:p>
        </p:txBody>
      </p:sp>
      <p:sp>
        <p:nvSpPr>
          <p:cNvPr id="18" name="TextBox 17">
            <a:extLst>
              <a:ext uri="{FF2B5EF4-FFF2-40B4-BE49-F238E27FC236}">
                <a16:creationId xmlns:a16="http://schemas.microsoft.com/office/drawing/2014/main" id="{48926757-B80D-47B9-EEC4-4B30DEE8F62E}"/>
              </a:ext>
            </a:extLst>
          </p:cNvPr>
          <p:cNvSpPr txBox="1"/>
          <p:nvPr/>
        </p:nvSpPr>
        <p:spPr>
          <a:xfrm>
            <a:off x="8122552" y="1433723"/>
            <a:ext cx="1518364" cy="338554"/>
          </a:xfrm>
          <a:prstGeom prst="rect">
            <a:avLst/>
          </a:prstGeom>
          <a:noFill/>
        </p:spPr>
        <p:txBody>
          <a:bodyPr wrap="none" rtlCol="0">
            <a:spAutoFit/>
          </a:bodyPr>
          <a:lstStyle/>
          <a:p>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App-02  server</a:t>
            </a:r>
          </a:p>
        </p:txBody>
      </p:sp>
      <p:cxnSp>
        <p:nvCxnSpPr>
          <p:cNvPr id="30" name="Connector: Elbow 29">
            <a:extLst>
              <a:ext uri="{FF2B5EF4-FFF2-40B4-BE49-F238E27FC236}">
                <a16:creationId xmlns:a16="http://schemas.microsoft.com/office/drawing/2014/main" id="{DF86C182-5D90-DDA2-F5BB-31F2B15545AF}"/>
              </a:ext>
            </a:extLst>
          </p:cNvPr>
          <p:cNvCxnSpPr>
            <a:stCxn id="9" idx="3"/>
            <a:endCxn id="12" idx="1"/>
          </p:cNvCxnSpPr>
          <p:nvPr/>
        </p:nvCxnSpPr>
        <p:spPr>
          <a:xfrm>
            <a:off x="6781959" y="2155159"/>
            <a:ext cx="1316766" cy="28899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BBFEC636-227C-0944-8122-18FEB84F908D}"/>
              </a:ext>
            </a:extLst>
          </p:cNvPr>
          <p:cNvCxnSpPr>
            <a:cxnSpLocks/>
            <a:stCxn id="15" idx="3"/>
            <a:endCxn id="9" idx="1"/>
          </p:cNvCxnSpPr>
          <p:nvPr/>
        </p:nvCxnSpPr>
        <p:spPr>
          <a:xfrm flipV="1">
            <a:off x="3721637" y="2155159"/>
            <a:ext cx="1597282" cy="352347"/>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2" name="Picture 21" descr="A blue and black sign with black dots&#10;&#10;Description automatically generated">
            <a:extLst>
              <a:ext uri="{FF2B5EF4-FFF2-40B4-BE49-F238E27FC236}">
                <a16:creationId xmlns:a16="http://schemas.microsoft.com/office/drawing/2014/main" id="{3B23DB6E-46DE-45B8-3194-47C6F974A6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75919" y="3623597"/>
            <a:ext cx="1463040" cy="1280160"/>
          </a:xfrm>
          <a:prstGeom prst="rect">
            <a:avLst/>
          </a:prstGeom>
        </p:spPr>
      </p:pic>
      <p:sp>
        <p:nvSpPr>
          <p:cNvPr id="23" name="TextBox 22">
            <a:extLst>
              <a:ext uri="{FF2B5EF4-FFF2-40B4-BE49-F238E27FC236}">
                <a16:creationId xmlns:a16="http://schemas.microsoft.com/office/drawing/2014/main" id="{4BF8821C-AB32-D0C5-2E4F-8156ACB5B19A}"/>
              </a:ext>
            </a:extLst>
          </p:cNvPr>
          <p:cNvSpPr txBox="1"/>
          <p:nvPr/>
        </p:nvSpPr>
        <p:spPr>
          <a:xfrm>
            <a:off x="4075332" y="3299996"/>
            <a:ext cx="1700787" cy="338554"/>
          </a:xfrm>
          <a:prstGeom prst="rect">
            <a:avLst/>
          </a:prstGeom>
          <a:noFill/>
        </p:spPr>
        <p:txBody>
          <a:bodyPr wrap="none" rtlCol="0">
            <a:spAutoFit/>
          </a:bodyPr>
          <a:lstStyle/>
          <a:p>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Reporting server</a:t>
            </a:r>
          </a:p>
        </p:txBody>
      </p:sp>
      <p:cxnSp>
        <p:nvCxnSpPr>
          <p:cNvPr id="25" name="Connector: Elbow 24">
            <a:extLst>
              <a:ext uri="{FF2B5EF4-FFF2-40B4-BE49-F238E27FC236}">
                <a16:creationId xmlns:a16="http://schemas.microsoft.com/office/drawing/2014/main" id="{EDAC898C-6070-2EE3-8DC0-B4299291A52F}"/>
              </a:ext>
            </a:extLst>
          </p:cNvPr>
          <p:cNvCxnSpPr>
            <a:stCxn id="22" idx="3"/>
            <a:endCxn id="9" idx="2"/>
          </p:cNvCxnSpPr>
          <p:nvPr/>
        </p:nvCxnSpPr>
        <p:spPr>
          <a:xfrm flipV="1">
            <a:off x="5638959" y="2886679"/>
            <a:ext cx="411480" cy="1376998"/>
          </a:xfrm>
          <a:prstGeom prst="bentConnector2">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573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81A27-8610-E858-EED6-682BF039F6B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F6AA322-D932-D463-FC99-8EF91CDF3DE6}"/>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SMAT New environment</a:t>
            </a:r>
          </a:p>
        </p:txBody>
      </p:sp>
      <p:sp>
        <p:nvSpPr>
          <p:cNvPr id="3" name="Rectangle 2">
            <a:extLst>
              <a:ext uri="{FF2B5EF4-FFF2-40B4-BE49-F238E27FC236}">
                <a16:creationId xmlns:a16="http://schemas.microsoft.com/office/drawing/2014/main" id="{F9B383C6-6426-8A79-F107-016B7375653A}"/>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243A822E-6716-5C0F-943E-4451B8C37747}"/>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6" name="Picture 5" descr="A diagram of a server&#10;&#10;Description automatically generated">
            <a:extLst>
              <a:ext uri="{FF2B5EF4-FFF2-40B4-BE49-F238E27FC236}">
                <a16:creationId xmlns:a16="http://schemas.microsoft.com/office/drawing/2014/main" id="{5A46E613-6BB5-52C5-DED3-CE356B61F6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8623" y="889516"/>
            <a:ext cx="5760720" cy="4075376"/>
          </a:xfrm>
          <a:prstGeom prst="rect">
            <a:avLst/>
          </a:prstGeom>
        </p:spPr>
      </p:pic>
    </p:spTree>
    <p:extLst>
      <p:ext uri="{BB962C8B-B14F-4D97-AF65-F5344CB8AC3E}">
        <p14:creationId xmlns:p14="http://schemas.microsoft.com/office/powerpoint/2010/main" val="21859541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AD2F2-35A0-7BEC-3AE4-101877B2A00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2B4894-5A0B-E62C-204B-6E544D1708DB}"/>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SMAT Workflow</a:t>
            </a:r>
          </a:p>
        </p:txBody>
      </p:sp>
      <p:sp>
        <p:nvSpPr>
          <p:cNvPr id="3" name="Rectangle 2">
            <a:extLst>
              <a:ext uri="{FF2B5EF4-FFF2-40B4-BE49-F238E27FC236}">
                <a16:creationId xmlns:a16="http://schemas.microsoft.com/office/drawing/2014/main" id="{F4E4FE3E-43FE-3403-4423-F1ADF3398CED}"/>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17E5650E-ECD9-FAD7-4954-72768BBB25D1}"/>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147" name="Picture 146">
            <a:extLst>
              <a:ext uri="{FF2B5EF4-FFF2-40B4-BE49-F238E27FC236}">
                <a16:creationId xmlns:a16="http://schemas.microsoft.com/office/drawing/2014/main" id="{AC8625F5-AA7D-5729-A68D-A279B97BEBFC}"/>
              </a:ext>
            </a:extLst>
          </p:cNvPr>
          <p:cNvPicPr>
            <a:picLocks noChangeAspect="1"/>
          </p:cNvPicPr>
          <p:nvPr/>
        </p:nvPicPr>
        <p:blipFill>
          <a:blip r:embed="rId3"/>
          <a:stretch>
            <a:fillRect/>
          </a:stretch>
        </p:blipFill>
        <p:spPr>
          <a:xfrm>
            <a:off x="1873511" y="864870"/>
            <a:ext cx="8970264" cy="4297680"/>
          </a:xfrm>
          <a:prstGeom prst="rect">
            <a:avLst/>
          </a:prstGeom>
        </p:spPr>
      </p:pic>
    </p:spTree>
    <p:extLst>
      <p:ext uri="{BB962C8B-B14F-4D97-AF65-F5344CB8AC3E}">
        <p14:creationId xmlns:p14="http://schemas.microsoft.com/office/powerpoint/2010/main" val="24050994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94184-137A-ECDF-7A8D-F33E2FE9FB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2FFE4E-E4C9-D474-8858-0D085C26945E}"/>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Engineering Integration</a:t>
            </a:r>
          </a:p>
        </p:txBody>
      </p:sp>
      <p:sp>
        <p:nvSpPr>
          <p:cNvPr id="3" name="Rectangle 2">
            <a:extLst>
              <a:ext uri="{FF2B5EF4-FFF2-40B4-BE49-F238E27FC236}">
                <a16:creationId xmlns:a16="http://schemas.microsoft.com/office/drawing/2014/main" id="{EBD1F587-B4A1-514A-616C-99D7BC5F6053}"/>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D7EEDC36-A630-01E9-D4AE-CE37E13632F4}"/>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13" name="Picture 12" descr="A green square with black text&#10;&#10;AI-generated content may be incorrect.">
            <a:extLst>
              <a:ext uri="{FF2B5EF4-FFF2-40B4-BE49-F238E27FC236}">
                <a16:creationId xmlns:a16="http://schemas.microsoft.com/office/drawing/2014/main" id="{ECA7CBAD-0C63-46DB-8063-DB9BA2703E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049" y="928699"/>
            <a:ext cx="10287000" cy="4191000"/>
          </a:xfrm>
          <a:prstGeom prst="rect">
            <a:avLst/>
          </a:prstGeom>
        </p:spPr>
      </p:pic>
    </p:spTree>
    <p:extLst>
      <p:ext uri="{BB962C8B-B14F-4D97-AF65-F5344CB8AC3E}">
        <p14:creationId xmlns:p14="http://schemas.microsoft.com/office/powerpoint/2010/main" val="17662940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4E5F-4CC9-14B9-96A3-07D4B2210FF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2C12ED9-7C3F-52BE-78C2-730D0DCD7017}"/>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SMAT Workflow</a:t>
            </a:r>
          </a:p>
        </p:txBody>
      </p:sp>
      <p:sp>
        <p:nvSpPr>
          <p:cNvPr id="3" name="Rectangle 2">
            <a:extLst>
              <a:ext uri="{FF2B5EF4-FFF2-40B4-BE49-F238E27FC236}">
                <a16:creationId xmlns:a16="http://schemas.microsoft.com/office/drawing/2014/main" id="{AF0CF5C1-851F-722C-BD49-56E814C19C30}"/>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DAA9639D-BA7C-7A78-27B7-1904078E2CC7}"/>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6" name="Picture 5">
            <a:extLst>
              <a:ext uri="{FF2B5EF4-FFF2-40B4-BE49-F238E27FC236}">
                <a16:creationId xmlns:a16="http://schemas.microsoft.com/office/drawing/2014/main" id="{5EB9DD4B-47B6-E27B-238B-87EFC6C01B8C}"/>
              </a:ext>
            </a:extLst>
          </p:cNvPr>
          <p:cNvPicPr>
            <a:picLocks noChangeAspect="1"/>
          </p:cNvPicPr>
          <p:nvPr/>
        </p:nvPicPr>
        <p:blipFill>
          <a:blip r:embed="rId3"/>
          <a:stretch>
            <a:fillRect/>
          </a:stretch>
        </p:blipFill>
        <p:spPr>
          <a:xfrm>
            <a:off x="2183774" y="864870"/>
            <a:ext cx="7935745" cy="4297680"/>
          </a:xfrm>
          <a:prstGeom prst="rect">
            <a:avLst/>
          </a:prstGeom>
        </p:spPr>
      </p:pic>
    </p:spTree>
    <p:extLst>
      <p:ext uri="{BB962C8B-B14F-4D97-AF65-F5344CB8AC3E}">
        <p14:creationId xmlns:p14="http://schemas.microsoft.com/office/powerpoint/2010/main" val="23172259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9EAD6-3434-8C1B-2044-C5CCDA3CEDE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ECBB55F-743E-0DC3-B662-0E3C901A06B0}"/>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SMAT User Interface - Transition Status</a:t>
            </a:r>
          </a:p>
        </p:txBody>
      </p:sp>
      <p:sp>
        <p:nvSpPr>
          <p:cNvPr id="3" name="Rectangle 2">
            <a:extLst>
              <a:ext uri="{FF2B5EF4-FFF2-40B4-BE49-F238E27FC236}">
                <a16:creationId xmlns:a16="http://schemas.microsoft.com/office/drawing/2014/main" id="{1B4569BF-AE4F-EEDA-D9FB-42043548BF4B}"/>
              </a:ext>
            </a:extLst>
          </p:cNvPr>
          <p:cNvSpPr>
            <a:spLocks noGrp="1" noRot="1" noMove="1" noResize="1" noEditPoints="1" noAdjustHandles="1" noChangeArrowheads="1" noChangeShapeType="1"/>
          </p:cNvSpPr>
          <p:nvPr/>
        </p:nvSpPr>
        <p:spPr>
          <a:xfrm>
            <a:off x="810789" y="1148318"/>
            <a:ext cx="10134865" cy="313912"/>
          </a:xfrm>
          <a:prstGeom prst="rect">
            <a:avLst/>
          </a:prstGeom>
        </p:spPr>
        <p:txBody>
          <a:bodyPr wrap="square" lIns="91423" tIns="45710" rIns="91423" bIns="45710">
            <a:spAutoFit/>
          </a:bodyPr>
          <a:lstStyle/>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11" name="Rectangle 10">
            <a:extLst>
              <a:ext uri="{FF2B5EF4-FFF2-40B4-BE49-F238E27FC236}">
                <a16:creationId xmlns:a16="http://schemas.microsoft.com/office/drawing/2014/main" id="{C203B728-6D58-9211-400C-BC2FCA73AF3B}"/>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8" name="Picture 7">
            <a:extLst>
              <a:ext uri="{FF2B5EF4-FFF2-40B4-BE49-F238E27FC236}">
                <a16:creationId xmlns:a16="http://schemas.microsoft.com/office/drawing/2014/main" id="{C5CAFDB1-B2F0-2D27-C2A9-E69966EA6D0C}"/>
              </a:ext>
            </a:extLst>
          </p:cNvPr>
          <p:cNvPicPr>
            <a:picLocks noChangeAspect="1"/>
          </p:cNvPicPr>
          <p:nvPr/>
        </p:nvPicPr>
        <p:blipFill>
          <a:blip r:embed="rId3"/>
          <a:stretch>
            <a:fillRect/>
          </a:stretch>
        </p:blipFill>
        <p:spPr>
          <a:xfrm>
            <a:off x="1642341" y="864870"/>
            <a:ext cx="9162978" cy="4297680"/>
          </a:xfrm>
          <a:prstGeom prst="rect">
            <a:avLst/>
          </a:prstGeom>
        </p:spPr>
      </p:pic>
    </p:spTree>
    <p:extLst>
      <p:ext uri="{BB962C8B-B14F-4D97-AF65-F5344CB8AC3E}">
        <p14:creationId xmlns:p14="http://schemas.microsoft.com/office/powerpoint/2010/main" val="23720716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844524-AA45-014E-4926-F0516745B490}"/>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BOM &amp; Material Requisitions</a:t>
            </a:r>
          </a:p>
        </p:txBody>
      </p:sp>
      <p:sp>
        <p:nvSpPr>
          <p:cNvPr id="11" name="Rectangle 10">
            <a:extLst>
              <a:ext uri="{FF2B5EF4-FFF2-40B4-BE49-F238E27FC236}">
                <a16:creationId xmlns:a16="http://schemas.microsoft.com/office/drawing/2014/main" id="{880F1151-15ED-183A-0A6F-83F233555D0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1026" name="Picture 2">
            <a:extLst>
              <a:ext uri="{FF2B5EF4-FFF2-40B4-BE49-F238E27FC236}">
                <a16:creationId xmlns:a16="http://schemas.microsoft.com/office/drawing/2014/main" id="{E04A8371-E8F3-F7AD-CA20-65C3515E5E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81" t="4257" r="1090"/>
          <a:stretch/>
        </p:blipFill>
        <p:spPr bwMode="auto">
          <a:xfrm>
            <a:off x="990757" y="1123949"/>
            <a:ext cx="4937762" cy="3427085"/>
          </a:xfrm>
          <a:prstGeom prst="rect">
            <a:avLst/>
          </a:prstGeom>
          <a:noFill/>
          <a:ln>
            <a:solidFill>
              <a:schemeClr val="bg2">
                <a:lumMod val="25000"/>
              </a:schemeClr>
            </a:solidFill>
          </a:ln>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089FFDA-A542-582D-235C-453DA22BDA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3321" y="1123949"/>
            <a:ext cx="4937760" cy="3420827"/>
          </a:xfrm>
          <a:prstGeom prst="rect">
            <a:avLst/>
          </a:prstGeom>
          <a:noFill/>
          <a:ln>
            <a:solidFill>
              <a:schemeClr val="bg2">
                <a:lumMod val="2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3759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B3C4-0E3B-D05A-EF84-B9EED6C95599}"/>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B61314CA-29D5-9025-89DF-2C3E9FF21AAC}"/>
              </a:ext>
            </a:extLst>
          </p:cNvPr>
          <p:cNvSpPr/>
          <p:nvPr/>
        </p:nvSpPr>
        <p:spPr>
          <a:xfrm>
            <a:off x="9967119" y="1200150"/>
            <a:ext cx="1641859" cy="3200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diagram of a machine&#10;&#10;AI-generated content may be incorrect.">
            <a:extLst>
              <a:ext uri="{FF2B5EF4-FFF2-40B4-BE49-F238E27FC236}">
                <a16:creationId xmlns:a16="http://schemas.microsoft.com/office/drawing/2014/main" id="{13FF4D7F-D0A5-B527-0B57-34FBA61BA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919" y="1342770"/>
            <a:ext cx="4754880" cy="2674620"/>
          </a:xfrm>
          <a:prstGeom prst="rect">
            <a:avLst/>
          </a:prstGeom>
        </p:spPr>
      </p:pic>
      <p:sp>
        <p:nvSpPr>
          <p:cNvPr id="24" name="Rectangle: Rounded Corners 23">
            <a:extLst>
              <a:ext uri="{FF2B5EF4-FFF2-40B4-BE49-F238E27FC236}">
                <a16:creationId xmlns:a16="http://schemas.microsoft.com/office/drawing/2014/main" id="{0A348E8B-A36A-3F4E-63B3-848473017A71}"/>
              </a:ext>
            </a:extLst>
          </p:cNvPr>
          <p:cNvSpPr/>
          <p:nvPr/>
        </p:nvSpPr>
        <p:spPr>
          <a:xfrm>
            <a:off x="5963060" y="1356162"/>
            <a:ext cx="1641859" cy="2674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60F896E-C7CD-56F4-0E98-76FE9F6F4449}"/>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BOM &amp; Material Requisitions</a:t>
            </a:r>
          </a:p>
        </p:txBody>
      </p:sp>
      <p:sp>
        <p:nvSpPr>
          <p:cNvPr id="11" name="Rectangle 10">
            <a:extLst>
              <a:ext uri="{FF2B5EF4-FFF2-40B4-BE49-F238E27FC236}">
                <a16:creationId xmlns:a16="http://schemas.microsoft.com/office/drawing/2014/main" id="{35F20E64-3C67-BFEA-8A03-998A32B8F3F7}"/>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sp>
        <p:nvSpPr>
          <p:cNvPr id="5" name="Rectangle 4">
            <a:extLst>
              <a:ext uri="{FF2B5EF4-FFF2-40B4-BE49-F238E27FC236}">
                <a16:creationId xmlns:a16="http://schemas.microsoft.com/office/drawing/2014/main" id="{0C22E4BA-8359-A81E-EDFC-E8C5B80E2A17}"/>
              </a:ext>
            </a:extLst>
          </p:cNvPr>
          <p:cNvSpPr/>
          <p:nvPr/>
        </p:nvSpPr>
        <p:spPr>
          <a:xfrm>
            <a:off x="6174390" y="1915417"/>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MRQ-1</a:t>
            </a:r>
          </a:p>
        </p:txBody>
      </p:sp>
      <p:sp>
        <p:nvSpPr>
          <p:cNvPr id="6" name="Rectangle 5">
            <a:extLst>
              <a:ext uri="{FF2B5EF4-FFF2-40B4-BE49-F238E27FC236}">
                <a16:creationId xmlns:a16="http://schemas.microsoft.com/office/drawing/2014/main" id="{434553F4-FA23-68A1-C447-99289368B268}"/>
              </a:ext>
            </a:extLst>
          </p:cNvPr>
          <p:cNvSpPr/>
          <p:nvPr/>
        </p:nvSpPr>
        <p:spPr>
          <a:xfrm>
            <a:off x="6174390" y="2387353"/>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MRQ-2</a:t>
            </a:r>
          </a:p>
        </p:txBody>
      </p:sp>
      <p:sp>
        <p:nvSpPr>
          <p:cNvPr id="8" name="Rectangle 7">
            <a:extLst>
              <a:ext uri="{FF2B5EF4-FFF2-40B4-BE49-F238E27FC236}">
                <a16:creationId xmlns:a16="http://schemas.microsoft.com/office/drawing/2014/main" id="{959C4681-5C64-E72B-5EB9-05E08704028D}"/>
              </a:ext>
            </a:extLst>
          </p:cNvPr>
          <p:cNvSpPr/>
          <p:nvPr/>
        </p:nvSpPr>
        <p:spPr>
          <a:xfrm>
            <a:off x="6174390" y="2877429"/>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MRQ-3</a:t>
            </a:r>
          </a:p>
        </p:txBody>
      </p:sp>
      <p:sp>
        <p:nvSpPr>
          <p:cNvPr id="14" name="Rectangle: Rounded Corners 13">
            <a:extLst>
              <a:ext uri="{FF2B5EF4-FFF2-40B4-BE49-F238E27FC236}">
                <a16:creationId xmlns:a16="http://schemas.microsoft.com/office/drawing/2014/main" id="{069F3D28-F330-742A-A9CC-209CCB5ED251}"/>
              </a:ext>
            </a:extLst>
          </p:cNvPr>
          <p:cNvSpPr/>
          <p:nvPr/>
        </p:nvSpPr>
        <p:spPr>
          <a:xfrm>
            <a:off x="8062119" y="2343150"/>
            <a:ext cx="1447800" cy="1143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Inquiry</a:t>
            </a:r>
          </a:p>
        </p:txBody>
      </p:sp>
      <p:sp>
        <p:nvSpPr>
          <p:cNvPr id="15" name="Rectangle 14">
            <a:extLst>
              <a:ext uri="{FF2B5EF4-FFF2-40B4-BE49-F238E27FC236}">
                <a16:creationId xmlns:a16="http://schemas.microsoft.com/office/drawing/2014/main" id="{1D71511F-18C0-CCFD-5313-DDB451977141}"/>
              </a:ext>
            </a:extLst>
          </p:cNvPr>
          <p:cNvSpPr/>
          <p:nvPr/>
        </p:nvSpPr>
        <p:spPr>
          <a:xfrm>
            <a:off x="6174390" y="3367505"/>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MRQ-4</a:t>
            </a:r>
          </a:p>
        </p:txBody>
      </p:sp>
      <p:sp>
        <p:nvSpPr>
          <p:cNvPr id="16" name="Rectangle 15">
            <a:extLst>
              <a:ext uri="{FF2B5EF4-FFF2-40B4-BE49-F238E27FC236}">
                <a16:creationId xmlns:a16="http://schemas.microsoft.com/office/drawing/2014/main" id="{A90D092E-6193-B196-9C90-286447AB091B}"/>
              </a:ext>
            </a:extLst>
          </p:cNvPr>
          <p:cNvSpPr/>
          <p:nvPr/>
        </p:nvSpPr>
        <p:spPr>
          <a:xfrm>
            <a:off x="10161178" y="1609656"/>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MRP-1-1</a:t>
            </a:r>
          </a:p>
        </p:txBody>
      </p:sp>
      <p:sp>
        <p:nvSpPr>
          <p:cNvPr id="17" name="Rectangle 16">
            <a:extLst>
              <a:ext uri="{FF2B5EF4-FFF2-40B4-BE49-F238E27FC236}">
                <a16:creationId xmlns:a16="http://schemas.microsoft.com/office/drawing/2014/main" id="{4CB77052-6C9E-FEF1-77FD-508B0D97B3B6}"/>
              </a:ext>
            </a:extLst>
          </p:cNvPr>
          <p:cNvSpPr/>
          <p:nvPr/>
        </p:nvSpPr>
        <p:spPr>
          <a:xfrm>
            <a:off x="10161178" y="2154832"/>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MRP-1-2</a:t>
            </a:r>
          </a:p>
        </p:txBody>
      </p:sp>
      <p:sp>
        <p:nvSpPr>
          <p:cNvPr id="18" name="Arrow: Right 17">
            <a:extLst>
              <a:ext uri="{FF2B5EF4-FFF2-40B4-BE49-F238E27FC236}">
                <a16:creationId xmlns:a16="http://schemas.microsoft.com/office/drawing/2014/main" id="{85BF343C-34D9-6BF1-DF97-7D406CF7E0E2}"/>
              </a:ext>
            </a:extLst>
          </p:cNvPr>
          <p:cNvSpPr/>
          <p:nvPr/>
        </p:nvSpPr>
        <p:spPr>
          <a:xfrm>
            <a:off x="5550843" y="2827494"/>
            <a:ext cx="347198" cy="223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35647CC7-8661-536E-EC30-533F6908AD4A}"/>
              </a:ext>
            </a:extLst>
          </p:cNvPr>
          <p:cNvSpPr/>
          <p:nvPr/>
        </p:nvSpPr>
        <p:spPr>
          <a:xfrm>
            <a:off x="7681119" y="2832441"/>
            <a:ext cx="347198" cy="223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298F9C3D-BAEB-AD68-0C2D-E64A333CC0C7}"/>
              </a:ext>
            </a:extLst>
          </p:cNvPr>
          <p:cNvSpPr/>
          <p:nvPr/>
        </p:nvSpPr>
        <p:spPr>
          <a:xfrm>
            <a:off x="9575900" y="2825550"/>
            <a:ext cx="347198" cy="223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4366CE1-F759-70EE-14A3-A2D88FA61FA3}"/>
              </a:ext>
            </a:extLst>
          </p:cNvPr>
          <p:cNvSpPr/>
          <p:nvPr/>
        </p:nvSpPr>
        <p:spPr>
          <a:xfrm>
            <a:off x="10161178" y="2752656"/>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MRP-2</a:t>
            </a:r>
          </a:p>
        </p:txBody>
      </p:sp>
      <p:grpSp>
        <p:nvGrpSpPr>
          <p:cNvPr id="27" name="Group 26">
            <a:extLst>
              <a:ext uri="{FF2B5EF4-FFF2-40B4-BE49-F238E27FC236}">
                <a16:creationId xmlns:a16="http://schemas.microsoft.com/office/drawing/2014/main" id="{CAF75179-4531-1C4D-4B0D-E6F26B985ABE}"/>
              </a:ext>
            </a:extLst>
          </p:cNvPr>
          <p:cNvGrpSpPr/>
          <p:nvPr/>
        </p:nvGrpSpPr>
        <p:grpSpPr>
          <a:xfrm>
            <a:off x="3503662" y="2077515"/>
            <a:ext cx="1981200" cy="1676401"/>
            <a:chOff x="6842919" y="1990656"/>
            <a:chExt cx="1981200" cy="1676401"/>
          </a:xfrm>
        </p:grpSpPr>
        <p:sp>
          <p:nvSpPr>
            <p:cNvPr id="9" name="Rectangle 8">
              <a:extLst>
                <a:ext uri="{FF2B5EF4-FFF2-40B4-BE49-F238E27FC236}">
                  <a16:creationId xmlns:a16="http://schemas.microsoft.com/office/drawing/2014/main" id="{7EBBA024-DF8A-6560-C81F-A44AA7BE9ACE}"/>
                </a:ext>
              </a:extLst>
            </p:cNvPr>
            <p:cNvSpPr/>
            <p:nvPr/>
          </p:nvSpPr>
          <p:spPr>
            <a:xfrm>
              <a:off x="7560253" y="3057456"/>
              <a:ext cx="583722" cy="609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AD27974C-0B79-547C-FAC5-B129DF00EDE7}"/>
                </a:ext>
              </a:extLst>
            </p:cNvPr>
            <p:cNvGrpSpPr/>
            <p:nvPr/>
          </p:nvGrpSpPr>
          <p:grpSpPr>
            <a:xfrm>
              <a:off x="6842919" y="1990656"/>
              <a:ext cx="1981200" cy="1676401"/>
              <a:chOff x="6842919" y="1990656"/>
              <a:chExt cx="1981200" cy="1676401"/>
            </a:xfrm>
          </p:grpSpPr>
          <p:sp>
            <p:nvSpPr>
              <p:cNvPr id="10" name="Rectangle 9">
                <a:extLst>
                  <a:ext uri="{FF2B5EF4-FFF2-40B4-BE49-F238E27FC236}">
                    <a16:creationId xmlns:a16="http://schemas.microsoft.com/office/drawing/2014/main" id="{501BAC64-0882-9292-22C4-EB194A95C3B2}"/>
                  </a:ext>
                </a:extLst>
              </p:cNvPr>
              <p:cNvSpPr/>
              <p:nvPr/>
            </p:nvSpPr>
            <p:spPr>
              <a:xfrm>
                <a:off x="7560253" y="1990657"/>
                <a:ext cx="1263865" cy="990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8537100-0043-11A8-7773-1EEAB6722B24}"/>
                  </a:ext>
                </a:extLst>
              </p:cNvPr>
              <p:cNvSpPr/>
              <p:nvPr/>
            </p:nvSpPr>
            <p:spPr>
              <a:xfrm>
                <a:off x="6842919" y="1990656"/>
                <a:ext cx="651420" cy="990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67060E8-D39A-0C7B-4B18-6172D2FCE007}"/>
                  </a:ext>
                </a:extLst>
              </p:cNvPr>
              <p:cNvSpPr/>
              <p:nvPr/>
            </p:nvSpPr>
            <p:spPr>
              <a:xfrm>
                <a:off x="6842919" y="3057457"/>
                <a:ext cx="651420" cy="609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0A3EBC50-3248-3DF0-F89D-4B92E07FE13E}"/>
                  </a:ext>
                </a:extLst>
              </p:cNvPr>
              <p:cNvSpPr/>
              <p:nvPr/>
            </p:nvSpPr>
            <p:spPr>
              <a:xfrm>
                <a:off x="8208863" y="3057456"/>
                <a:ext cx="615256" cy="609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Rectangle 2">
            <a:extLst>
              <a:ext uri="{FF2B5EF4-FFF2-40B4-BE49-F238E27FC236}">
                <a16:creationId xmlns:a16="http://schemas.microsoft.com/office/drawing/2014/main" id="{AC0A61DF-9D48-321F-CB81-3376922C29C3}"/>
              </a:ext>
            </a:extLst>
          </p:cNvPr>
          <p:cNvSpPr/>
          <p:nvPr/>
        </p:nvSpPr>
        <p:spPr>
          <a:xfrm>
            <a:off x="10161178" y="3292690"/>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MRP-3</a:t>
            </a:r>
          </a:p>
        </p:txBody>
      </p:sp>
      <p:sp>
        <p:nvSpPr>
          <p:cNvPr id="22" name="Rectangle 21">
            <a:extLst>
              <a:ext uri="{FF2B5EF4-FFF2-40B4-BE49-F238E27FC236}">
                <a16:creationId xmlns:a16="http://schemas.microsoft.com/office/drawing/2014/main" id="{DB8EBCD9-F8C8-4D66-55DC-E544D7A29541}"/>
              </a:ext>
            </a:extLst>
          </p:cNvPr>
          <p:cNvSpPr/>
          <p:nvPr/>
        </p:nvSpPr>
        <p:spPr>
          <a:xfrm>
            <a:off x="10161178" y="3832724"/>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MRP-4</a:t>
            </a:r>
          </a:p>
        </p:txBody>
      </p:sp>
      <p:sp>
        <p:nvSpPr>
          <p:cNvPr id="25" name="TextBox 24">
            <a:extLst>
              <a:ext uri="{FF2B5EF4-FFF2-40B4-BE49-F238E27FC236}">
                <a16:creationId xmlns:a16="http://schemas.microsoft.com/office/drawing/2014/main" id="{51DE802C-A57F-9BA6-C708-4018AAF7040B}"/>
              </a:ext>
            </a:extLst>
          </p:cNvPr>
          <p:cNvSpPr txBox="1"/>
          <p:nvPr/>
        </p:nvSpPr>
        <p:spPr>
          <a:xfrm>
            <a:off x="6357268" y="1424990"/>
            <a:ext cx="760144" cy="369332"/>
          </a:xfrm>
          <a:prstGeom prst="rect">
            <a:avLst/>
          </a:prstGeom>
          <a:noFill/>
        </p:spPr>
        <p:txBody>
          <a:bodyPr wrap="none" rtlCol="0">
            <a:spAutoFit/>
          </a:bodyPr>
          <a:lstStyle/>
          <a:p>
            <a:pPr algn="ctr"/>
            <a:r>
              <a:rPr lang="en-US" b="1" dirty="0">
                <a:solidFill>
                  <a:schemeClr val="bg1"/>
                </a:solidFill>
                <a:latin typeface="Trebuchet MS" panose="020B0603020202020204" pitchFamily="34" charset="0"/>
              </a:rPr>
              <a:t>MRQs</a:t>
            </a:r>
            <a:endParaRPr lang="en-US" dirty="0"/>
          </a:p>
        </p:txBody>
      </p:sp>
      <p:sp>
        <p:nvSpPr>
          <p:cNvPr id="28" name="TextBox 27">
            <a:extLst>
              <a:ext uri="{FF2B5EF4-FFF2-40B4-BE49-F238E27FC236}">
                <a16:creationId xmlns:a16="http://schemas.microsoft.com/office/drawing/2014/main" id="{1B7FC349-7FAC-6FEF-8D1A-E2E85F952EC2}"/>
              </a:ext>
            </a:extLst>
          </p:cNvPr>
          <p:cNvSpPr txBox="1"/>
          <p:nvPr/>
        </p:nvSpPr>
        <p:spPr>
          <a:xfrm>
            <a:off x="10404331" y="1196498"/>
            <a:ext cx="732894" cy="369332"/>
          </a:xfrm>
          <a:prstGeom prst="rect">
            <a:avLst/>
          </a:prstGeom>
          <a:noFill/>
        </p:spPr>
        <p:txBody>
          <a:bodyPr wrap="none" rtlCol="0">
            <a:spAutoFit/>
          </a:bodyPr>
          <a:lstStyle/>
          <a:p>
            <a:pPr algn="ctr"/>
            <a:r>
              <a:rPr lang="en-US" b="1" dirty="0">
                <a:solidFill>
                  <a:schemeClr val="bg1"/>
                </a:solidFill>
                <a:latin typeface="Trebuchet MS" panose="020B0603020202020204" pitchFamily="34" charset="0"/>
              </a:rPr>
              <a:t>MRPs</a:t>
            </a:r>
            <a:endParaRPr lang="en-US" dirty="0"/>
          </a:p>
        </p:txBody>
      </p:sp>
    </p:spTree>
    <p:extLst>
      <p:ext uri="{BB962C8B-B14F-4D97-AF65-F5344CB8AC3E}">
        <p14:creationId xmlns:p14="http://schemas.microsoft.com/office/powerpoint/2010/main" val="7310233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300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300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300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3000"/>
                                  </p:stCondLst>
                                  <p:childTnLst>
                                    <p:set>
                                      <p:cBhvr>
                                        <p:cTn id="25" dur="1" fill="hold">
                                          <p:stCondLst>
                                            <p:cond delay="0"/>
                                          </p:stCondLst>
                                        </p:cTn>
                                        <p:tgtEl>
                                          <p:spTgt spid="15"/>
                                        </p:tgtEl>
                                        <p:attrNameLst>
                                          <p:attrName>style.visibility</p:attrName>
                                        </p:attrNameLst>
                                      </p:cBhvr>
                                      <p:to>
                                        <p:strVal val="visible"/>
                                      </p:to>
                                    </p:set>
                                    <p:animEffect transition="in" filter="wipe(down)">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5" grpId="0" animBg="1"/>
      <p:bldP spid="16" grpId="0" animBg="1"/>
      <p:bldP spid="17" grpId="0" animBg="1"/>
      <p:bldP spid="21" grpId="0" animBg="1"/>
      <p:bldP spid="3" grpId="0" animBg="1"/>
      <p:bldP spid="22"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47B02B-6E13-B390-FD8B-DA4B410875B9}"/>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B64B2625-CE24-5698-865F-6648F1E85CAA}"/>
              </a:ext>
            </a:extLst>
          </p:cNvPr>
          <p:cNvSpPr/>
          <p:nvPr/>
        </p:nvSpPr>
        <p:spPr>
          <a:xfrm>
            <a:off x="10119519" y="1276350"/>
            <a:ext cx="1641859" cy="2674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74669BBE-5AED-EC09-A577-B04066E7943D}"/>
              </a:ext>
            </a:extLst>
          </p:cNvPr>
          <p:cNvSpPr/>
          <p:nvPr/>
        </p:nvSpPr>
        <p:spPr>
          <a:xfrm>
            <a:off x="5970917" y="1276350"/>
            <a:ext cx="1641859" cy="2674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diagram of a machine&#10;&#10;AI-generated content may be incorrect.">
            <a:extLst>
              <a:ext uri="{FF2B5EF4-FFF2-40B4-BE49-F238E27FC236}">
                <a16:creationId xmlns:a16="http://schemas.microsoft.com/office/drawing/2014/main" id="{F1B48FC5-9BCA-3E31-42EA-B9A6772DE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216" y="1060222"/>
            <a:ext cx="4754880" cy="2674620"/>
          </a:xfrm>
          <a:prstGeom prst="rect">
            <a:avLst/>
          </a:prstGeom>
        </p:spPr>
      </p:pic>
      <p:sp>
        <p:nvSpPr>
          <p:cNvPr id="7" name="TextBox 6">
            <a:extLst>
              <a:ext uri="{FF2B5EF4-FFF2-40B4-BE49-F238E27FC236}">
                <a16:creationId xmlns:a16="http://schemas.microsoft.com/office/drawing/2014/main" id="{F09EE50C-52D0-E288-0F5C-D1DB62633DA8}"/>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BOM &amp; Material Requisitions</a:t>
            </a:r>
          </a:p>
        </p:txBody>
      </p:sp>
      <p:sp>
        <p:nvSpPr>
          <p:cNvPr id="11" name="Rectangle 10">
            <a:extLst>
              <a:ext uri="{FF2B5EF4-FFF2-40B4-BE49-F238E27FC236}">
                <a16:creationId xmlns:a16="http://schemas.microsoft.com/office/drawing/2014/main" id="{60DD29CF-EF6E-778C-F4F2-B2B20F45E08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sp>
        <p:nvSpPr>
          <p:cNvPr id="5" name="Rectangle 4">
            <a:extLst>
              <a:ext uri="{FF2B5EF4-FFF2-40B4-BE49-F238E27FC236}">
                <a16:creationId xmlns:a16="http://schemas.microsoft.com/office/drawing/2014/main" id="{5F934927-8EE0-8BDE-F132-2FBBFF429315}"/>
              </a:ext>
            </a:extLst>
          </p:cNvPr>
          <p:cNvSpPr/>
          <p:nvPr/>
        </p:nvSpPr>
        <p:spPr>
          <a:xfrm>
            <a:off x="6199517" y="1740930"/>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MRQ-1</a:t>
            </a:r>
          </a:p>
        </p:txBody>
      </p:sp>
      <p:sp>
        <p:nvSpPr>
          <p:cNvPr id="6" name="Rectangle 5">
            <a:extLst>
              <a:ext uri="{FF2B5EF4-FFF2-40B4-BE49-F238E27FC236}">
                <a16:creationId xmlns:a16="http://schemas.microsoft.com/office/drawing/2014/main" id="{D1AFC7A3-4923-289A-56E5-49CF17DBA972}"/>
              </a:ext>
            </a:extLst>
          </p:cNvPr>
          <p:cNvSpPr/>
          <p:nvPr/>
        </p:nvSpPr>
        <p:spPr>
          <a:xfrm>
            <a:off x="6199517" y="2212866"/>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MRQ-2</a:t>
            </a:r>
          </a:p>
        </p:txBody>
      </p:sp>
      <p:sp>
        <p:nvSpPr>
          <p:cNvPr id="8" name="Rectangle 7">
            <a:extLst>
              <a:ext uri="{FF2B5EF4-FFF2-40B4-BE49-F238E27FC236}">
                <a16:creationId xmlns:a16="http://schemas.microsoft.com/office/drawing/2014/main" id="{5EB641C1-D877-5E2B-2F6C-773F31667ED2}"/>
              </a:ext>
            </a:extLst>
          </p:cNvPr>
          <p:cNvSpPr/>
          <p:nvPr/>
        </p:nvSpPr>
        <p:spPr>
          <a:xfrm>
            <a:off x="6199517" y="2702942"/>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MRQ-3</a:t>
            </a:r>
          </a:p>
        </p:txBody>
      </p:sp>
      <p:sp>
        <p:nvSpPr>
          <p:cNvPr id="9" name="Rectangle 8">
            <a:extLst>
              <a:ext uri="{FF2B5EF4-FFF2-40B4-BE49-F238E27FC236}">
                <a16:creationId xmlns:a16="http://schemas.microsoft.com/office/drawing/2014/main" id="{9A8F371E-3487-323A-4FCD-5EF808AA8910}"/>
              </a:ext>
            </a:extLst>
          </p:cNvPr>
          <p:cNvSpPr/>
          <p:nvPr/>
        </p:nvSpPr>
        <p:spPr>
          <a:xfrm>
            <a:off x="4207453" y="2800350"/>
            <a:ext cx="583722"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0DE4916-0E85-A246-58F0-77DC1745D0E3}"/>
              </a:ext>
            </a:extLst>
          </p:cNvPr>
          <p:cNvSpPr/>
          <p:nvPr/>
        </p:nvSpPr>
        <p:spPr>
          <a:xfrm>
            <a:off x="4207453" y="1809750"/>
            <a:ext cx="1263865" cy="9251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D79DFFA-764E-AD07-E068-149D5DDCE252}"/>
              </a:ext>
            </a:extLst>
          </p:cNvPr>
          <p:cNvSpPr/>
          <p:nvPr/>
        </p:nvSpPr>
        <p:spPr>
          <a:xfrm>
            <a:off x="3490119" y="1809750"/>
            <a:ext cx="651420" cy="10180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750253C-8CEF-0254-EF86-4D945C2E9B6F}"/>
              </a:ext>
            </a:extLst>
          </p:cNvPr>
          <p:cNvSpPr/>
          <p:nvPr/>
        </p:nvSpPr>
        <p:spPr>
          <a:xfrm>
            <a:off x="3490119" y="2876551"/>
            <a:ext cx="651420" cy="609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2E72D2F4-5D54-BE4F-1EA7-D11E697F1A83}"/>
              </a:ext>
            </a:extLst>
          </p:cNvPr>
          <p:cNvSpPr/>
          <p:nvPr/>
        </p:nvSpPr>
        <p:spPr>
          <a:xfrm>
            <a:off x="8185795" y="2163361"/>
            <a:ext cx="1447800" cy="1143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Inquiry</a:t>
            </a:r>
          </a:p>
        </p:txBody>
      </p:sp>
      <p:sp>
        <p:nvSpPr>
          <p:cNvPr id="15" name="Rectangle 14">
            <a:extLst>
              <a:ext uri="{FF2B5EF4-FFF2-40B4-BE49-F238E27FC236}">
                <a16:creationId xmlns:a16="http://schemas.microsoft.com/office/drawing/2014/main" id="{79764468-E006-4961-A4FC-473180E99B76}"/>
              </a:ext>
            </a:extLst>
          </p:cNvPr>
          <p:cNvSpPr/>
          <p:nvPr/>
        </p:nvSpPr>
        <p:spPr>
          <a:xfrm>
            <a:off x="6199517" y="3193018"/>
            <a:ext cx="1219200"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MRQ-4</a:t>
            </a:r>
          </a:p>
        </p:txBody>
      </p:sp>
      <p:sp>
        <p:nvSpPr>
          <p:cNvPr id="16" name="Rectangle 15">
            <a:extLst>
              <a:ext uri="{FF2B5EF4-FFF2-40B4-BE49-F238E27FC236}">
                <a16:creationId xmlns:a16="http://schemas.microsoft.com/office/drawing/2014/main" id="{8A7F5443-E603-F537-25A7-6C3BEB5FD838}"/>
              </a:ext>
            </a:extLst>
          </p:cNvPr>
          <p:cNvSpPr/>
          <p:nvPr/>
        </p:nvSpPr>
        <p:spPr>
          <a:xfrm>
            <a:off x="10334445" y="1964474"/>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MRP-1-1</a:t>
            </a:r>
          </a:p>
        </p:txBody>
      </p:sp>
      <p:sp>
        <p:nvSpPr>
          <p:cNvPr id="17" name="Rectangle 16">
            <a:extLst>
              <a:ext uri="{FF2B5EF4-FFF2-40B4-BE49-F238E27FC236}">
                <a16:creationId xmlns:a16="http://schemas.microsoft.com/office/drawing/2014/main" id="{162C4413-0EC1-0F03-B90B-BA6F5FAF9781}"/>
              </a:ext>
            </a:extLst>
          </p:cNvPr>
          <p:cNvSpPr/>
          <p:nvPr/>
        </p:nvSpPr>
        <p:spPr>
          <a:xfrm>
            <a:off x="10348119" y="2507219"/>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MRP-1-2</a:t>
            </a:r>
          </a:p>
        </p:txBody>
      </p:sp>
      <p:sp>
        <p:nvSpPr>
          <p:cNvPr id="18" name="Arrow: Right 17">
            <a:extLst>
              <a:ext uri="{FF2B5EF4-FFF2-40B4-BE49-F238E27FC236}">
                <a16:creationId xmlns:a16="http://schemas.microsoft.com/office/drawing/2014/main" id="{EF76F4EC-6F36-B78A-AF98-BBACDA2605BE}"/>
              </a:ext>
            </a:extLst>
          </p:cNvPr>
          <p:cNvSpPr/>
          <p:nvPr/>
        </p:nvSpPr>
        <p:spPr>
          <a:xfrm>
            <a:off x="5623719" y="2653007"/>
            <a:ext cx="347198" cy="223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76A16FEC-231F-8ED8-4752-A5066FF0792B}"/>
              </a:ext>
            </a:extLst>
          </p:cNvPr>
          <p:cNvSpPr/>
          <p:nvPr/>
        </p:nvSpPr>
        <p:spPr>
          <a:xfrm>
            <a:off x="7638721" y="2657954"/>
            <a:ext cx="347198" cy="223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E519050E-5F17-3AB7-3B87-E8D0F702FAB9}"/>
              </a:ext>
            </a:extLst>
          </p:cNvPr>
          <p:cNvSpPr/>
          <p:nvPr/>
        </p:nvSpPr>
        <p:spPr>
          <a:xfrm>
            <a:off x="9735674" y="2576806"/>
            <a:ext cx="347198" cy="223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5E572A8-1757-B3CE-4B53-DF8D3F30F50C}"/>
              </a:ext>
            </a:extLst>
          </p:cNvPr>
          <p:cNvSpPr/>
          <p:nvPr/>
        </p:nvSpPr>
        <p:spPr>
          <a:xfrm>
            <a:off x="10379841" y="3116818"/>
            <a:ext cx="1219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MRP-2</a:t>
            </a:r>
          </a:p>
        </p:txBody>
      </p:sp>
      <p:sp>
        <p:nvSpPr>
          <p:cNvPr id="2" name="Rectangle 1">
            <a:extLst>
              <a:ext uri="{FF2B5EF4-FFF2-40B4-BE49-F238E27FC236}">
                <a16:creationId xmlns:a16="http://schemas.microsoft.com/office/drawing/2014/main" id="{F3AD42FD-3C40-40D6-100A-0B1F231DE1DF}"/>
              </a:ext>
            </a:extLst>
          </p:cNvPr>
          <p:cNvSpPr/>
          <p:nvPr/>
        </p:nvSpPr>
        <p:spPr>
          <a:xfrm>
            <a:off x="4856063" y="2800350"/>
            <a:ext cx="615256"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E0E57BB8-67F9-9489-42F2-3F92EC94C524}"/>
              </a:ext>
            </a:extLst>
          </p:cNvPr>
          <p:cNvSpPr txBox="1"/>
          <p:nvPr/>
        </p:nvSpPr>
        <p:spPr>
          <a:xfrm>
            <a:off x="6411774" y="1325439"/>
            <a:ext cx="760144" cy="369332"/>
          </a:xfrm>
          <a:prstGeom prst="rect">
            <a:avLst/>
          </a:prstGeom>
          <a:noFill/>
        </p:spPr>
        <p:txBody>
          <a:bodyPr wrap="none" rtlCol="0">
            <a:spAutoFit/>
          </a:bodyPr>
          <a:lstStyle/>
          <a:p>
            <a:pPr algn="ctr"/>
            <a:r>
              <a:rPr lang="en-US" b="1" dirty="0">
                <a:solidFill>
                  <a:schemeClr val="bg1"/>
                </a:solidFill>
                <a:latin typeface="Trebuchet MS" panose="020B0603020202020204" pitchFamily="34" charset="0"/>
              </a:rPr>
              <a:t>MRQs</a:t>
            </a:r>
            <a:endParaRPr lang="en-US" dirty="0"/>
          </a:p>
        </p:txBody>
      </p:sp>
    </p:spTree>
    <p:extLst>
      <p:ext uri="{BB962C8B-B14F-4D97-AF65-F5344CB8AC3E}">
        <p14:creationId xmlns:p14="http://schemas.microsoft.com/office/powerpoint/2010/main" val="2474334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87399-82B2-8605-57DC-DF9D1D701A6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44942F-4021-2148-D196-12B17BB87C8B}"/>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Inquiry</a:t>
            </a:r>
          </a:p>
        </p:txBody>
      </p:sp>
      <p:sp>
        <p:nvSpPr>
          <p:cNvPr id="11" name="Rectangle 10">
            <a:extLst>
              <a:ext uri="{FF2B5EF4-FFF2-40B4-BE49-F238E27FC236}">
                <a16:creationId xmlns:a16="http://schemas.microsoft.com/office/drawing/2014/main" id="{F5A3C18D-9F5C-A951-F14D-5B5CF9D111BD}"/>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sp>
        <p:nvSpPr>
          <p:cNvPr id="2" name="Rectangle 1">
            <a:extLst>
              <a:ext uri="{FF2B5EF4-FFF2-40B4-BE49-F238E27FC236}">
                <a16:creationId xmlns:a16="http://schemas.microsoft.com/office/drawing/2014/main" id="{4EB037E7-0B32-0ABC-90F0-C7555C2D626A}"/>
              </a:ext>
            </a:extLst>
          </p:cNvPr>
          <p:cNvSpPr/>
          <p:nvPr/>
        </p:nvSpPr>
        <p:spPr>
          <a:xfrm>
            <a:off x="810789" y="1148318"/>
            <a:ext cx="10134865" cy="1929739"/>
          </a:xfrm>
          <a:prstGeom prst="rect">
            <a:avLst/>
          </a:prstGeom>
        </p:spPr>
        <p:txBody>
          <a:bodyPr wrap="square" lIns="91423" tIns="45710" rIns="91423" bIns="45710">
            <a:spAutoFit/>
          </a:bodyPr>
          <a:lstStyle/>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Inquiry options</a:t>
            </a:r>
          </a:p>
          <a:p>
            <a:pPr marL="420167" lvl="1" indent="-383632" algn="just">
              <a:lnSpc>
                <a:spcPct val="90000"/>
              </a:lnSpc>
              <a:spcAft>
                <a:spcPct val="15000"/>
              </a:spcAft>
              <a:buSzPct val="80000"/>
              <a:buFont typeface="Wingdings 2"/>
              <a:buChar char=""/>
              <a:defRPr/>
            </a:pPr>
            <a:endParaRPr lang="en-US" b="1" dirty="0">
              <a:solidFill>
                <a:srgbClr val="328C3B"/>
              </a:solidFill>
              <a:latin typeface="Trebuchet MS" panose="020B0603020202020204" pitchFamily="34" charset="0"/>
            </a:endParaRPr>
          </a:p>
          <a:p>
            <a:pPr marL="779485" lvl="2" indent="-285750" algn="just">
              <a:lnSpc>
                <a:spcPct val="90000"/>
              </a:lnSpc>
              <a:spcAft>
                <a:spcPct val="15000"/>
              </a:spcAft>
              <a:buSzPct val="80000"/>
              <a:buFont typeface="Arial" panose="020B0604020202020204" pitchFamily="34" charset="0"/>
              <a:buChar char="•"/>
              <a:defRPr/>
            </a:pPr>
            <a:r>
              <a:rPr lang="en-US" sz="1600" b="1" dirty="0">
                <a:solidFill>
                  <a:srgbClr val="000000"/>
                </a:solidFill>
                <a:latin typeface="Trebuchet MS" panose="020B0603020202020204" pitchFamily="34" charset="0"/>
                <a:cs typeface="Traditional Arabic" panose="02020603050405020304" pitchFamily="18" charset="-78"/>
              </a:rPr>
              <a:t>Include more than one revision for same MRQ.</a:t>
            </a:r>
          </a:p>
          <a:p>
            <a:pPr marL="779485" lvl="2" indent="-285750" algn="just" defTabSz="396875">
              <a:lnSpc>
                <a:spcPct val="90000"/>
              </a:lnSpc>
              <a:spcAft>
                <a:spcPct val="15000"/>
              </a:spcAft>
              <a:buSzPct val="80000"/>
              <a:buFont typeface="Arial" panose="020B0604020202020204" pitchFamily="34" charset="0"/>
              <a:buChar char="•"/>
              <a:defRPr/>
            </a:pPr>
            <a:r>
              <a:rPr lang="en-US" sz="1600" b="1" i="0" dirty="0">
                <a:solidFill>
                  <a:srgbClr val="262626"/>
                </a:solidFill>
                <a:effectLst/>
                <a:latin typeface="system-ui"/>
              </a:rPr>
              <a:t>Summarize </a:t>
            </a:r>
            <a:r>
              <a:rPr lang="en-US" sz="1600" b="1" dirty="0">
                <a:solidFill>
                  <a:srgbClr val="000000"/>
                </a:solidFill>
                <a:latin typeface="Trebuchet MS" panose="020B0603020202020204" pitchFamily="34" charset="0"/>
                <a:cs typeface="Traditional Arabic" panose="02020603050405020304" pitchFamily="18" charset="-78"/>
              </a:rPr>
              <a:t>MRQ </a:t>
            </a:r>
            <a:r>
              <a:rPr lang="en-US" sz="1600" b="1" i="0" dirty="0">
                <a:solidFill>
                  <a:srgbClr val="262626"/>
                </a:solidFill>
                <a:effectLst/>
                <a:latin typeface="system-ui"/>
              </a:rPr>
              <a:t>Line Items with different delivery designation.</a:t>
            </a:r>
          </a:p>
          <a:p>
            <a:pPr marL="779485" lvl="2" indent="-285750" algn="just" defTabSz="396875">
              <a:lnSpc>
                <a:spcPct val="90000"/>
              </a:lnSpc>
              <a:spcAft>
                <a:spcPct val="15000"/>
              </a:spcAft>
              <a:buSzPct val="80000"/>
              <a:buFont typeface="Arial" panose="020B0604020202020204" pitchFamily="34" charset="0"/>
              <a:buChar char="•"/>
              <a:defRPr/>
            </a:pPr>
            <a:r>
              <a:rPr lang="en-US" sz="1600" b="1" dirty="0">
                <a:solidFill>
                  <a:srgbClr val="262626"/>
                </a:solidFill>
                <a:latin typeface="system-ui"/>
              </a:rPr>
              <a:t>Merge more than one MRQ.</a:t>
            </a:r>
          </a:p>
          <a:p>
            <a:pPr marL="779485" lvl="2" indent="-285750" algn="just" defTabSz="396875">
              <a:lnSpc>
                <a:spcPct val="90000"/>
              </a:lnSpc>
              <a:spcAft>
                <a:spcPct val="15000"/>
              </a:spcAft>
              <a:buSzPct val="80000"/>
              <a:buFont typeface="Arial" panose="020B0604020202020204" pitchFamily="34" charset="0"/>
              <a:buChar char="•"/>
              <a:defRPr/>
            </a:pPr>
            <a:r>
              <a:rPr lang="en-US" sz="1600" b="1" i="0" dirty="0">
                <a:solidFill>
                  <a:srgbClr val="262626"/>
                </a:solidFill>
                <a:effectLst/>
                <a:latin typeface="system-ui"/>
              </a:rPr>
              <a:t>Include not purchased </a:t>
            </a:r>
            <a:r>
              <a:rPr lang="en-US" sz="1600" b="1" dirty="0">
                <a:solidFill>
                  <a:srgbClr val="262626"/>
                </a:solidFill>
                <a:latin typeface="system-ui"/>
              </a:rPr>
              <a:t>items</a:t>
            </a:r>
            <a:endParaRPr lang="en-US" sz="1600" b="1" i="0" dirty="0">
              <a:solidFill>
                <a:srgbClr val="262626"/>
              </a:solidFill>
              <a:effectLst/>
              <a:latin typeface="system-ui"/>
            </a:endParaRPr>
          </a:p>
          <a:p>
            <a:pPr marL="322285" lvl="1" indent="-285750" algn="just" defTabSz="396875">
              <a:lnSpc>
                <a:spcPct val="90000"/>
              </a:lnSpc>
              <a:spcAft>
                <a:spcPct val="15000"/>
              </a:spcAft>
              <a:buSzPct val="80000"/>
              <a:buFont typeface="Arial" panose="020B0604020202020204" pitchFamily="34" charset="0"/>
              <a:buChar char="•"/>
              <a:defRPr/>
            </a:pP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Tree>
    <p:extLst>
      <p:ext uri="{BB962C8B-B14F-4D97-AF65-F5344CB8AC3E}">
        <p14:creationId xmlns:p14="http://schemas.microsoft.com/office/powerpoint/2010/main" val="34042923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534AE-590D-EDF2-36D7-1BC2909AB05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3237AD9-7388-7FBD-3BAA-771C66AADB06}"/>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Inquiry Assignment</a:t>
            </a:r>
          </a:p>
        </p:txBody>
      </p:sp>
      <p:sp>
        <p:nvSpPr>
          <p:cNvPr id="11" name="Rectangle 10">
            <a:extLst>
              <a:ext uri="{FF2B5EF4-FFF2-40B4-BE49-F238E27FC236}">
                <a16:creationId xmlns:a16="http://schemas.microsoft.com/office/drawing/2014/main" id="{365B107E-30E3-D0DF-FF1E-8632FAE80D18}"/>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pic>
        <p:nvPicPr>
          <p:cNvPr id="9" name="Picture 8">
            <a:extLst>
              <a:ext uri="{FF2B5EF4-FFF2-40B4-BE49-F238E27FC236}">
                <a16:creationId xmlns:a16="http://schemas.microsoft.com/office/drawing/2014/main" id="{6B1979A2-8719-7047-F6F5-C33450922CB6}"/>
              </a:ext>
            </a:extLst>
          </p:cNvPr>
          <p:cNvPicPr>
            <a:picLocks noChangeAspect="1"/>
          </p:cNvPicPr>
          <p:nvPr/>
        </p:nvPicPr>
        <p:blipFill>
          <a:blip r:embed="rId3"/>
          <a:stretch>
            <a:fillRect/>
          </a:stretch>
        </p:blipFill>
        <p:spPr>
          <a:xfrm>
            <a:off x="899319" y="1043397"/>
            <a:ext cx="10698480" cy="3056705"/>
          </a:xfrm>
          <a:prstGeom prst="rect">
            <a:avLst/>
          </a:prstGeom>
          <a:ln>
            <a:solidFill>
              <a:schemeClr val="accent1"/>
            </a:solidFill>
          </a:ln>
        </p:spPr>
      </p:pic>
    </p:spTree>
    <p:extLst>
      <p:ext uri="{BB962C8B-B14F-4D97-AF65-F5344CB8AC3E}">
        <p14:creationId xmlns:p14="http://schemas.microsoft.com/office/powerpoint/2010/main" val="41414465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0BE07-4639-04C8-025D-70986BABD13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D6D383B-248A-9A80-7A7B-0BF1CDEAF349}"/>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Title (Font 18 Trebuchet MS)</a:t>
            </a:r>
          </a:p>
        </p:txBody>
      </p:sp>
      <p:sp>
        <p:nvSpPr>
          <p:cNvPr id="3" name="Rectangle 2">
            <a:extLst>
              <a:ext uri="{FF2B5EF4-FFF2-40B4-BE49-F238E27FC236}">
                <a16:creationId xmlns:a16="http://schemas.microsoft.com/office/drawing/2014/main" id="{27467CD8-99FD-4A84-EB13-1D699C24CBB7}"/>
              </a:ext>
            </a:extLst>
          </p:cNvPr>
          <p:cNvSpPr>
            <a:spLocks noGrp="1" noRot="1" noMove="1" noResize="1" noEditPoints="1" noAdjustHandles="1" noChangeArrowheads="1" noChangeShapeType="1"/>
          </p:cNvSpPr>
          <p:nvPr/>
        </p:nvSpPr>
        <p:spPr>
          <a:xfrm>
            <a:off x="810789" y="1148318"/>
            <a:ext cx="10134865" cy="604761"/>
          </a:xfrm>
          <a:prstGeom prst="rect">
            <a:avLst/>
          </a:prstGeom>
        </p:spPr>
        <p:txBody>
          <a:bodyPr wrap="square" lIns="91423" tIns="45710" rIns="91423" bIns="45710">
            <a:spAutoFit/>
          </a:bodyPr>
          <a:lstStyle/>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Font 16 Trebuchet MS</a:t>
            </a:r>
          </a:p>
          <a:p>
            <a:pPr marL="36535" lvl="1" indent="0" algn="just" defTabSz="396875">
              <a:lnSpc>
                <a:spcPct val="90000"/>
              </a:lnSpc>
              <a:spcAft>
                <a:spcPct val="15000"/>
              </a:spcAft>
              <a:buSzPct val="80000"/>
              <a:defRPr/>
            </a:pPr>
            <a:r>
              <a:rPr lang="en-US" sz="1600" b="1" dirty="0">
                <a:solidFill>
                  <a:srgbClr val="000000"/>
                </a:solidFill>
                <a:latin typeface="Trebuchet MS" panose="020B0603020202020204" pitchFamily="34" charset="0"/>
                <a:cs typeface="Traditional Arabic" panose="02020603050405020304" pitchFamily="18" charset="-78"/>
              </a:rPr>
              <a:t>	</a:t>
            </a: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Font 14 Trebuchet MS</a:t>
            </a:r>
          </a:p>
        </p:txBody>
      </p:sp>
      <p:sp>
        <p:nvSpPr>
          <p:cNvPr id="11" name="Rectangle 10">
            <a:extLst>
              <a:ext uri="{FF2B5EF4-FFF2-40B4-BE49-F238E27FC236}">
                <a16:creationId xmlns:a16="http://schemas.microsoft.com/office/drawing/2014/main" id="{03F92FF0-06FB-5D6A-1E38-1D096FA6273C}"/>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SMAT Implementation </a:t>
            </a:r>
          </a:p>
        </p:txBody>
      </p:sp>
    </p:spTree>
    <p:extLst>
      <p:ext uri="{BB962C8B-B14F-4D97-AF65-F5344CB8AC3E}">
        <p14:creationId xmlns:p14="http://schemas.microsoft.com/office/powerpoint/2010/main" val="28928415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een and blue gradient&#10;&#10;Description automatically generated">
            <a:extLst>
              <a:ext uri="{FF2B5EF4-FFF2-40B4-BE49-F238E27FC236}">
                <a16:creationId xmlns:a16="http://schemas.microsoft.com/office/drawing/2014/main" id="{6A744824-A85A-F1A6-957E-C2790C1A8882}"/>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651" y="1"/>
            <a:ext cx="709360" cy="5143499"/>
          </a:xfrm>
          <a:prstGeom prst="rect">
            <a:avLst/>
          </a:prstGeom>
        </p:spPr>
      </p:pic>
      <p:sp>
        <p:nvSpPr>
          <p:cNvPr id="6" name="Rectangle 5">
            <a:extLst>
              <a:ext uri="{FF2B5EF4-FFF2-40B4-BE49-F238E27FC236}">
                <a16:creationId xmlns:a16="http://schemas.microsoft.com/office/drawing/2014/main" id="{7B338A8B-BEB0-5F2C-B4A0-D56E440110A3}"/>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Division or Project Name</a:t>
            </a:r>
          </a:p>
        </p:txBody>
      </p:sp>
      <p:sp>
        <p:nvSpPr>
          <p:cNvPr id="9" name="TextBox 8">
            <a:extLst>
              <a:ext uri="{FF2B5EF4-FFF2-40B4-BE49-F238E27FC236}">
                <a16:creationId xmlns:a16="http://schemas.microsoft.com/office/drawing/2014/main" id="{42C33AE9-322B-120C-33AF-C597C35D5A2A}"/>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Title (Font 18 Trebuchet MS)</a:t>
            </a:r>
          </a:p>
        </p:txBody>
      </p:sp>
      <p:graphicFrame>
        <p:nvGraphicFramePr>
          <p:cNvPr id="4" name="Table 3">
            <a:extLst>
              <a:ext uri="{FF2B5EF4-FFF2-40B4-BE49-F238E27FC236}">
                <a16:creationId xmlns:a16="http://schemas.microsoft.com/office/drawing/2014/main" id="{E5FAD4CA-9388-0581-E08C-DD7B926C8A5D}"/>
              </a:ext>
            </a:extLst>
          </p:cNvPr>
          <p:cNvGraphicFramePr>
            <a:graphicFrameLocks/>
          </p:cNvGraphicFramePr>
          <p:nvPr>
            <p:extLst>
              <p:ext uri="{D42A27DB-BD31-4B8C-83A1-F6EECF244321}">
                <p14:modId xmlns:p14="http://schemas.microsoft.com/office/powerpoint/2010/main" val="2964753019"/>
              </p:ext>
            </p:extLst>
          </p:nvPr>
        </p:nvGraphicFramePr>
        <p:xfrm>
          <a:off x="1261189" y="1352550"/>
          <a:ext cx="9639459" cy="1295400"/>
        </p:xfrm>
        <a:graphic>
          <a:graphicData uri="http://schemas.openxmlformats.org/drawingml/2006/table">
            <a:tbl>
              <a:tblPr firstRow="1" bandRow="1">
                <a:tableStyleId>{C4B1156A-380E-4F78-BDF5-A606A8083BF9}</a:tableStyleId>
              </a:tblPr>
              <a:tblGrid>
                <a:gridCol w="5221373">
                  <a:extLst>
                    <a:ext uri="{9D8B030D-6E8A-4147-A177-3AD203B41FA5}">
                      <a16:colId xmlns:a16="http://schemas.microsoft.com/office/drawing/2014/main" val="2744915831"/>
                    </a:ext>
                  </a:extLst>
                </a:gridCol>
                <a:gridCol w="1113128">
                  <a:extLst>
                    <a:ext uri="{9D8B030D-6E8A-4147-A177-3AD203B41FA5}">
                      <a16:colId xmlns:a16="http://schemas.microsoft.com/office/drawing/2014/main" val="819078441"/>
                    </a:ext>
                  </a:extLst>
                </a:gridCol>
                <a:gridCol w="2049820">
                  <a:extLst>
                    <a:ext uri="{9D8B030D-6E8A-4147-A177-3AD203B41FA5}">
                      <a16:colId xmlns:a16="http://schemas.microsoft.com/office/drawing/2014/main" val="1244315452"/>
                    </a:ext>
                  </a:extLst>
                </a:gridCol>
                <a:gridCol w="1255138">
                  <a:extLst>
                    <a:ext uri="{9D8B030D-6E8A-4147-A177-3AD203B41FA5}">
                      <a16:colId xmlns:a16="http://schemas.microsoft.com/office/drawing/2014/main" val="2344007884"/>
                    </a:ext>
                  </a:extLst>
                </a:gridCol>
              </a:tblGrid>
              <a:tr h="372083">
                <a:tc>
                  <a:txBody>
                    <a:bodyPr/>
                    <a:lstStyle/>
                    <a:p>
                      <a:pPr algn="ctr"/>
                      <a:r>
                        <a:rPr lang="en-US" sz="1600" dirty="0">
                          <a:solidFill>
                            <a:schemeClr val="bg1"/>
                          </a:solidFill>
                          <a:latin typeface="Trebuchet MS" panose="020B0603020202020204" pitchFamily="34" charset="0"/>
                        </a:rPr>
                        <a:t>Font 14 Trebuchet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95563"/>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600" b="1" kern="1200" dirty="0">
                        <a:solidFill>
                          <a:schemeClr val="bg1"/>
                        </a:solidFill>
                        <a:latin typeface="Trebuchet MS" panose="020B0603020202020204" pitchFamily="34" charset="0"/>
                        <a:ea typeface="ＭＳ Ｐゴシック" pitchFamily="34" charset="-128"/>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95563"/>
                    </a:solidFill>
                  </a:tcPr>
                </a:tc>
                <a:tc>
                  <a:txBody>
                    <a:bodyPr/>
                    <a:lstStyle/>
                    <a:p>
                      <a:pPr algn="ctr" rtl="1"/>
                      <a:endParaRPr lang="en-US" sz="1600" b="1" kern="1200" dirty="0">
                        <a:solidFill>
                          <a:schemeClr val="bg1"/>
                        </a:solidFill>
                        <a:latin typeface="Trebuchet MS" panose="020B0603020202020204" pitchFamily="34" charset="0"/>
                        <a:ea typeface="ＭＳ Ｐゴシック" pitchFamily="34" charset="-128"/>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95563"/>
                    </a:solidFill>
                  </a:tcPr>
                </a:tc>
                <a:tc>
                  <a:txBody>
                    <a:bodyPr/>
                    <a:lstStyle/>
                    <a:p>
                      <a:pPr algn="ctr" rtl="1"/>
                      <a:endParaRPr lang="en-US" sz="1600" b="1" kern="1200" dirty="0">
                        <a:solidFill>
                          <a:schemeClr val="bg1"/>
                        </a:solidFill>
                        <a:latin typeface="Trebuchet MS" panose="020B0603020202020204" pitchFamily="34" charset="0"/>
                        <a:ea typeface="ＭＳ Ｐゴシック" pitchFamily="34" charset="-128"/>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95563"/>
                    </a:solidFill>
                  </a:tcPr>
                </a:tc>
                <a:extLst>
                  <a:ext uri="{0D108BD9-81ED-4DB2-BD59-A6C34878D82A}">
                    <a16:rowId xmlns:a16="http://schemas.microsoft.com/office/drawing/2014/main" val="377010514"/>
                  </a:ext>
                </a:extLst>
              </a:tr>
              <a:tr h="923317">
                <a:tc>
                  <a:txBody>
                    <a:bodyPr/>
                    <a:lstStyle/>
                    <a:p>
                      <a:pPr algn="ctr"/>
                      <a:r>
                        <a:rPr lang="en-US" sz="1800" b="1" kern="1200" dirty="0">
                          <a:solidFill>
                            <a:srgbClr val="00305F"/>
                          </a:solidFill>
                          <a:latin typeface="Trebuchet MS" panose="020B0603020202020204" pitchFamily="34" charset="0"/>
                          <a:ea typeface="ＭＳ Ｐゴシック" pitchFamily="34" charset="-128"/>
                          <a:cs typeface="Calibri" panose="020F0502020204030204" pitchFamily="34" charset="0"/>
                        </a:rPr>
                        <a:t>Font 12 Trebuchet</a:t>
                      </a: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lgn="ctr" rtl="1"/>
                      <a:endParaRPr lang="en-US" sz="1800" b="1" kern="1200" dirty="0">
                        <a:solidFill>
                          <a:srgbClr val="00305F"/>
                        </a:solidFill>
                        <a:latin typeface="Trebuchet MS" panose="020B0603020202020204" pitchFamily="34" charset="0"/>
                        <a:ea typeface="ＭＳ Ｐゴシック" pitchFamily="34" charset="-128"/>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lgn="r" rtl="1"/>
                      <a:endParaRPr lang="en-US" sz="1800" b="1" kern="1200" dirty="0">
                        <a:solidFill>
                          <a:srgbClr val="00305F"/>
                        </a:solidFill>
                        <a:latin typeface="Trebuchet MS" panose="020B0603020202020204" pitchFamily="34" charset="0"/>
                        <a:ea typeface="ＭＳ Ｐゴシック" pitchFamily="34" charset="-128"/>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lgn="ctr" rtl="1"/>
                      <a:endParaRPr lang="ar-DZ" sz="1800" b="1" kern="1200" dirty="0">
                        <a:solidFill>
                          <a:srgbClr val="00305F"/>
                        </a:solidFill>
                        <a:latin typeface="Trebuchet MS" panose="020B0603020202020204" pitchFamily="34" charset="0"/>
                        <a:ea typeface="ＭＳ Ｐゴシック" pitchFamily="34" charset="-128"/>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707188558"/>
                  </a:ext>
                </a:extLst>
              </a:tr>
            </a:tbl>
          </a:graphicData>
        </a:graphic>
      </p:graphicFrame>
    </p:spTree>
    <p:extLst>
      <p:ext uri="{BB962C8B-B14F-4D97-AF65-F5344CB8AC3E}">
        <p14:creationId xmlns:p14="http://schemas.microsoft.com/office/powerpoint/2010/main" val="8597111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Grp="1" noRot="1" noMove="1" noResize="1" noEditPoints="1" noAdjustHandles="1" noChangeArrowheads="1" noChangeShapeType="1"/>
          </p:cNvSpPr>
          <p:nvPr/>
        </p:nvSpPr>
        <p:spPr>
          <a:xfrm>
            <a:off x="1432719" y="1934111"/>
            <a:ext cx="9525000" cy="1323439"/>
          </a:xfrm>
          <a:prstGeom prst="rect">
            <a:avLst/>
          </a:prstGeom>
        </p:spPr>
        <p:txBody>
          <a:bodyPr wrap="square">
            <a:spAutoFit/>
          </a:bodyPr>
          <a:lstStyle/>
          <a:p>
            <a:pPr algn="ctr" eaLnBrk="0" hangingPunct="0"/>
            <a:r>
              <a:rPr lang="en-US" altLang="ko-KR" sz="4000" b="1" dirty="0">
                <a:solidFill>
                  <a:srgbClr val="00305F"/>
                </a:solidFill>
                <a:latin typeface="Trebuchet MS" panose="020B0603020202020204" pitchFamily="34" charset="0"/>
                <a:ea typeface="ＭＳ Ｐゴシック" pitchFamily="34" charset="-128"/>
                <a:cs typeface="Calibri" panose="020F0502020204030204" pitchFamily="34" charset="0"/>
              </a:rPr>
              <a:t>Font 40 Trebuchet MS</a:t>
            </a:r>
          </a:p>
          <a:p>
            <a:pPr algn="ctr" eaLnBrk="0" hangingPunct="0"/>
            <a:r>
              <a:rPr lang="en-US" altLang="ko-KR" sz="4000" b="1" dirty="0">
                <a:solidFill>
                  <a:srgbClr val="00305F"/>
                </a:solidFill>
                <a:latin typeface="Trebuchet MS" panose="020B0603020202020204" pitchFamily="34" charset="0"/>
                <a:ea typeface="ＭＳ Ｐゴシック" pitchFamily="34" charset="-128"/>
                <a:cs typeface="Calibri" panose="020F0502020204030204" pitchFamily="34" charset="0"/>
              </a:rPr>
              <a:t>(Separators)</a:t>
            </a:r>
          </a:p>
        </p:txBody>
      </p:sp>
    </p:spTree>
    <p:extLst>
      <p:ext uri="{BB962C8B-B14F-4D97-AF65-F5344CB8AC3E}">
        <p14:creationId xmlns:p14="http://schemas.microsoft.com/office/powerpoint/2010/main" val="15026577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E92F831A-BD16-4DAF-8CAE-F21564186F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75078</TotalTime>
  <Words>1645</Words>
  <Application>Microsoft Office PowerPoint</Application>
  <PresentationFormat>Custom</PresentationFormat>
  <Paragraphs>305</Paragraphs>
  <Slides>37</Slides>
  <Notes>37</Notes>
  <HiddenSlides>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Calibri Light</vt:lpstr>
      <vt:lpstr>Roboto</vt:lpstr>
      <vt:lpstr>Robototest</vt:lpstr>
      <vt:lpstr>system-ui</vt:lpstr>
      <vt:lpstr>Trebuchet MS</vt:lpstr>
      <vt:lpstr>Wingdings 2</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Enppi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Sherif Abd El Moneim</dc:creator>
  <cp:lastModifiedBy>Sherif Abd El Moneim</cp:lastModifiedBy>
  <cp:revision>23</cp:revision>
  <cp:lastPrinted>2025-10-01T11:04:30Z</cp:lastPrinted>
  <dcterms:created xsi:type="dcterms:W3CDTF">2024-12-15T07:54:46Z</dcterms:created>
  <dcterms:modified xsi:type="dcterms:W3CDTF">2025-12-21T06:09:10Z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TC101769309990</vt:lpwstr>
  </property>
</Properties>
</file>