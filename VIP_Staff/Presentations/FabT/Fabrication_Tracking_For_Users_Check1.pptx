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1" r:id="rId2"/>
  </p:sldMasterIdLst>
  <p:notesMasterIdLst>
    <p:notesMasterId r:id="rId24"/>
  </p:notesMasterIdLst>
  <p:handoutMasterIdLst>
    <p:handoutMasterId r:id="rId25"/>
  </p:handoutMasterIdLst>
  <p:sldIdLst>
    <p:sldId id="505" r:id="rId3"/>
    <p:sldId id="520" r:id="rId4"/>
    <p:sldId id="665" r:id="rId5"/>
    <p:sldId id="666" r:id="rId6"/>
    <p:sldId id="647" r:id="rId7"/>
    <p:sldId id="649" r:id="rId8"/>
    <p:sldId id="650" r:id="rId9"/>
    <p:sldId id="651" r:id="rId10"/>
    <p:sldId id="653" r:id="rId11"/>
    <p:sldId id="654" r:id="rId12"/>
    <p:sldId id="655" r:id="rId13"/>
    <p:sldId id="652" r:id="rId14"/>
    <p:sldId id="656" r:id="rId15"/>
    <p:sldId id="658" r:id="rId16"/>
    <p:sldId id="659" r:id="rId17"/>
    <p:sldId id="660" r:id="rId18"/>
    <p:sldId id="661" r:id="rId19"/>
    <p:sldId id="662" r:id="rId20"/>
    <p:sldId id="664" r:id="rId21"/>
    <p:sldId id="643" r:id="rId22"/>
    <p:sldId id="648" r:id="rId23"/>
  </p:sldIdLst>
  <p:sldSz cx="12161838" cy="5143500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1pPr>
    <a:lvl2pPr marL="455613" indent="158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2pPr>
    <a:lvl3pPr marL="912813" indent="158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3pPr>
    <a:lvl4pPr marL="1370013" indent="158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4pPr>
    <a:lvl5pPr marL="1825625" indent="31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8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3A60"/>
    <a:srgbClr val="FFFFFF"/>
    <a:srgbClr val="609625"/>
    <a:srgbClr val="6C9F15"/>
    <a:srgbClr val="31745D"/>
    <a:srgbClr val="659A1E"/>
    <a:srgbClr val="5E9526"/>
    <a:srgbClr val="093D60"/>
    <a:srgbClr val="59912D"/>
    <a:srgbClr val="1951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61" autoAdjust="0"/>
    <p:restoredTop sz="86467" autoAdjust="0"/>
  </p:normalViewPr>
  <p:slideViewPr>
    <p:cSldViewPr>
      <p:cViewPr varScale="1">
        <p:scale>
          <a:sx n="119" d="100"/>
          <a:sy n="119" d="100"/>
        </p:scale>
        <p:origin x="132" y="234"/>
      </p:cViewPr>
      <p:guideLst>
        <p:guide orient="horz" pos="1620"/>
        <p:guide pos="38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4002" y="96"/>
      </p:cViewPr>
      <p:guideLst>
        <p:guide orient="horz" pos="3126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576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1098" y="0"/>
            <a:ext cx="2944958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F65E68A-3756-4C8E-8197-71FD050BFCFB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46576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1098" y="9428164"/>
            <a:ext cx="2944958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585BEDD-2D92-4105-9852-A01F24AFA7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7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958" cy="496888"/>
          </a:xfrm>
          <a:prstGeom prst="rect">
            <a:avLst/>
          </a:prstGeom>
        </p:spPr>
        <p:txBody>
          <a:bodyPr vert="horz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1098" y="0"/>
            <a:ext cx="2944958" cy="496888"/>
          </a:xfrm>
          <a:prstGeom prst="rect">
            <a:avLst/>
          </a:prstGeom>
        </p:spPr>
        <p:txBody>
          <a:bodyPr vert="horz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E7BA0EBC-DC41-4312-9195-0FBC6F620968}" type="datetimeFigureOut">
              <a:rPr lang="en-US"/>
              <a:pPr>
                <a:defRPr/>
              </a:pPr>
              <a:t>11/11/2025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001713" y="744538"/>
            <a:ext cx="8801101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606" y="4714876"/>
            <a:ext cx="5438464" cy="4467225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44958" cy="496887"/>
          </a:xfrm>
          <a:prstGeom prst="rect">
            <a:avLst/>
          </a:prstGeom>
        </p:spPr>
        <p:txBody>
          <a:bodyPr vert="horz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1098" y="9428164"/>
            <a:ext cx="2944958" cy="496887"/>
          </a:xfrm>
          <a:prstGeom prst="rect">
            <a:avLst/>
          </a:prstGeom>
        </p:spPr>
        <p:txBody>
          <a:bodyPr vert="horz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6027E6F2-E782-4F5A-9617-0846F6A4C9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6243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5625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3965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0757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7552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343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-1001713" y="744538"/>
            <a:ext cx="8801101" cy="3722687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019F3-8596-4028-9847-CBD3A185B07A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-1001713" y="744538"/>
            <a:ext cx="8801101" cy="3722687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019F3-8596-4028-9847-CBD3A185B07A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18A3-B480-0B62-8344-BA693197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821ED6F-6EEB-D2D1-C9EB-A31FCB3BC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001713" y="744538"/>
            <a:ext cx="8801101" cy="3722687"/>
          </a:xfrm>
        </p:spPr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A76DB98-9DE2-0EA7-5C5F-79D74FEAD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E0C25-8C43-6569-A55C-9D27FB277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019F3-8596-4028-9847-CBD3A185B07A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826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B7B54-95BA-D19D-BA3E-0AF181188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0412438-4237-6F94-AC09-420274B3D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001713" y="744538"/>
            <a:ext cx="8801101" cy="3722687"/>
          </a:xfrm>
        </p:spPr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C32689F-34BA-E5DD-F2A0-604365B61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256703-CEE9-4792-1CF6-3C1EC48F8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019F3-8596-4028-9847-CBD3A185B07A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166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-1001713" y="744538"/>
            <a:ext cx="8801101" cy="3722687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First: we define the processes that will be tracked during the fabrication type and the weigh factor for each process</a:t>
            </a:r>
          </a:p>
          <a:p>
            <a:r>
              <a:rPr lang="en-US" dirty="0"/>
              <a:t>Based on that the contribution of each process will be calculated </a:t>
            </a:r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019F3-8596-4028-9847-CBD3A185B07A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271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-1001713" y="744538"/>
            <a:ext cx="8801101" cy="3722687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019F3-8596-4028-9847-CBD3A185B07A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271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-1001713" y="744538"/>
            <a:ext cx="8801101" cy="3722687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019F3-8596-4028-9847-CBD3A185B07A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78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-1001713" y="744538"/>
            <a:ext cx="8801101" cy="3722687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019F3-8596-4028-9847-CBD3A185B07A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86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ue gradient">
            <a:extLst>
              <a:ext uri="{FF2B5EF4-FFF2-40B4-BE49-F238E27FC236}">
                <a16:creationId xmlns:a16="http://schemas.microsoft.com/office/drawing/2014/main" id="{3F8AC7A3-B0F9-C25D-4A56-9C34F2467C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" y="313"/>
            <a:ext cx="12161638" cy="3485837"/>
          </a:xfrm>
          <a:prstGeom prst="rect">
            <a:avLst/>
          </a:prstGeom>
        </p:spPr>
      </p:pic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F6026F8F-28AA-255C-F674-81D5DFD164FA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892" y="4019550"/>
            <a:ext cx="2306054" cy="68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230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: 1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681E2F-2A87-AAE1-FD51-4D13237A90D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19" y="514350"/>
            <a:ext cx="10668104" cy="368534"/>
          </a:xfrm>
          <a:prstGeom prst="rect">
            <a:avLst/>
          </a:prstGeom>
        </p:spPr>
      </p:pic>
      <p:pic>
        <p:nvPicPr>
          <p:cNvPr id="9" name="Picture 8" descr="A green and blue gradient&#10;&#10;Description automatically generated">
            <a:extLst>
              <a:ext uri="{FF2B5EF4-FFF2-40B4-BE49-F238E27FC236}">
                <a16:creationId xmlns:a16="http://schemas.microsoft.com/office/drawing/2014/main" id="{6DB72C90-91FF-983E-3362-225E3BBCF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" y="1"/>
            <a:ext cx="70936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3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-Up: 1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blue gradient&#10;&#10;Description automatically generated">
            <a:extLst>
              <a:ext uri="{FF2B5EF4-FFF2-40B4-BE49-F238E27FC236}">
                <a16:creationId xmlns:a16="http://schemas.microsoft.com/office/drawing/2014/main" id="{114F7AA7-7D7D-B807-F194-4DA4CA71D31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" y="1"/>
            <a:ext cx="709360" cy="51434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7B3D3-78B0-7F2E-5F2C-881F1A3C79F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19" y="514350"/>
            <a:ext cx="10668104" cy="36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31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1FBB24-D8C7-C153-B258-9BB212BB9D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5400000" flipV="1">
            <a:off x="9539415" y="2521076"/>
            <a:ext cx="5143500" cy="101348"/>
          </a:xfrm>
          <a:prstGeom prst="rect">
            <a:avLst/>
          </a:prstGeom>
          <a:gradFill flip="none" rotWithShape="1">
            <a:gsLst>
              <a:gs pos="100000">
                <a:srgbClr val="84BC0F">
                  <a:lumMod val="87000"/>
                </a:srgbClr>
              </a:gs>
              <a:gs pos="42000">
                <a:srgbClr val="2A6F66"/>
              </a:gs>
              <a:gs pos="0">
                <a:srgbClr val="00305F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19" r="-5019"/>
          <a:stretch/>
        </p:blipFill>
        <p:spPr>
          <a:xfrm>
            <a:off x="899319" y="163513"/>
            <a:ext cx="1295400" cy="35083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88C91E-6D46-BE77-737F-4B6502BBFE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6613" y="274638"/>
            <a:ext cx="10488612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B8E407-1BEC-BA6D-BDDA-D748716560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836613" y="1370013"/>
            <a:ext cx="10488612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B3317-1AE7-901A-2EA2-5DEFF1D983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29075" y="4767263"/>
            <a:ext cx="41036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C6C8B-42C6-6B64-E908-87DE76D1AF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8589963" y="4767263"/>
            <a:ext cx="273526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FAEE9B-351E-4F9B-A70F-C97974E9BCB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C1B9C1CE-298D-A741-6300-14BAFBFE01A4}"/>
              </a:ext>
            </a:extLst>
          </p:cNvPr>
          <p:cNvSpPr txBox="1"/>
          <p:nvPr userDrawn="1"/>
        </p:nvSpPr>
        <p:spPr>
          <a:xfrm rot="5400000" flipH="1" flipV="1">
            <a:off x="11145578" y="4212691"/>
            <a:ext cx="16685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1pPr>
            <a:lvl2pPr marL="455613" indent="15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2pPr>
            <a:lvl3pPr marL="912813" indent="15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3pPr>
            <a:lvl4pPr marL="1370013" indent="15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4pPr>
            <a:lvl5pPr marL="1825625" indent="31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US" sz="800" b="1" dirty="0">
                <a:solidFill>
                  <a:schemeClr val="bg1">
                    <a:lumMod val="6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10000-000-BD1-PRS-0008 (10/24)</a:t>
            </a:r>
            <a:endParaRPr lang="en-US" sz="8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040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2" r:id="rId1"/>
    <p:sldLayoutId id="2147484171" r:id="rId2"/>
    <p:sldLayoutId id="2147484172" r:id="rId3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sz="2400" cap="small" spc="0" baseline="0">
          <a:solidFill>
            <a:schemeClr val="bg1"/>
          </a:solidFill>
          <a:latin typeface="+mj-lt"/>
          <a:ea typeface="+mj-ea"/>
          <a:cs typeface="+mj-cs"/>
        </a:defRPr>
      </a:lvl1pPr>
      <a:extLst/>
    </p:titleStyle>
    <p:bodyStyle>
      <a:lvl1pPr marL="0" marR="0" indent="0" algn="l" rtl="0" eaLnBrk="1" latinLnBrk="0" hangingPunct="1">
        <a:spcBef>
          <a:spcPct val="20000"/>
        </a:spcBef>
        <a:buFontTx/>
        <a:buNone/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Tx/>
        <a:buNone/>
        <a:defRPr sz="11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Tx/>
        <a:buNone/>
        <a:defRPr sz="11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Tx/>
        <a:buNone/>
        <a:defRPr sz="11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Tx/>
        <a:buNone/>
        <a:defRPr sz="11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esportal.enppi.com/static/data/support/SMAT/Guides/SMAT%20Guides.html/User_guide/Engineering/BOM/BillOfMaterials.html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70919" y="1028740"/>
            <a:ext cx="7620000" cy="1085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dirty="0">
                <a:solidFill>
                  <a:schemeClr val="bg1"/>
                </a:solidFill>
                <a:latin typeface="Trebuchet MS" panose="020B0603020202020204" pitchFamily="34" charset="0"/>
              </a:rPr>
              <a:t>Fabrication Tracking</a:t>
            </a:r>
            <a:endParaRPr lang="en-US" sz="48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785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B69AA3-8BCF-4CF2-8846-70D167E7D0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0789" y="1148318"/>
            <a:ext cx="10134865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5913" lvl="1" indent="-288443" algn="just" defTabSz="687515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r>
              <a:rPr lang="en-US" b="1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Overview</a:t>
            </a:r>
          </a:p>
          <a:p>
            <a:pPr marL="315913" lvl="1" indent="-288443" algn="just" defTabSz="687515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endParaRPr lang="en-US" b="1" dirty="0">
              <a:solidFill>
                <a:srgbClr val="00305F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pPr marL="315913" lvl="1" indent="-288443" algn="just" defTabSz="687515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r>
              <a:rPr lang="en-US" b="1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Fabrication Type</a:t>
            </a:r>
          </a:p>
          <a:p>
            <a:pPr marL="315913" lvl="1" indent="-288443" algn="just" defTabSz="687515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endParaRPr lang="en-US" b="1" dirty="0">
              <a:solidFill>
                <a:srgbClr val="00305F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pPr marL="315913" lvl="1" indent="-288443" algn="just" defTabSz="687515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r>
              <a:rPr lang="en-US" b="1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Tracking Data</a:t>
            </a:r>
          </a:p>
          <a:p>
            <a:pPr marL="27470" lvl="1" indent="0" algn="just" defTabSz="687515">
              <a:lnSpc>
                <a:spcPct val="90000"/>
              </a:lnSpc>
              <a:spcAft>
                <a:spcPct val="15000"/>
              </a:spcAft>
              <a:buSzPct val="80000"/>
            </a:pPr>
            <a:endParaRPr lang="en-US" b="1" dirty="0">
              <a:solidFill>
                <a:srgbClr val="00305F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pPr marL="315913" lvl="1" indent="-288443" algn="just" defTabSz="687515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r>
              <a:rPr lang="en-US" b="1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Processes Weight Factor</a:t>
            </a:r>
          </a:p>
          <a:p>
            <a:pPr marL="315913" lvl="1" indent="-288443" algn="just" defTabSz="687515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endParaRPr lang="en-US" b="1" dirty="0">
              <a:solidFill>
                <a:srgbClr val="00305F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pPr marL="315913" lvl="1" indent="-288443" algn="just" defTabSz="687515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r>
              <a:rPr lang="en-US" b="1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Progress Tracking </a:t>
            </a:r>
          </a:p>
          <a:p>
            <a:pPr marL="315913" lvl="1" indent="-288443" algn="just" defTabSz="687515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endParaRPr lang="en-US" b="1" dirty="0">
              <a:solidFill>
                <a:srgbClr val="00305F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pPr marL="315913" lvl="1" indent="-288443" algn="just" defTabSz="687515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r>
              <a:rPr lang="en-US" b="1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Steps and Live example</a:t>
            </a:r>
          </a:p>
          <a:p>
            <a:pPr marL="315913" lvl="1" indent="-288443" algn="just" defTabSz="687515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endParaRPr lang="en-US" b="1" dirty="0">
              <a:solidFill>
                <a:srgbClr val="00305F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pPr marL="315913" lvl="1" indent="-288443" algn="just" defTabSz="687515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r>
              <a:rPr lang="en-US" b="1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Questions / Clarifications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74099-1CE9-82F3-F0BB-72B28B0F3F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6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Fabrication Tracking</a:t>
            </a:r>
            <a:endParaRPr lang="en-US" sz="32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844524-AA45-014E-4926-F0516745B49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9319" y="514350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514234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6DDA1-9E7A-A057-E849-24238516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5516E1-DD63-B3A9-DB60-7978B7975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0789" y="1148318"/>
            <a:ext cx="10134865" cy="3574228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pPr marL="420167" lvl="1" indent="-383632" algn="just">
              <a:lnSpc>
                <a:spcPct val="14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r>
              <a:rPr lang="en-US" sz="1600" b="1" dirty="0">
                <a:solidFill>
                  <a:srgbClr val="387955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Fabrication tracking is the process of monitoring the progress of fabricated items, like spools, through each stage of production to make sure everything is accurate, high-quality, and on schedule. Every stage—such as cutting, welding, and painting—is logged in the system to show real-time updates on the item’s status and location.</a:t>
            </a:r>
          </a:p>
          <a:p>
            <a:pPr marL="420167" lvl="1" indent="-383632" algn="just">
              <a:lnSpc>
                <a:spcPct val="14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r>
              <a:rPr lang="en-US" sz="1600" b="1" dirty="0">
                <a:solidFill>
                  <a:srgbClr val="387955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Tracking:</a:t>
            </a:r>
          </a:p>
          <a:p>
            <a:pPr marL="877367" lvl="2" indent="-383632" algn="just">
              <a:lnSpc>
                <a:spcPct val="14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Spool progress tracking</a:t>
            </a:r>
          </a:p>
          <a:p>
            <a:pPr marL="877367" lvl="2" indent="-383632" algn="just">
              <a:lnSpc>
                <a:spcPct val="140000"/>
              </a:lnSpc>
              <a:spcAft>
                <a:spcPct val="15000"/>
              </a:spcAft>
              <a:buSzPct val="80000"/>
              <a:buFont typeface="Wingdings 2"/>
              <a:buChar char=""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Welding progress tracking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A3BCD9-D609-2288-CA0C-E3C747D8A5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6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Fabrication Tracking</a:t>
            </a:r>
            <a:endParaRPr lang="en-US" sz="32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1D8431-1100-3A47-C25A-16370D9B2D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9319" y="514350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714317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49D93-8CEC-5380-AD73-279732960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E3FFD75-54DC-334E-5D13-E18F14471B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9319" y="520184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Tracking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893A6E-83C4-0917-BA0D-8FD31DE20C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0789" y="1148318"/>
            <a:ext cx="10134865" cy="341612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pPr marL="420167" lvl="1" indent="-383632" algn="just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  <a:defRPr/>
            </a:pPr>
            <a:r>
              <a:rPr lang="en-US" b="1" dirty="0">
                <a:solidFill>
                  <a:srgbClr val="328C3B"/>
                </a:solidFill>
                <a:latin typeface="Trebuchet MS" panose="020B0603020202020204" pitchFamily="34" charset="0"/>
              </a:rPr>
              <a:t>Welding Control sheet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0758D-F102-14FE-9F25-B7D296CFB8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7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Fabrication Tracking</a:t>
            </a:r>
            <a:endParaRPr lang="en-US" sz="32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90EFD1-902E-4952-EB50-AA1BCB33B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89" y="1581150"/>
            <a:ext cx="11198139" cy="8229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999DEDD-39DD-909D-A5B0-57BA23F247D0}"/>
              </a:ext>
            </a:extLst>
          </p:cNvPr>
          <p:cNvSpPr/>
          <p:nvPr/>
        </p:nvSpPr>
        <p:spPr>
          <a:xfrm>
            <a:off x="823119" y="2611138"/>
            <a:ext cx="10134865" cy="341612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pPr marL="420167" lvl="1" indent="-383632" algn="just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  <a:defRPr/>
            </a:pPr>
            <a:r>
              <a:rPr lang="en-US" b="1" dirty="0">
                <a:solidFill>
                  <a:srgbClr val="328C3B"/>
                </a:solidFill>
                <a:latin typeface="Trebuchet MS" panose="020B0603020202020204" pitchFamily="34" charset="0"/>
              </a:rPr>
              <a:t>Spool tracking sheet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FB4ED6-4B08-AE5D-B435-D405E6A78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19" y="3105150"/>
            <a:ext cx="1121652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1787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8844524-AA45-014E-4926-F0516745B49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9319" y="520184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Processes Weight Factor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E9C1A8-186B-13F2-08AA-D76C7CD517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0789" y="1148318"/>
            <a:ext cx="10134865" cy="341612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pPr marL="420167" lvl="1" indent="-383632" algn="just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  <a:defRPr/>
            </a:pPr>
            <a:r>
              <a:rPr lang="en-US" b="1" dirty="0">
                <a:solidFill>
                  <a:srgbClr val="328C3B"/>
                </a:solidFill>
                <a:latin typeface="Trebuchet MS" panose="020B0603020202020204" pitchFamily="34" charset="0"/>
              </a:rPr>
              <a:t>Fabrication Processes Contribution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0F1151-15ED-183A-0A6F-83F233555D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6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Fabrication Tracking</a:t>
            </a:r>
            <a:endParaRPr lang="en-US" sz="32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7EA64B-6575-ED4F-DC51-7D5E79E192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164040"/>
              </p:ext>
            </p:extLst>
          </p:nvPr>
        </p:nvGraphicFramePr>
        <p:xfrm>
          <a:off x="1280319" y="1721032"/>
          <a:ext cx="9601200" cy="210923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74005062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53792027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695118934"/>
                    </a:ext>
                  </a:extLst>
                </a:gridCol>
              </a:tblGrid>
              <a:tr h="4027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MT"/>
                        </a:rPr>
                        <a:t>Processes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MT"/>
                        </a:rPr>
                        <a:t>Weight Factor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MT"/>
                        </a:rPr>
                        <a:t>Contribution 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070186"/>
                  </a:ext>
                </a:extLst>
              </a:tr>
              <a:tr h="2844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Cutting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085644"/>
                  </a:ext>
                </a:extLst>
              </a:tr>
              <a:tr h="2844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Weld 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310342"/>
                  </a:ext>
                </a:extLst>
              </a:tr>
              <a:tr h="2844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Weld out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433287"/>
                  </a:ext>
                </a:extLst>
              </a:tr>
              <a:tr h="2844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Testing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139434"/>
                  </a:ext>
                </a:extLst>
              </a:tr>
              <a:tr h="2844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Coating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898124"/>
                  </a:ext>
                </a:extLst>
              </a:tr>
              <a:tr h="2844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Painting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054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579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8844524-AA45-014E-4926-F0516745B49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9319" y="520184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Overall Progress Tracking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E9C1A8-186B-13F2-08AA-D76C7CD517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0789" y="1148318"/>
            <a:ext cx="10134865" cy="341612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pPr marL="420167" lvl="1" indent="-383632" algn="just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  <a:defRPr/>
            </a:pPr>
            <a:r>
              <a:rPr lang="en-US" b="1" dirty="0">
                <a:solidFill>
                  <a:srgbClr val="328C3B"/>
                </a:solidFill>
                <a:latin typeface="Trebuchet MS" panose="020B0603020202020204" pitchFamily="34" charset="0"/>
              </a:rPr>
              <a:t>Fabrication type progress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0F1151-15ED-183A-0A6F-83F233555D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7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Fabrication Tracking</a:t>
            </a:r>
            <a:endParaRPr lang="en-US" sz="32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C249D3-3F92-E64E-852B-0C3B6AB92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282438"/>
              </p:ext>
            </p:extLst>
          </p:nvPr>
        </p:nvGraphicFramePr>
        <p:xfrm>
          <a:off x="1127919" y="1657349"/>
          <a:ext cx="10363200" cy="2991796"/>
        </p:xfrm>
        <a:graphic>
          <a:graphicData uri="http://schemas.openxmlformats.org/drawingml/2006/table">
            <a:tbl>
              <a:tblPr/>
              <a:tblGrid>
                <a:gridCol w="1036320">
                  <a:extLst>
                    <a:ext uri="{9D8B030D-6E8A-4147-A177-3AD203B41FA5}">
                      <a16:colId xmlns:a16="http://schemas.microsoft.com/office/drawing/2014/main" val="419616297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1355585447"/>
                    </a:ext>
                  </a:extLst>
                </a:gridCol>
                <a:gridCol w="1020828">
                  <a:extLst>
                    <a:ext uri="{9D8B030D-6E8A-4147-A177-3AD203B41FA5}">
                      <a16:colId xmlns:a16="http://schemas.microsoft.com/office/drawing/2014/main" val="110710109"/>
                    </a:ext>
                  </a:extLst>
                </a:gridCol>
                <a:gridCol w="1051812">
                  <a:extLst>
                    <a:ext uri="{9D8B030D-6E8A-4147-A177-3AD203B41FA5}">
                      <a16:colId xmlns:a16="http://schemas.microsoft.com/office/drawing/2014/main" val="2622580576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453034113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136939961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16600317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510566807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36564187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509696834"/>
                    </a:ext>
                  </a:extLst>
                </a:gridCol>
              </a:tblGrid>
              <a:tr h="61435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Tag Number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Cutting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Welding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NDE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Painting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Coating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Testing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Progress</a:t>
                      </a:r>
                      <a:r>
                        <a:rPr lang="en-US" sz="13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 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of Tag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Tag weight factor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Weighted progress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9281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SP-1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1/6/2025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1/7/2025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1/8/2025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1/9/2025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1/10/2025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1/11/2025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100%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3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12%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7571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SP-2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1/7/2025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 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1/20/2025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 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 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 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57%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4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9%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703909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SP-3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 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1/20/2025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 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1/25/2025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 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1/28/2025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100%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12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48%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67535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rialMT"/>
                        </a:rPr>
                        <a:t>SP-4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A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1/9/2025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 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1/11/2025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1/12/2025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1/13/2025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 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86%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6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MT"/>
                        </a:rPr>
                        <a:t>21%</a:t>
                      </a:r>
                    </a:p>
                  </a:txBody>
                  <a:tcPr marL="9343" marR="9343" marT="9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008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375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05FDF3-C742-C515-05A8-A38F48B17A83}"/>
              </a:ext>
            </a:extLst>
          </p:cNvPr>
          <p:cNvSpPr txBox="1"/>
          <p:nvPr/>
        </p:nvSpPr>
        <p:spPr>
          <a:xfrm>
            <a:off x="899319" y="520184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CD5C93-AEE9-2E1B-720C-D11D92454FC5}"/>
              </a:ext>
            </a:extLst>
          </p:cNvPr>
          <p:cNvSpPr/>
          <p:nvPr/>
        </p:nvSpPr>
        <p:spPr>
          <a:xfrm>
            <a:off x="810789" y="1148318"/>
            <a:ext cx="10134865" cy="3490166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Import a BOM With the spools and welds included as tagged items.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Load the spools and welds from the BOM into their fabrication types.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Incorporate the data received from the fabrication contractor into the Fab Track template file.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Extract .txt files with the updated data to be compatible with Smart Materials.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Load these files into SMAT and ensure that the data added to the spools and welds correctly.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Review and update the tag weight factors and apply any necessary holds.</a:t>
            </a:r>
          </a:p>
          <a:p>
            <a:pPr marL="420167" lvl="1" indent="-383632" algn="just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  <a:defRPr/>
            </a:pPr>
            <a:endParaRPr lang="en-US" sz="1600" b="1" dirty="0">
              <a:solidFill>
                <a:srgbClr val="00305F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0F1151-15ED-183A-0A6F-83F233555D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7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Fabrication Tracking</a:t>
            </a:r>
            <a:endParaRPr lang="en-US" sz="32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731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05FDF3-C742-C515-05A8-A38F48B17A83}"/>
              </a:ext>
            </a:extLst>
          </p:cNvPr>
          <p:cNvSpPr txBox="1"/>
          <p:nvPr/>
        </p:nvSpPr>
        <p:spPr>
          <a:xfrm>
            <a:off x="899319" y="520184"/>
            <a:ext cx="876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Step1: Import a BOM With the spools and welds included as tagged items</a:t>
            </a:r>
            <a:endParaRPr lang="en-US" b="1" dirty="0">
              <a:solidFill>
                <a:schemeClr val="bg1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D5C93-AEE9-2E1B-720C-D11D92454FC5}"/>
              </a:ext>
            </a:extLst>
          </p:cNvPr>
          <p:cNvSpPr/>
          <p:nvPr/>
        </p:nvSpPr>
        <p:spPr>
          <a:xfrm>
            <a:off x="810789" y="1148318"/>
            <a:ext cx="10908930" cy="2431415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Fill the Excel sheet (Fab Track template) with the required data.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Click Extract Import Files to extract 2 workbooks (Imports Spools and Import Welds) in the same folder.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Import the workbooks into the BOM, following the steps in this link: </a:t>
            </a:r>
            <a:r>
              <a:rPr lang="en-US" sz="1600" dirty="0">
                <a:hlinkClick r:id="rId2"/>
              </a:rPr>
              <a:t>BOM Overview - Smart Materials Guides</a:t>
            </a:r>
            <a:r>
              <a:rPr lang="en-US" sz="1600" b="1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.</a:t>
            </a:r>
          </a:p>
          <a:p>
            <a:pPr marL="36535" lvl="1" indent="0" algn="just">
              <a:lnSpc>
                <a:spcPct val="200000"/>
              </a:lnSpc>
              <a:spcAft>
                <a:spcPct val="15000"/>
              </a:spcAft>
              <a:buSzPct val="80000"/>
              <a:defRPr/>
            </a:pPr>
            <a:r>
              <a:rPr lang="en-US" sz="1600" b="1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	</a:t>
            </a: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Note: In addition to the steps in the guide, ensure that the "Import Fab Spools" checkbox is selected</a:t>
            </a:r>
            <a:r>
              <a:rPr lang="en-US" sz="1600" b="1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.</a:t>
            </a:r>
          </a:p>
          <a:p>
            <a:pPr marL="420167" lvl="1" indent="-383632" algn="just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  <a:defRPr/>
            </a:pPr>
            <a:endParaRPr lang="en-US" sz="1600" b="1" dirty="0">
              <a:solidFill>
                <a:srgbClr val="00305F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F1151-15ED-183A-0A6F-83F233555D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7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Fabrication Tracking</a:t>
            </a:r>
            <a:endParaRPr lang="en-US" sz="32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019" y="3245524"/>
            <a:ext cx="6019800" cy="18625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5374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05FDF3-C742-C515-05A8-A38F48B17A83}"/>
              </a:ext>
            </a:extLst>
          </p:cNvPr>
          <p:cNvSpPr txBox="1"/>
          <p:nvPr/>
        </p:nvSpPr>
        <p:spPr>
          <a:xfrm>
            <a:off x="899319" y="520184"/>
            <a:ext cx="708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Step1: </a:t>
            </a: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Import a BOM With the spools included as tagged items.</a:t>
            </a:r>
          </a:p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F1151-15ED-183A-0A6F-83F233555D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7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Fabrication Tracking</a:t>
            </a:r>
            <a:endParaRPr lang="en-US" sz="32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CD5C93-AEE9-2E1B-720C-D11D92454FC5}"/>
              </a:ext>
            </a:extLst>
          </p:cNvPr>
          <p:cNvSpPr/>
          <p:nvPr/>
        </p:nvSpPr>
        <p:spPr>
          <a:xfrm>
            <a:off x="600673" y="895350"/>
            <a:ext cx="10960492" cy="2571453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pPr marL="322285" lvl="1" indent="-285750" algn="just">
              <a:lnSpc>
                <a:spcPct val="200000"/>
              </a:lnSpc>
              <a:spcAft>
                <a:spcPct val="15000"/>
              </a:spcAft>
              <a:buSzPct val="80000"/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328C3B"/>
                </a:solidFill>
                <a:latin typeface="Trebuchet MS" panose="020B0603020202020204" pitchFamily="34" charset="0"/>
              </a:rPr>
              <a:t>Notes</a:t>
            </a:r>
          </a:p>
          <a:p>
            <a:pPr marL="877367" lvl="2" indent="-383632" algn="just"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The spool tag number and weld tag number shall be unique through the project (spool tag: Line-</a:t>
            </a:r>
            <a:r>
              <a:rPr lang="en-US" sz="1600" dirty="0" err="1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ID_Spool</a:t>
            </a: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-Number, weld tag: Line-</a:t>
            </a:r>
            <a:r>
              <a:rPr lang="en-US" sz="1600" dirty="0" err="1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ID_Spool</a:t>
            </a: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-</a:t>
            </a:r>
            <a:r>
              <a:rPr lang="en-US" sz="1600" dirty="0" err="1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Number_Joint_Number</a:t>
            </a: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).</a:t>
            </a:r>
          </a:p>
          <a:p>
            <a:pPr marL="877367" lvl="2" indent="-383632" algn="just"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Keep the discipline (PIPING SPOOLS) and the item type to be SPOOL for Import Spools workbook.</a:t>
            </a:r>
          </a:p>
          <a:p>
            <a:pPr marL="877367" lvl="2" indent="-383632" algn="just"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Keep the discipline (PIPING WELDS) and the item type to be WELD for Import Welds workbook.</a:t>
            </a:r>
          </a:p>
          <a:p>
            <a:pPr marL="877367" lvl="2" indent="-383632" algn="just"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QTY to be 1 and unit to be EA.</a:t>
            </a:r>
          </a:p>
          <a:p>
            <a:pPr marL="877367" lvl="2" indent="-383632" algn="just"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The fabrication tracking is used to track the welds with joint type shop welds.</a:t>
            </a:r>
          </a:p>
          <a:p>
            <a:pPr marL="420167" lvl="1" indent="-383632" algn="just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  <a:defRPr/>
            </a:pPr>
            <a:endParaRPr lang="en-US" sz="1600" b="1" dirty="0">
              <a:solidFill>
                <a:srgbClr val="00305F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068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05FDF3-C742-C515-05A8-A38F48B17A83}"/>
              </a:ext>
            </a:extLst>
          </p:cNvPr>
          <p:cNvSpPr txBox="1"/>
          <p:nvPr/>
        </p:nvSpPr>
        <p:spPr>
          <a:xfrm>
            <a:off x="899319" y="311470"/>
            <a:ext cx="7086600" cy="96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35" lvl="1" indent="0" algn="just">
              <a:lnSpc>
                <a:spcPct val="200000"/>
              </a:lnSpc>
              <a:spcAft>
                <a:spcPct val="15000"/>
              </a:spcAft>
              <a:buSzPct val="80000"/>
              <a:defRPr/>
            </a:pP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Step2: Load the spools from the BOM into the fabrication type.</a:t>
            </a:r>
          </a:p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F1151-15ED-183A-0A6F-83F233555D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7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Fabrication Tracking</a:t>
            </a:r>
            <a:endParaRPr lang="en-US" sz="32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D5C93-AEE9-2E1B-720C-D11D92454FC5}"/>
              </a:ext>
            </a:extLst>
          </p:cNvPr>
          <p:cNvSpPr/>
          <p:nvPr/>
        </p:nvSpPr>
        <p:spPr>
          <a:xfrm>
            <a:off x="810789" y="1148318"/>
            <a:ext cx="10756530" cy="3155652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Navigate to Home &gt; Site &gt; Maintain Fab Tracking.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Select the appropriate Fabrication Type (the name will be provided by the administrators)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Click on Fab Items/Values.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Choose Load BOM Items.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The Spools will be loaded from the BOM into the fabrication type based on the defined Where conditions.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The Welds will be loaded from the BOM into the fabrication type based on the defined Where conditions.</a:t>
            </a:r>
          </a:p>
        </p:txBody>
      </p:sp>
    </p:spTree>
    <p:extLst>
      <p:ext uri="{BB962C8B-B14F-4D97-AF65-F5344CB8AC3E}">
        <p14:creationId xmlns:p14="http://schemas.microsoft.com/office/powerpoint/2010/main" val="3778449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0F1151-15ED-183A-0A6F-83F233555D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7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DIES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5FDF3-C742-C515-05A8-A38F48B17A83}"/>
              </a:ext>
            </a:extLst>
          </p:cNvPr>
          <p:cNvSpPr txBox="1"/>
          <p:nvPr/>
        </p:nvSpPr>
        <p:spPr>
          <a:xfrm>
            <a:off x="899319" y="311470"/>
            <a:ext cx="7086600" cy="96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35" lvl="1" indent="0" algn="just">
              <a:lnSpc>
                <a:spcPct val="200000"/>
              </a:lnSpc>
              <a:spcAft>
                <a:spcPct val="15000"/>
              </a:spcAft>
              <a:buSzPct val="80000"/>
              <a:defRPr/>
            </a:pP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Step2: </a:t>
            </a: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Load the spools from the BOM into the fabrication type.</a:t>
            </a:r>
          </a:p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64196A-B4ED-BF1D-CC83-119F6C554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215" y="971550"/>
            <a:ext cx="8307408" cy="3714058"/>
          </a:xfrm>
          <a:prstGeom prst="rect">
            <a:avLst/>
          </a:prstGeom>
          <a:ln>
            <a:solidFill>
              <a:srgbClr val="073A60"/>
            </a:solidFill>
          </a:ln>
        </p:spPr>
      </p:pic>
    </p:spTree>
    <p:extLst>
      <p:ext uri="{BB962C8B-B14F-4D97-AF65-F5344CB8AC3E}">
        <p14:creationId xmlns:p14="http://schemas.microsoft.com/office/powerpoint/2010/main" val="785091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05FDF3-C742-C515-05A8-A38F48B17A83}"/>
              </a:ext>
            </a:extLst>
          </p:cNvPr>
          <p:cNvSpPr txBox="1"/>
          <p:nvPr/>
        </p:nvSpPr>
        <p:spPr>
          <a:xfrm>
            <a:off x="899319" y="311470"/>
            <a:ext cx="10591800" cy="1518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35" lvl="1" indent="0" algn="just">
              <a:lnSpc>
                <a:spcPct val="200000"/>
              </a:lnSpc>
              <a:spcAft>
                <a:spcPct val="15000"/>
              </a:spcAft>
              <a:buSzPct val="80000"/>
              <a:defRPr/>
            </a:pP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Step3: Incorporate the data received from the fabrication contractor into the fab track loading template </a:t>
            </a:r>
            <a:r>
              <a:rPr lang="en-US" sz="1600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file.</a:t>
            </a:r>
          </a:p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CD5C93-AEE9-2E1B-720C-D11D92454FC5}"/>
              </a:ext>
            </a:extLst>
          </p:cNvPr>
          <p:cNvSpPr/>
          <p:nvPr/>
        </p:nvSpPr>
        <p:spPr>
          <a:xfrm>
            <a:off x="810789" y="1148318"/>
            <a:ext cx="10134865" cy="2059967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Enter the data received from the supplier into the “Welding Control” worksheet for welds (examples: dates of finishing the processes)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Enter the data for spools in Spool Tracking sheet (examples: dates of finishing the processes).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endParaRPr lang="en-US" sz="1600" dirty="0">
              <a:solidFill>
                <a:srgbClr val="00305F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46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0F1151-15ED-183A-0A6F-83F233555D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7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DIES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5FDF3-C742-C515-05A8-A38F48B17A83}"/>
              </a:ext>
            </a:extLst>
          </p:cNvPr>
          <p:cNvSpPr txBox="1"/>
          <p:nvPr/>
        </p:nvSpPr>
        <p:spPr>
          <a:xfrm>
            <a:off x="899319" y="311470"/>
            <a:ext cx="9829800" cy="156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35" lvl="1" indent="0" algn="just">
              <a:lnSpc>
                <a:spcPct val="200000"/>
              </a:lnSpc>
              <a:spcAft>
                <a:spcPct val="15000"/>
              </a:spcAft>
              <a:buSzPct val="80000"/>
              <a:defRPr/>
            </a:pP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Step4: Extract .txt files with the updated data to be compatible with Smart Materials.</a:t>
            </a:r>
          </a:p>
          <a:p>
            <a:pPr marL="36535" lvl="1" indent="0" algn="just">
              <a:lnSpc>
                <a:spcPct val="200000"/>
              </a:lnSpc>
              <a:spcAft>
                <a:spcPct val="15000"/>
              </a:spcAft>
              <a:buSzPct val="80000"/>
              <a:defRPr/>
            </a:pP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Update Spool</a:t>
            </a:r>
          </a:p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CD5C93-AEE9-2E1B-720C-D11D92454FC5}"/>
              </a:ext>
            </a:extLst>
          </p:cNvPr>
          <p:cNvSpPr/>
          <p:nvPr/>
        </p:nvSpPr>
        <p:spPr>
          <a:xfrm>
            <a:off x="810789" y="1148318"/>
            <a:ext cx="10134865" cy="1038149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To update the status, Enter Extract Update Status Files.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2 txt files are extracted on same path of the workbook (Update Spool Status, Update Weld Status).</a:t>
            </a:r>
          </a:p>
        </p:txBody>
      </p:sp>
    </p:spTree>
    <p:extLst>
      <p:ext uri="{BB962C8B-B14F-4D97-AF65-F5344CB8AC3E}">
        <p14:creationId xmlns:p14="http://schemas.microsoft.com/office/powerpoint/2010/main" val="3908941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0F1151-15ED-183A-0A6F-83F233555D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7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DIES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5FDF3-C742-C515-05A8-A38F48B17A83}"/>
              </a:ext>
            </a:extLst>
          </p:cNvPr>
          <p:cNvSpPr txBox="1"/>
          <p:nvPr/>
        </p:nvSpPr>
        <p:spPr>
          <a:xfrm>
            <a:off x="899319" y="311470"/>
            <a:ext cx="10972800" cy="1156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35" lvl="1" indent="0" algn="just">
              <a:lnSpc>
                <a:spcPct val="200000"/>
              </a:lnSpc>
              <a:spcAft>
                <a:spcPct val="15000"/>
              </a:spcAft>
              <a:buSzPct val="80000"/>
              <a:defRPr/>
            </a:pP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Step5: Load these files into SMAT, ensure that the data added to the spools and welds correctly.</a:t>
            </a:r>
          </a:p>
          <a:p>
            <a:pPr marL="36535" lvl="1" indent="0" algn="just">
              <a:lnSpc>
                <a:spcPct val="200000"/>
              </a:lnSpc>
              <a:spcAft>
                <a:spcPct val="15000"/>
              </a:spcAft>
              <a:buSzPct val="80000"/>
              <a:defRPr/>
            </a:pP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correctly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D5C93-AEE9-2E1B-720C-D11D92454FC5}"/>
              </a:ext>
            </a:extLst>
          </p:cNvPr>
          <p:cNvSpPr/>
          <p:nvPr/>
        </p:nvSpPr>
        <p:spPr>
          <a:xfrm>
            <a:off x="810789" y="1148318"/>
            <a:ext cx="10134865" cy="3203293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Navigate to Home &gt; Site &gt; Load FAB Tracking.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Enter the Load Name, attach the .txt file saved in the previous step, and select the appropriate Load Format (this will be provided by the administrator).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Save and load.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After loading, go to Maintain Fab Tracking and open Fab Items/Values to verify that the data has been imported correctly.</a:t>
            </a:r>
          </a:p>
        </p:txBody>
      </p:sp>
    </p:spTree>
    <p:extLst>
      <p:ext uri="{BB962C8B-B14F-4D97-AF65-F5344CB8AC3E}">
        <p14:creationId xmlns:p14="http://schemas.microsoft.com/office/powerpoint/2010/main" val="3942935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0F1151-15ED-183A-0A6F-83F233555D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7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DIES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5FDF3-C742-C515-05A8-A38F48B17A83}"/>
              </a:ext>
            </a:extLst>
          </p:cNvPr>
          <p:cNvSpPr txBox="1"/>
          <p:nvPr/>
        </p:nvSpPr>
        <p:spPr>
          <a:xfrm>
            <a:off x="899319" y="311470"/>
            <a:ext cx="10668000" cy="1156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35" lvl="1" indent="0" algn="just">
              <a:lnSpc>
                <a:spcPct val="200000"/>
              </a:lnSpc>
              <a:spcAft>
                <a:spcPct val="15000"/>
              </a:spcAft>
              <a:buSzPct val="80000"/>
              <a:defRPr/>
            </a:pP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Step5</a:t>
            </a: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: </a:t>
            </a: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Load these files into SMAT, ensure that the data added to the spools and welds correctly.</a:t>
            </a:r>
          </a:p>
          <a:p>
            <a:pPr marL="36535" lvl="1" indent="0" algn="just">
              <a:lnSpc>
                <a:spcPct val="200000"/>
              </a:lnSpc>
              <a:spcAft>
                <a:spcPct val="15000"/>
              </a:spcAft>
              <a:buSzPct val="80000"/>
              <a:defRPr/>
            </a:pP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correctly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E7F232-9B18-DCF7-86FA-0C1337650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19" y="971550"/>
            <a:ext cx="8028310" cy="3860480"/>
          </a:xfrm>
          <a:prstGeom prst="rect">
            <a:avLst/>
          </a:prstGeom>
          <a:ln>
            <a:solidFill>
              <a:srgbClr val="073A60"/>
            </a:solidFill>
          </a:ln>
        </p:spPr>
      </p:pic>
    </p:spTree>
    <p:extLst>
      <p:ext uri="{BB962C8B-B14F-4D97-AF65-F5344CB8AC3E}">
        <p14:creationId xmlns:p14="http://schemas.microsoft.com/office/powerpoint/2010/main" val="1801161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0F1151-15ED-183A-0A6F-83F233555D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7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DIES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5FDF3-C742-C515-05A8-A38F48B17A83}"/>
              </a:ext>
            </a:extLst>
          </p:cNvPr>
          <p:cNvSpPr txBox="1"/>
          <p:nvPr/>
        </p:nvSpPr>
        <p:spPr>
          <a:xfrm>
            <a:off x="899319" y="311470"/>
            <a:ext cx="9829800" cy="909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35" lvl="1" indent="0" algn="just">
              <a:lnSpc>
                <a:spcPct val="200000"/>
              </a:lnSpc>
              <a:spcAft>
                <a:spcPct val="15000"/>
              </a:spcAft>
              <a:buSzPct val="80000"/>
              <a:defRPr/>
            </a:pP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Step6: </a:t>
            </a:r>
            <a:r>
              <a:rPr lang="en-US" sz="1600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Review and update the tag weight factors and apply any necessary holds to the spools.</a:t>
            </a:r>
          </a:p>
          <a:p>
            <a:pPr marL="420167" lvl="1" indent="-383632" algn="just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  <a:defRPr/>
            </a:pPr>
            <a:endParaRPr lang="en-US" sz="1600" b="1" dirty="0">
              <a:solidFill>
                <a:srgbClr val="00305F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D5C93-AEE9-2E1B-720C-D11D92454FC5}"/>
              </a:ext>
            </a:extLst>
          </p:cNvPr>
          <p:cNvSpPr/>
          <p:nvPr/>
        </p:nvSpPr>
        <p:spPr>
          <a:xfrm>
            <a:off x="810789" y="1148318"/>
            <a:ext cx="10680330" cy="2692448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Navigate to Home &gt; Site &gt; Maintain FAB Tracking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Select the Fabrication type.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Open Fab Items/Values in the Maintain Fab Tracking.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In the Hold Code column, enter any applicable hold codes as required.</a:t>
            </a:r>
          </a:p>
          <a:p>
            <a:pPr marL="420167" lvl="1" indent="-383632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In the Tag Weight Factor column, input the corresponding tag weight values.</a:t>
            </a:r>
          </a:p>
        </p:txBody>
      </p:sp>
    </p:spTree>
    <p:extLst>
      <p:ext uri="{BB962C8B-B14F-4D97-AF65-F5344CB8AC3E}">
        <p14:creationId xmlns:p14="http://schemas.microsoft.com/office/powerpoint/2010/main" val="3863152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0F1151-15ED-183A-0A6F-83F233555D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7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DIES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5FDF3-C742-C515-05A8-A38F48B17A83}"/>
              </a:ext>
            </a:extLst>
          </p:cNvPr>
          <p:cNvSpPr txBox="1"/>
          <p:nvPr/>
        </p:nvSpPr>
        <p:spPr>
          <a:xfrm>
            <a:off x="899319" y="311470"/>
            <a:ext cx="9829800" cy="909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35" lvl="1" indent="0" algn="just">
              <a:lnSpc>
                <a:spcPct val="200000"/>
              </a:lnSpc>
              <a:spcAft>
                <a:spcPct val="15000"/>
              </a:spcAft>
              <a:buSzPct val="80000"/>
              <a:defRPr/>
            </a:pP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Step6: </a:t>
            </a:r>
            <a:r>
              <a:rPr lang="en-US" sz="1600" b="1" dirty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Review and update the tag weight factors and apply any necessary holds to the spools.</a:t>
            </a:r>
          </a:p>
          <a:p>
            <a:pPr marL="420167" lvl="1" indent="-383632" algn="just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  <a:defRPr/>
            </a:pPr>
            <a:endParaRPr lang="en-US" sz="1600" b="1" dirty="0">
              <a:solidFill>
                <a:srgbClr val="00305F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8A5DC5-C6D9-0976-6EB4-9C4176CF0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519" y="1018611"/>
            <a:ext cx="7705064" cy="3826453"/>
          </a:xfrm>
          <a:prstGeom prst="rect">
            <a:avLst/>
          </a:prstGeom>
          <a:ln>
            <a:solidFill>
              <a:srgbClr val="073A60"/>
            </a:solidFill>
          </a:ln>
        </p:spPr>
      </p:pic>
    </p:spTree>
    <p:extLst>
      <p:ext uri="{BB962C8B-B14F-4D97-AF65-F5344CB8AC3E}">
        <p14:creationId xmlns:p14="http://schemas.microsoft.com/office/powerpoint/2010/main" val="1234329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0F1151-15ED-183A-0A6F-83F233555D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7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DIES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5FDF3-C742-C515-05A8-A38F48B17A83}"/>
              </a:ext>
            </a:extLst>
          </p:cNvPr>
          <p:cNvSpPr txBox="1"/>
          <p:nvPr/>
        </p:nvSpPr>
        <p:spPr>
          <a:xfrm>
            <a:off x="899319" y="311470"/>
            <a:ext cx="9829800" cy="909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35" lvl="1" indent="0" algn="just">
              <a:lnSpc>
                <a:spcPct val="200000"/>
              </a:lnSpc>
              <a:spcAft>
                <a:spcPct val="15000"/>
              </a:spcAft>
              <a:buSzPct val="80000"/>
              <a:defRPr/>
            </a:pP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Handling the Modifications.</a:t>
            </a:r>
            <a:endParaRPr lang="en-US" sz="1600" b="1" dirty="0">
              <a:solidFill>
                <a:schemeClr val="bg1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pPr marL="420167" lvl="1" indent="-383632" algn="just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  <a:defRPr/>
            </a:pPr>
            <a:endParaRPr lang="en-US" sz="1600" b="1" dirty="0">
              <a:solidFill>
                <a:srgbClr val="00305F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D5C93-AEE9-2E1B-720C-D11D92454FC5}"/>
              </a:ext>
            </a:extLst>
          </p:cNvPr>
          <p:cNvSpPr/>
          <p:nvPr/>
        </p:nvSpPr>
        <p:spPr>
          <a:xfrm>
            <a:off x="810789" y="1148318"/>
            <a:ext cx="10134865" cy="2692448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pPr marL="322285" lvl="1" indent="-285750" algn="just">
              <a:lnSpc>
                <a:spcPct val="200000"/>
              </a:lnSpc>
              <a:spcAft>
                <a:spcPct val="15000"/>
              </a:spcAft>
              <a:buSzPct val="80000"/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328C3B"/>
                </a:solidFill>
                <a:latin typeface="Trebuchet MS" panose="020B0603020202020204" pitchFamily="34" charset="0"/>
              </a:rPr>
              <a:t>Examples for modifications to spools:</a:t>
            </a:r>
          </a:p>
          <a:p>
            <a:pPr marL="836635" lvl="2" indent="-342900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Spools added or deleted.</a:t>
            </a:r>
          </a:p>
          <a:p>
            <a:pPr marL="836635" lvl="2" indent="-342900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Properties of the spool changed (Ex. </a:t>
            </a:r>
            <a:r>
              <a:rPr lang="en-US" sz="1600" dirty="0" err="1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dia_inch</a:t>
            </a: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).</a:t>
            </a:r>
          </a:p>
          <a:p>
            <a:pPr marL="836635" lvl="2" indent="-342900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Isometric revision change (To be checked with the construction team).</a:t>
            </a:r>
          </a:p>
          <a:p>
            <a:pPr marL="36535" lvl="1" indent="0" algn="just">
              <a:lnSpc>
                <a:spcPct val="200000"/>
              </a:lnSpc>
              <a:spcAft>
                <a:spcPct val="15000"/>
              </a:spcAft>
              <a:buSzPct val="80000"/>
              <a:defRPr/>
            </a:pPr>
            <a:endParaRPr lang="en-US" sz="1600" b="1" dirty="0">
              <a:solidFill>
                <a:srgbClr val="00305F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413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0F1151-15ED-183A-0A6F-83F233555D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2177767" y="2296037"/>
            <a:ext cx="50625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rebuchet MS" panose="020B0603020202020204" pitchFamily="34" charset="0"/>
              </a:rPr>
              <a:t>DIES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5FDF3-C742-C515-05A8-A38F48B17A83}"/>
              </a:ext>
            </a:extLst>
          </p:cNvPr>
          <p:cNvSpPr txBox="1"/>
          <p:nvPr/>
        </p:nvSpPr>
        <p:spPr>
          <a:xfrm>
            <a:off x="899319" y="311470"/>
            <a:ext cx="9829800" cy="909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35" lvl="1" indent="0" algn="just">
              <a:lnSpc>
                <a:spcPct val="200000"/>
              </a:lnSpc>
              <a:spcAft>
                <a:spcPct val="15000"/>
              </a:spcAft>
              <a:buSzPct val="80000"/>
              <a:defRPr/>
            </a:pPr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Spools deleted</a:t>
            </a:r>
            <a:endParaRPr lang="en-US" sz="1600" b="1" dirty="0">
              <a:solidFill>
                <a:schemeClr val="bg1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pPr marL="420167" lvl="1" indent="-383632" algn="just">
              <a:lnSpc>
                <a:spcPct val="90000"/>
              </a:lnSpc>
              <a:spcAft>
                <a:spcPct val="15000"/>
              </a:spcAft>
              <a:buSzPct val="80000"/>
              <a:buFont typeface="Wingdings 2"/>
              <a:buChar char=""/>
              <a:defRPr/>
            </a:pPr>
            <a:endParaRPr lang="en-US" sz="1600" b="1" dirty="0">
              <a:solidFill>
                <a:srgbClr val="00305F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D5C93-AEE9-2E1B-720C-D11D92454FC5}"/>
              </a:ext>
            </a:extLst>
          </p:cNvPr>
          <p:cNvSpPr/>
          <p:nvPr/>
        </p:nvSpPr>
        <p:spPr>
          <a:xfrm>
            <a:off x="645895" y="971550"/>
            <a:ext cx="11125200" cy="3929710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pPr marL="322285" lvl="1" indent="-285750" algn="just">
              <a:spcAft>
                <a:spcPct val="15000"/>
              </a:spcAft>
              <a:buSzPct val="80000"/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328C3B"/>
                </a:solidFill>
                <a:latin typeface="Trebuchet MS" panose="020B0603020202020204" pitchFamily="34" charset="0"/>
              </a:rPr>
              <a:t>Steps to handle adding or removing spools:</a:t>
            </a:r>
            <a:endParaRPr lang="en-US" sz="1600" b="1" dirty="0">
              <a:solidFill>
                <a:srgbClr val="328C3B"/>
              </a:solidFill>
              <a:latin typeface="Trebuchet MS" panose="020B060302020202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pPr marL="836635" lvl="2" indent="-342900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Update the Fabrication Tracking Template to reflect the required spool changes Re-import the BOM using the updated template.</a:t>
            </a:r>
          </a:p>
          <a:p>
            <a:pPr marL="836635" lvl="2" indent="-342900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Under the PIPING SPOOLS node, verify that the number of spools matches the updated import.</a:t>
            </a:r>
          </a:p>
          <a:p>
            <a:pPr marL="836635" lvl="2" indent="-342900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In Maintain FAB Tracking, select the appropriate Fabrication Type and open Fab Items/Values.</a:t>
            </a:r>
          </a:p>
          <a:p>
            <a:pPr marL="836635" lvl="2" indent="-342900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Select Load BOM Items.</a:t>
            </a:r>
          </a:p>
          <a:p>
            <a:pPr marL="836635" lvl="2" indent="-342900" algn="just">
              <a:lnSpc>
                <a:spcPct val="200000"/>
              </a:lnSpc>
              <a:spcAft>
                <a:spcPct val="15000"/>
              </a:spcAft>
              <a:buSzPct val="80000"/>
              <a:buFont typeface="+mj-lt"/>
              <a:buAutoNum type="arabicPeriod"/>
              <a:defRPr/>
            </a:pPr>
            <a:r>
              <a:rPr lang="en-US" sz="1600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Select the Update Cancellation option. This will automatically mark the "Cancel" column with "Yes" for any spools that were removed from the BOM.</a:t>
            </a:r>
          </a:p>
        </p:txBody>
      </p:sp>
    </p:spTree>
    <p:extLst>
      <p:ext uri="{BB962C8B-B14F-4D97-AF65-F5344CB8AC3E}">
        <p14:creationId xmlns:p14="http://schemas.microsoft.com/office/powerpoint/2010/main" val="1763120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32719" y="1934111"/>
            <a:ext cx="9525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ko-KR" sz="4000" b="1" dirty="0">
                <a:solidFill>
                  <a:srgbClr val="00305F"/>
                </a:solidFill>
                <a:latin typeface="Trebuchet MS" panose="020B0603020202020204" pitchFamily="34" charset="0"/>
                <a:ea typeface="ＭＳ Ｐゴシック" pitchFamily="34" charset="-128"/>
                <a:cs typeface="Calibri" panose="020F050202020403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502657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70919" y="1047750"/>
            <a:ext cx="7620000" cy="1085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dirty="0">
                <a:solidFill>
                  <a:schemeClr val="bg1"/>
                </a:solidFill>
                <a:latin typeface="Trebuchet MS" panose="020B0603020202020204" pitchFamily="34" charset="0"/>
              </a:rPr>
              <a:t>Thank You</a:t>
            </a:r>
            <a:endParaRPr lang="en-US" sz="48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212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itchbook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0FC519D-8658-4255-906A-422831B44B9A}" vid="{1D49D6AA-5AD4-4F7A-9D83-CD614D2F8EC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E92F831A-BD16-4DAF-8CAE-F21564186F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Enppi Presentation Template</Template>
  <TotalTime>1193</TotalTime>
  <Words>1121</Words>
  <Application>Microsoft Office PowerPoint</Application>
  <PresentationFormat>Custom</PresentationFormat>
  <Paragraphs>194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 Narrow</vt:lpstr>
      <vt:lpstr>Arial</vt:lpstr>
      <vt:lpstr>ArialMT</vt:lpstr>
      <vt:lpstr>Calibri</vt:lpstr>
      <vt:lpstr>Times New Roman</vt:lpstr>
      <vt:lpstr>Trebuchet MS</vt:lpstr>
      <vt:lpstr>Wingdings 2</vt:lpstr>
      <vt:lpstr>Pitchbook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Enppi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Alaa Salah</dc:creator>
  <cp:lastModifiedBy>Sherif Abd El Moneim</cp:lastModifiedBy>
  <cp:revision>134</cp:revision>
  <dcterms:created xsi:type="dcterms:W3CDTF">2025-09-23T11:49:54Z</dcterms:created>
  <dcterms:modified xsi:type="dcterms:W3CDTF">2025-11-11T13:22:08Z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TC101769309990</vt:lpwstr>
  </property>
</Properties>
</file>