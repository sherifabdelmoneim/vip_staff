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1" r:id="rId2"/>
  </p:sldMasterIdLst>
  <p:notesMasterIdLst>
    <p:notesMasterId r:id="rId30"/>
  </p:notesMasterIdLst>
  <p:handoutMasterIdLst>
    <p:handoutMasterId r:id="rId31"/>
  </p:handoutMasterIdLst>
  <p:sldIdLst>
    <p:sldId id="505" r:id="rId3"/>
    <p:sldId id="520" r:id="rId4"/>
    <p:sldId id="647" r:id="rId5"/>
    <p:sldId id="649" r:id="rId6"/>
    <p:sldId id="650" r:id="rId7"/>
    <p:sldId id="651" r:id="rId8"/>
    <p:sldId id="666" r:id="rId9"/>
    <p:sldId id="667" r:id="rId10"/>
    <p:sldId id="683" r:id="rId11"/>
    <p:sldId id="668" r:id="rId12"/>
    <p:sldId id="669" r:id="rId13"/>
    <p:sldId id="670" r:id="rId14"/>
    <p:sldId id="671" r:id="rId15"/>
    <p:sldId id="672" r:id="rId16"/>
    <p:sldId id="675" r:id="rId17"/>
    <p:sldId id="673" r:id="rId18"/>
    <p:sldId id="676" r:id="rId19"/>
    <p:sldId id="674" r:id="rId20"/>
    <p:sldId id="677" r:id="rId21"/>
    <p:sldId id="679" r:id="rId22"/>
    <p:sldId id="680" r:id="rId23"/>
    <p:sldId id="681" r:id="rId24"/>
    <p:sldId id="682" r:id="rId25"/>
    <p:sldId id="684" r:id="rId26"/>
    <p:sldId id="685" r:id="rId27"/>
    <p:sldId id="643" r:id="rId28"/>
    <p:sldId id="648" r:id="rId29"/>
  </p:sldIdLst>
  <p:sldSz cx="12161838" cy="5143500"/>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pitchFamily="34" charset="0"/>
      </a:defRPr>
    </a:lvl1pPr>
    <a:lvl2pPr marL="455613" indent="1588" algn="l" rtl="0" fontAlgn="base">
      <a:spcBef>
        <a:spcPct val="0"/>
      </a:spcBef>
      <a:spcAft>
        <a:spcPct val="0"/>
      </a:spcAft>
      <a:defRPr kern="1200">
        <a:solidFill>
          <a:schemeClr val="tx1"/>
        </a:solidFill>
        <a:latin typeface="Calibri" pitchFamily="34" charset="0"/>
        <a:ea typeface="+mn-ea"/>
        <a:cs typeface="Arial" pitchFamily="34" charset="0"/>
      </a:defRPr>
    </a:lvl2pPr>
    <a:lvl3pPr marL="912813" indent="1588" algn="l" rtl="0" fontAlgn="base">
      <a:spcBef>
        <a:spcPct val="0"/>
      </a:spcBef>
      <a:spcAft>
        <a:spcPct val="0"/>
      </a:spcAft>
      <a:defRPr kern="1200">
        <a:solidFill>
          <a:schemeClr val="tx1"/>
        </a:solidFill>
        <a:latin typeface="Calibri" pitchFamily="34" charset="0"/>
        <a:ea typeface="+mn-ea"/>
        <a:cs typeface="Arial" pitchFamily="34" charset="0"/>
      </a:defRPr>
    </a:lvl3pPr>
    <a:lvl4pPr marL="1370013" indent="1588" algn="l" rtl="0" fontAlgn="base">
      <a:spcBef>
        <a:spcPct val="0"/>
      </a:spcBef>
      <a:spcAft>
        <a:spcPct val="0"/>
      </a:spcAft>
      <a:defRPr kern="1200">
        <a:solidFill>
          <a:schemeClr val="tx1"/>
        </a:solidFill>
        <a:latin typeface="Calibri" pitchFamily="34" charset="0"/>
        <a:ea typeface="+mn-ea"/>
        <a:cs typeface="Arial" pitchFamily="34" charset="0"/>
      </a:defRPr>
    </a:lvl4pPr>
    <a:lvl5pPr marL="1825625" indent="3175" algn="l" rtl="0" fontAlgn="base">
      <a:spcBef>
        <a:spcPct val="0"/>
      </a:spcBef>
      <a:spcAft>
        <a:spcPct val="0"/>
      </a:spcAft>
      <a:defRPr kern="1200">
        <a:solidFill>
          <a:schemeClr val="tx1"/>
        </a:solidFill>
        <a:latin typeface="Calibri" pitchFamily="34" charset="0"/>
        <a:ea typeface="+mn-ea"/>
        <a:cs typeface="Arial" pitchFamily="34" charset="0"/>
      </a:defRPr>
    </a:lvl5pPr>
    <a:lvl6pPr marL="2286000" algn="l" defTabSz="914400" rtl="0" eaLnBrk="1" latinLnBrk="0" hangingPunct="1">
      <a:defRPr kern="1200">
        <a:solidFill>
          <a:schemeClr val="tx1"/>
        </a:solidFill>
        <a:latin typeface="Calibri" pitchFamily="34" charset="0"/>
        <a:ea typeface="+mn-ea"/>
        <a:cs typeface="Arial" pitchFamily="34" charset="0"/>
      </a:defRPr>
    </a:lvl6pPr>
    <a:lvl7pPr marL="2743200" algn="l" defTabSz="914400" rtl="0" eaLnBrk="1" latinLnBrk="0" hangingPunct="1">
      <a:defRPr kern="1200">
        <a:solidFill>
          <a:schemeClr val="tx1"/>
        </a:solidFill>
        <a:latin typeface="Calibri" pitchFamily="34" charset="0"/>
        <a:ea typeface="+mn-ea"/>
        <a:cs typeface="Arial" pitchFamily="34" charset="0"/>
      </a:defRPr>
    </a:lvl7pPr>
    <a:lvl8pPr marL="3200400" algn="l" defTabSz="914400" rtl="0" eaLnBrk="1" latinLnBrk="0" hangingPunct="1">
      <a:defRPr kern="1200">
        <a:solidFill>
          <a:schemeClr val="tx1"/>
        </a:solidFill>
        <a:latin typeface="Calibri" pitchFamily="34" charset="0"/>
        <a:ea typeface="+mn-ea"/>
        <a:cs typeface="Arial" pitchFamily="34" charset="0"/>
      </a:defRPr>
    </a:lvl8pPr>
    <a:lvl9pPr marL="3657600" algn="l" defTabSz="914400" rtl="0" eaLnBrk="1" latinLnBrk="0" hangingPunct="1">
      <a:defRPr kern="1200">
        <a:solidFill>
          <a:schemeClr val="tx1"/>
        </a:solidFill>
        <a:latin typeface="Calibri" pitchFamily="34" charset="0"/>
        <a:ea typeface="+mn-ea"/>
        <a:cs typeface="Arial" pitchFamily="34" charset="0"/>
      </a:defRPr>
    </a:lvl9pPr>
  </p:defaultTextStyle>
  <p:extLst>
    <p:ext uri="{EFAFB233-063F-42B5-8137-9DF3F51BA10A}">
      <p15:sldGuideLst xmlns:p15="http://schemas.microsoft.com/office/powerpoint/2012/main">
        <p15:guide id="1" orient="horz" pos="1620">
          <p15:clr>
            <a:srgbClr val="A4A3A4"/>
          </p15:clr>
        </p15:guide>
        <p15:guide id="2" pos="3831">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3A60"/>
    <a:srgbClr val="FFFFFF"/>
    <a:srgbClr val="609625"/>
    <a:srgbClr val="6C9F15"/>
    <a:srgbClr val="31745D"/>
    <a:srgbClr val="659A1E"/>
    <a:srgbClr val="5E9526"/>
    <a:srgbClr val="093D60"/>
    <a:srgbClr val="59912D"/>
    <a:srgbClr val="1951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61" autoAdjust="0"/>
    <p:restoredTop sz="86467" autoAdjust="0"/>
  </p:normalViewPr>
  <p:slideViewPr>
    <p:cSldViewPr>
      <p:cViewPr varScale="1">
        <p:scale>
          <a:sx n="117" d="100"/>
          <a:sy n="117" d="100"/>
        </p:scale>
        <p:origin x="126" y="534"/>
      </p:cViewPr>
      <p:guideLst>
        <p:guide orient="horz" pos="1620"/>
        <p:guide pos="38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7" d="100"/>
          <a:sy n="77" d="100"/>
        </p:scale>
        <p:origin x="4002" y="96"/>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576" cy="4968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51098" y="0"/>
            <a:ext cx="2944958" cy="4968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F65E68A-3756-4C8E-8197-71FD050BFCFB}" type="datetimeFigureOut">
              <a:rPr lang="en-US"/>
              <a:pPr>
                <a:defRPr/>
              </a:pPr>
              <a:t>11/11/2025</a:t>
            </a:fld>
            <a:endParaRPr lang="en-US"/>
          </a:p>
        </p:txBody>
      </p:sp>
      <p:sp>
        <p:nvSpPr>
          <p:cNvPr id="4" name="Footer Placeholder 3"/>
          <p:cNvSpPr>
            <a:spLocks noGrp="1"/>
          </p:cNvSpPr>
          <p:nvPr>
            <p:ph type="ftr" sz="quarter" idx="2"/>
          </p:nvPr>
        </p:nvSpPr>
        <p:spPr>
          <a:xfrm>
            <a:off x="0" y="9428164"/>
            <a:ext cx="2946576" cy="4968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51098" y="9428164"/>
            <a:ext cx="2944958" cy="4968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9585BEDD-2D92-4105-9852-A01F24AFA79E}" type="slidenum">
              <a:rPr lang="en-US"/>
              <a:pPr>
                <a:defRPr/>
              </a:pPr>
              <a:t>‹#›</a:t>
            </a:fld>
            <a:endParaRPr lang="en-US"/>
          </a:p>
        </p:txBody>
      </p:sp>
    </p:spTree>
    <p:extLst>
      <p:ext uri="{BB962C8B-B14F-4D97-AF65-F5344CB8AC3E}">
        <p14:creationId xmlns:p14="http://schemas.microsoft.com/office/powerpoint/2010/main" val="107527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958" cy="496888"/>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Date Placeholder 2"/>
          <p:cNvSpPr>
            <a:spLocks noGrp="1"/>
          </p:cNvSpPr>
          <p:nvPr>
            <p:ph type="dt" idx="1"/>
          </p:nvPr>
        </p:nvSpPr>
        <p:spPr>
          <a:xfrm>
            <a:off x="3851098" y="0"/>
            <a:ext cx="2944958" cy="496888"/>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E7BA0EBC-DC41-4312-9195-0FBC6F620968}" type="datetimeFigureOut">
              <a:rPr lang="en-US"/>
              <a:pPr>
                <a:defRPr/>
              </a:pPr>
              <a:t>11/11/2025</a:t>
            </a:fld>
            <a:endParaRPr lang="en-US" dirty="0"/>
          </a:p>
        </p:txBody>
      </p:sp>
      <p:sp>
        <p:nvSpPr>
          <p:cNvPr id="4" name="Slide Image Placeholder 3"/>
          <p:cNvSpPr>
            <a:spLocks noGrp="1" noRot="1" noChangeAspect="1"/>
          </p:cNvSpPr>
          <p:nvPr>
            <p:ph type="sldImg" idx="2"/>
          </p:nvPr>
        </p:nvSpPr>
        <p:spPr>
          <a:xfrm>
            <a:off x="-1001713" y="744538"/>
            <a:ext cx="8801101" cy="3722687"/>
          </a:xfrm>
          <a:prstGeom prst="rect">
            <a:avLst/>
          </a:prstGeom>
          <a:noFill/>
          <a:ln w="12700">
            <a:solidFill>
              <a:prstClr val="black"/>
            </a:solidFill>
          </a:ln>
        </p:spPr>
        <p:txBody>
          <a:bodyPr vert="horz" rtlCol="0" anchor="ctr"/>
          <a:lstStyle/>
          <a:p>
            <a:pPr lvl="0"/>
            <a:endParaRPr lang="en-US" noProof="0" dirty="0"/>
          </a:p>
        </p:txBody>
      </p:sp>
      <p:sp>
        <p:nvSpPr>
          <p:cNvPr id="5" name="Notes Placeholder 4"/>
          <p:cNvSpPr>
            <a:spLocks noGrp="1"/>
          </p:cNvSpPr>
          <p:nvPr>
            <p:ph type="body" sz="quarter" idx="3"/>
          </p:nvPr>
        </p:nvSpPr>
        <p:spPr>
          <a:xfrm>
            <a:off x="679606" y="4714876"/>
            <a:ext cx="5438464" cy="4467225"/>
          </a:xfrm>
          <a:prstGeom prst="rect">
            <a:avLst/>
          </a:prstGeom>
        </p:spPr>
        <p:txBody>
          <a:bodyPr vert="horz"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164"/>
            <a:ext cx="2944958" cy="496887"/>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51098" y="9428164"/>
            <a:ext cx="2944958" cy="496887"/>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6027E6F2-E782-4F5A-9617-0846F6A4C9AC}" type="slidenum">
              <a:rPr lang="en-US"/>
              <a:pPr>
                <a:defRPr/>
              </a:pPr>
              <a:t>‹#›</a:t>
            </a:fld>
            <a:endParaRPr lang="en-US" dirty="0"/>
          </a:p>
        </p:txBody>
      </p:sp>
    </p:spTree>
    <p:extLst>
      <p:ext uri="{BB962C8B-B14F-4D97-AF65-F5344CB8AC3E}">
        <p14:creationId xmlns:p14="http://schemas.microsoft.com/office/powerpoint/2010/main" val="2679624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5613" algn="l" rtl="0" eaLnBrk="0" fontAlgn="base" hangingPunct="0">
      <a:spcBef>
        <a:spcPct val="30000"/>
      </a:spcBef>
      <a:spcAft>
        <a:spcPct val="0"/>
      </a:spcAft>
      <a:defRPr sz="1200" kern="1200">
        <a:solidFill>
          <a:schemeClr val="tx1"/>
        </a:solidFill>
        <a:latin typeface="+mn-lt"/>
        <a:ea typeface="+mn-ea"/>
        <a:cs typeface="+mn-cs"/>
      </a:defRPr>
    </a:lvl2pPr>
    <a:lvl3pPr marL="912813" algn="l" rtl="0" eaLnBrk="0" fontAlgn="base" hangingPunct="0">
      <a:spcBef>
        <a:spcPct val="30000"/>
      </a:spcBef>
      <a:spcAft>
        <a:spcPct val="0"/>
      </a:spcAft>
      <a:defRPr sz="1200" kern="1200">
        <a:solidFill>
          <a:schemeClr val="tx1"/>
        </a:solidFill>
        <a:latin typeface="+mn-lt"/>
        <a:ea typeface="+mn-ea"/>
        <a:cs typeface="+mn-cs"/>
      </a:defRPr>
    </a:lvl3pPr>
    <a:lvl4pPr marL="1370013" algn="l" rtl="0" eaLnBrk="0" fontAlgn="base" hangingPunct="0">
      <a:spcBef>
        <a:spcPct val="30000"/>
      </a:spcBef>
      <a:spcAft>
        <a:spcPct val="0"/>
      </a:spcAft>
      <a:defRPr sz="1200" kern="1200">
        <a:solidFill>
          <a:schemeClr val="tx1"/>
        </a:solidFill>
        <a:latin typeface="+mn-lt"/>
        <a:ea typeface="+mn-ea"/>
        <a:cs typeface="+mn-cs"/>
      </a:defRPr>
    </a:lvl4pPr>
    <a:lvl5pPr marL="1825625" algn="l" rtl="0" eaLnBrk="0" fontAlgn="base" hangingPunct="0">
      <a:spcBef>
        <a:spcPct val="30000"/>
      </a:spcBef>
      <a:spcAft>
        <a:spcPct val="0"/>
      </a:spcAft>
      <a:defRPr sz="1200" kern="1200">
        <a:solidFill>
          <a:schemeClr val="tx1"/>
        </a:solidFill>
        <a:latin typeface="+mn-lt"/>
        <a:ea typeface="+mn-ea"/>
        <a:cs typeface="+mn-cs"/>
      </a:defRPr>
    </a:lvl5pPr>
    <a:lvl6pPr marL="2283965" algn="l" rtl="0">
      <a:defRPr sz="1200" kern="1200">
        <a:solidFill>
          <a:schemeClr val="tx1"/>
        </a:solidFill>
        <a:latin typeface="+mn-lt"/>
        <a:ea typeface="+mn-ea"/>
        <a:cs typeface="+mn-cs"/>
      </a:defRPr>
    </a:lvl6pPr>
    <a:lvl7pPr marL="2740757" algn="l" rtl="0">
      <a:defRPr sz="1200" kern="1200">
        <a:solidFill>
          <a:schemeClr val="tx1"/>
        </a:solidFill>
        <a:latin typeface="+mn-lt"/>
        <a:ea typeface="+mn-ea"/>
        <a:cs typeface="+mn-cs"/>
      </a:defRPr>
    </a:lvl7pPr>
    <a:lvl8pPr marL="3197552" algn="l" rtl="0">
      <a:defRPr sz="1200" kern="1200">
        <a:solidFill>
          <a:schemeClr val="tx1"/>
        </a:solidFill>
        <a:latin typeface="+mn-lt"/>
        <a:ea typeface="+mn-ea"/>
        <a:cs typeface="+mn-cs"/>
      </a:defRPr>
    </a:lvl8pPr>
    <a:lvl9pPr marL="3654343"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56927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569271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260678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001713" y="744538"/>
            <a:ext cx="8801101" cy="3722687"/>
          </a:xfrm>
        </p:spPr>
      </p:sp>
      <p:sp>
        <p:nvSpPr>
          <p:cNvPr id="3" name="Rectangle 3"/>
          <p:cNvSpPr>
            <a:spLocks noGrp="1"/>
          </p:cNvSpPr>
          <p:nvPr>
            <p:ph type="body" idx="1"/>
          </p:nvPr>
        </p:nvSpPr>
        <p:spPr/>
        <p:txBody>
          <a:bodyPr/>
          <a:lstStyle/>
          <a:p>
            <a:endParaRPr lang="en-US"/>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3911868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5" name="Picture 4" descr="A green and blue gradient">
            <a:extLst>
              <a:ext uri="{FF2B5EF4-FFF2-40B4-BE49-F238E27FC236}">
                <a16:creationId xmlns:a16="http://schemas.microsoft.com/office/drawing/2014/main" id="{3F8AC7A3-B0F9-C25D-4A56-9C34F2467C77}"/>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00" y="313"/>
            <a:ext cx="12161638" cy="3485837"/>
          </a:xfrm>
          <a:prstGeom prst="rect">
            <a:avLst/>
          </a:prstGeom>
        </p:spPr>
      </p:pic>
      <p:pic>
        <p:nvPicPr>
          <p:cNvPr id="2" name="Picture 1" descr="A black and white logo&#10;&#10;Description automatically generated">
            <a:extLst>
              <a:ext uri="{FF2B5EF4-FFF2-40B4-BE49-F238E27FC236}">
                <a16:creationId xmlns:a16="http://schemas.microsoft.com/office/drawing/2014/main" id="{F6026F8F-28AA-255C-F674-81D5DFD164FA}"/>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4927892" y="4019550"/>
            <a:ext cx="2306054" cy="687249"/>
          </a:xfrm>
          <a:prstGeom prst="rect">
            <a:avLst/>
          </a:prstGeom>
        </p:spPr>
      </p:pic>
    </p:spTree>
    <p:extLst>
      <p:ext uri="{BB962C8B-B14F-4D97-AF65-F5344CB8AC3E}">
        <p14:creationId xmlns:p14="http://schemas.microsoft.com/office/powerpoint/2010/main" val="2425230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Up: 1 Top, 2 Botto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81E2F-2A87-AAE1-FD51-4D13237A90D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99319" y="514350"/>
            <a:ext cx="10668104" cy="368534"/>
          </a:xfrm>
          <a:prstGeom prst="rect">
            <a:avLst/>
          </a:prstGeom>
        </p:spPr>
      </p:pic>
      <p:pic>
        <p:nvPicPr>
          <p:cNvPr id="9" name="Picture 8" descr="A green and blue gradient&#10;&#10;Description automatically generated">
            <a:extLst>
              <a:ext uri="{FF2B5EF4-FFF2-40B4-BE49-F238E27FC236}">
                <a16:creationId xmlns:a16="http://schemas.microsoft.com/office/drawing/2014/main" id="{6DB72C90-91FF-983E-3362-225E3BBCFE4E}"/>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spTree>
    <p:extLst>
      <p:ext uri="{BB962C8B-B14F-4D97-AF65-F5344CB8AC3E}">
        <p14:creationId xmlns:p14="http://schemas.microsoft.com/office/powerpoint/2010/main" val="2448837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3-Up: 1 Top, 2 Bottom">
    <p:spTree>
      <p:nvGrpSpPr>
        <p:cNvPr id="1" name=""/>
        <p:cNvGrpSpPr/>
        <p:nvPr/>
      </p:nvGrpSpPr>
      <p:grpSpPr>
        <a:xfrm>
          <a:off x="0" y="0"/>
          <a:ext cx="0" cy="0"/>
          <a:chOff x="0" y="0"/>
          <a:chExt cx="0" cy="0"/>
        </a:xfrm>
      </p:grpSpPr>
      <p:pic>
        <p:nvPicPr>
          <p:cNvPr id="2" name="Picture 1" descr="A green and blue gradient&#10;&#10;Description automatically generated">
            <a:extLst>
              <a:ext uri="{FF2B5EF4-FFF2-40B4-BE49-F238E27FC236}">
                <a16:creationId xmlns:a16="http://schemas.microsoft.com/office/drawing/2014/main" id="{114F7AA7-7D7D-B807-F194-4DA4CA71D316}"/>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3651" y="1"/>
            <a:ext cx="709360" cy="5143499"/>
          </a:xfrm>
          <a:prstGeom prst="rect">
            <a:avLst/>
          </a:prstGeom>
        </p:spPr>
      </p:pic>
      <p:pic>
        <p:nvPicPr>
          <p:cNvPr id="3" name="Picture 2">
            <a:extLst>
              <a:ext uri="{FF2B5EF4-FFF2-40B4-BE49-F238E27FC236}">
                <a16:creationId xmlns:a16="http://schemas.microsoft.com/office/drawing/2014/main" id="{34B7B3D3-78B0-7F2E-5F2C-881F1A3C79F9}"/>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899319" y="514350"/>
            <a:ext cx="10668104" cy="368534"/>
          </a:xfrm>
          <a:prstGeom prst="rect">
            <a:avLst/>
          </a:prstGeom>
        </p:spPr>
      </p:pic>
    </p:spTree>
    <p:extLst>
      <p:ext uri="{BB962C8B-B14F-4D97-AF65-F5344CB8AC3E}">
        <p14:creationId xmlns:p14="http://schemas.microsoft.com/office/powerpoint/2010/main" val="40151315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1FBB24-D8C7-C153-B258-9BB212BB9D6D}"/>
              </a:ext>
            </a:extLst>
          </p:cNvPr>
          <p:cNvSpPr>
            <a:spLocks noGrp="1" noRot="1" noMove="1" noResize="1" noEditPoints="1" noAdjustHandles="1" noChangeArrowheads="1" noChangeShapeType="1"/>
          </p:cNvSpPr>
          <p:nvPr userDrawn="1"/>
        </p:nvSpPr>
        <p:spPr>
          <a:xfrm rot="5400000" flipV="1">
            <a:off x="9539415" y="2521076"/>
            <a:ext cx="5143500" cy="101348"/>
          </a:xfrm>
          <a:prstGeom prst="rect">
            <a:avLst/>
          </a:prstGeom>
          <a:gradFill flip="none" rotWithShape="1">
            <a:gsLst>
              <a:gs pos="100000">
                <a:srgbClr val="84BC0F">
                  <a:lumMod val="87000"/>
                </a:srgbClr>
              </a:gs>
              <a:gs pos="42000">
                <a:srgbClr val="2A6F66"/>
              </a:gs>
              <a:gs pos="0">
                <a:srgbClr val="00305F"/>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Grp="1" noRot="1" noChangeAspect="1" noMove="1" noResize="1" noEditPoints="1" noAdjustHandles="1" noChangeArrowheads="1" noChangeShapeType="1" noCrop="1"/>
          </p:cNvPicPr>
          <p:nvPr userDrawn="1"/>
        </p:nvPicPr>
        <p:blipFill>
          <a:blip r:embed="rId5" cstate="print">
            <a:extLst>
              <a:ext uri="{28A0092B-C50C-407E-A947-70E740481C1C}">
                <a14:useLocalDpi xmlns:a14="http://schemas.microsoft.com/office/drawing/2010/main" val="0"/>
              </a:ext>
            </a:extLst>
          </a:blip>
          <a:srcRect l="-5019" r="-5019"/>
          <a:stretch/>
        </p:blipFill>
        <p:spPr>
          <a:xfrm>
            <a:off x="899319" y="163513"/>
            <a:ext cx="1295400" cy="350837"/>
          </a:xfrm>
          <a:prstGeom prst="rect">
            <a:avLst/>
          </a:prstGeom>
        </p:spPr>
      </p:pic>
      <p:sp>
        <p:nvSpPr>
          <p:cNvPr id="2" name="Title Placeholder 1">
            <a:extLst>
              <a:ext uri="{FF2B5EF4-FFF2-40B4-BE49-F238E27FC236}">
                <a16:creationId xmlns:a16="http://schemas.microsoft.com/office/drawing/2014/main" id="{D588C91E-6D46-BE77-737F-4B6502BBFE35}"/>
              </a:ext>
            </a:extLst>
          </p:cNvPr>
          <p:cNvSpPr>
            <a:spLocks noGrp="1" noRot="1" noMove="1" noResize="1" noEditPoints="1" noAdjustHandles="1" noChangeArrowheads="1" noChangeShapeType="1"/>
          </p:cNvSpPr>
          <p:nvPr>
            <p:ph type="title"/>
          </p:nvPr>
        </p:nvSpPr>
        <p:spPr>
          <a:xfrm>
            <a:off x="836613" y="274638"/>
            <a:ext cx="10488612" cy="993775"/>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24B8E407-1BEC-BA6D-BDDA-D7487165607B}"/>
              </a:ext>
            </a:extLst>
          </p:cNvPr>
          <p:cNvSpPr>
            <a:spLocks noGrp="1" noRot="1" noMove="1" noResize="1" noEditPoints="1" noAdjustHandles="1" noChangeArrowheads="1" noChangeShapeType="1"/>
          </p:cNvSpPr>
          <p:nvPr>
            <p:ph type="body" idx="1"/>
          </p:nvPr>
        </p:nvSpPr>
        <p:spPr>
          <a:xfrm>
            <a:off x="836613" y="1370013"/>
            <a:ext cx="10488612"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A1B3317-1AE7-901A-2EA2-5DEFF1D9839B}"/>
              </a:ext>
            </a:extLst>
          </p:cNvPr>
          <p:cNvSpPr>
            <a:spLocks noGrp="1" noRot="1" noMove="1" noResize="1" noEditPoints="1" noAdjustHandles="1" noChangeArrowheads="1" noChangeShapeType="1"/>
          </p:cNvSpPr>
          <p:nvPr>
            <p:ph type="ftr" sz="quarter" idx="3"/>
          </p:nvPr>
        </p:nvSpPr>
        <p:spPr>
          <a:xfrm>
            <a:off x="4029075" y="4767263"/>
            <a:ext cx="4103688"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7" name="Slide Number Placeholder 6">
            <a:extLst>
              <a:ext uri="{FF2B5EF4-FFF2-40B4-BE49-F238E27FC236}">
                <a16:creationId xmlns:a16="http://schemas.microsoft.com/office/drawing/2014/main" id="{873C6C8B-42C6-6B64-E908-87DE76D1AF68}"/>
              </a:ext>
            </a:extLst>
          </p:cNvPr>
          <p:cNvSpPr>
            <a:spLocks noGrp="1" noRot="1" noMove="1" noResize="1" noEditPoints="1" noAdjustHandles="1" noChangeArrowheads="1" noChangeShapeType="1"/>
          </p:cNvSpPr>
          <p:nvPr>
            <p:ph type="sldNum" sz="quarter" idx="4"/>
          </p:nvPr>
        </p:nvSpPr>
        <p:spPr>
          <a:xfrm>
            <a:off x="8589963" y="4767263"/>
            <a:ext cx="2735262"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E2FAEE9B-351E-4F9B-A70F-C97974E9BCB8}" type="slidenum">
              <a:rPr lang="en-US" smtClean="0"/>
              <a:t>‹#›</a:t>
            </a:fld>
            <a:endParaRPr lang="en-US"/>
          </a:p>
        </p:txBody>
      </p:sp>
      <p:sp>
        <p:nvSpPr>
          <p:cNvPr id="8" name="TextBox 5">
            <a:extLst>
              <a:ext uri="{FF2B5EF4-FFF2-40B4-BE49-F238E27FC236}">
                <a16:creationId xmlns:a16="http://schemas.microsoft.com/office/drawing/2014/main" id="{C1B9C1CE-298D-A741-6300-14BAFBFE01A4}"/>
              </a:ext>
            </a:extLst>
          </p:cNvPr>
          <p:cNvSpPr txBox="1"/>
          <p:nvPr userDrawn="1"/>
        </p:nvSpPr>
        <p:spPr>
          <a:xfrm rot="5400000" flipH="1" flipV="1">
            <a:off x="11145578" y="4212691"/>
            <a:ext cx="1668526" cy="215444"/>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Calibri" pitchFamily="34" charset="0"/>
                <a:ea typeface="+mn-ea"/>
                <a:cs typeface="Arial" pitchFamily="34" charset="0"/>
              </a:defRPr>
            </a:lvl1pPr>
            <a:lvl2pPr marL="455613" indent="1588" algn="l" rtl="0" fontAlgn="base">
              <a:spcBef>
                <a:spcPct val="0"/>
              </a:spcBef>
              <a:spcAft>
                <a:spcPct val="0"/>
              </a:spcAft>
              <a:defRPr kern="1200">
                <a:solidFill>
                  <a:schemeClr val="tx1"/>
                </a:solidFill>
                <a:latin typeface="Calibri" pitchFamily="34" charset="0"/>
                <a:ea typeface="+mn-ea"/>
                <a:cs typeface="Arial" pitchFamily="34" charset="0"/>
              </a:defRPr>
            </a:lvl2pPr>
            <a:lvl3pPr marL="912813" indent="1588" algn="l" rtl="0" fontAlgn="base">
              <a:spcBef>
                <a:spcPct val="0"/>
              </a:spcBef>
              <a:spcAft>
                <a:spcPct val="0"/>
              </a:spcAft>
              <a:defRPr kern="1200">
                <a:solidFill>
                  <a:schemeClr val="tx1"/>
                </a:solidFill>
                <a:latin typeface="Calibri" pitchFamily="34" charset="0"/>
                <a:ea typeface="+mn-ea"/>
                <a:cs typeface="Arial" pitchFamily="34" charset="0"/>
              </a:defRPr>
            </a:lvl3pPr>
            <a:lvl4pPr marL="1370013" indent="1588" algn="l" rtl="0" fontAlgn="base">
              <a:spcBef>
                <a:spcPct val="0"/>
              </a:spcBef>
              <a:spcAft>
                <a:spcPct val="0"/>
              </a:spcAft>
              <a:defRPr kern="1200">
                <a:solidFill>
                  <a:schemeClr val="tx1"/>
                </a:solidFill>
                <a:latin typeface="Calibri" pitchFamily="34" charset="0"/>
                <a:ea typeface="+mn-ea"/>
                <a:cs typeface="Arial" pitchFamily="34" charset="0"/>
              </a:defRPr>
            </a:lvl4pPr>
            <a:lvl5pPr marL="1825625" indent="3175" algn="l" rtl="0" fontAlgn="base">
              <a:spcBef>
                <a:spcPct val="0"/>
              </a:spcBef>
              <a:spcAft>
                <a:spcPct val="0"/>
              </a:spcAft>
              <a:defRPr kern="1200">
                <a:solidFill>
                  <a:schemeClr val="tx1"/>
                </a:solidFill>
                <a:latin typeface="Calibri" pitchFamily="34" charset="0"/>
                <a:ea typeface="+mn-ea"/>
                <a:cs typeface="Arial" pitchFamily="34" charset="0"/>
              </a:defRPr>
            </a:lvl5pPr>
            <a:lvl6pPr marL="2286000" algn="l" defTabSz="914400" rtl="0" eaLnBrk="1" latinLnBrk="0" hangingPunct="1">
              <a:defRPr kern="1200">
                <a:solidFill>
                  <a:schemeClr val="tx1"/>
                </a:solidFill>
                <a:latin typeface="Calibri" pitchFamily="34" charset="0"/>
                <a:ea typeface="+mn-ea"/>
                <a:cs typeface="Arial" pitchFamily="34" charset="0"/>
              </a:defRPr>
            </a:lvl6pPr>
            <a:lvl7pPr marL="2743200" algn="l" defTabSz="914400" rtl="0" eaLnBrk="1" latinLnBrk="0" hangingPunct="1">
              <a:defRPr kern="1200">
                <a:solidFill>
                  <a:schemeClr val="tx1"/>
                </a:solidFill>
                <a:latin typeface="Calibri" pitchFamily="34" charset="0"/>
                <a:ea typeface="+mn-ea"/>
                <a:cs typeface="Arial" pitchFamily="34" charset="0"/>
              </a:defRPr>
            </a:lvl7pPr>
            <a:lvl8pPr marL="3200400" algn="l" defTabSz="914400" rtl="0" eaLnBrk="1" latinLnBrk="0" hangingPunct="1">
              <a:defRPr kern="1200">
                <a:solidFill>
                  <a:schemeClr val="tx1"/>
                </a:solidFill>
                <a:latin typeface="Calibri" pitchFamily="34" charset="0"/>
                <a:ea typeface="+mn-ea"/>
                <a:cs typeface="Arial" pitchFamily="34" charset="0"/>
              </a:defRPr>
            </a:lvl8pPr>
            <a:lvl9pPr marL="3657600" algn="l" defTabSz="914400" rtl="0" eaLnBrk="1" latinLnBrk="0" hangingPunct="1">
              <a:defRPr kern="1200">
                <a:solidFill>
                  <a:schemeClr val="tx1"/>
                </a:solidFill>
                <a:latin typeface="Calibri" pitchFamily="34" charset="0"/>
                <a:ea typeface="+mn-ea"/>
                <a:cs typeface="Arial" pitchFamily="34" charset="0"/>
              </a:defRPr>
            </a:lvl9pPr>
          </a:lstStyle>
          <a:p>
            <a:r>
              <a:rPr lang="en-US" sz="800" b="1" dirty="0">
                <a:solidFill>
                  <a:schemeClr val="bg1">
                    <a:lumMod val="65000"/>
                  </a:schemeClr>
                </a:solidFill>
                <a:effectLst/>
                <a:latin typeface="Times New Roman" panose="02020603050405020304" pitchFamily="18" charset="0"/>
                <a:ea typeface="Aptos" panose="020B0004020202020204" pitchFamily="34" charset="0"/>
                <a:cs typeface="Times New Roman" panose="02020603050405020304" pitchFamily="18" charset="0"/>
              </a:rPr>
              <a:t>10000-000-BD1-PRS-0008 (10/24)</a:t>
            </a:r>
            <a:endParaRPr lang="en-US" sz="800" b="1"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040362"/>
      </p:ext>
    </p:extLst>
  </p:cSld>
  <p:clrMap bg1="lt1" tx1="dk1" bg2="lt2" tx2="dk2" accent1="accent1" accent2="accent2" accent3="accent3" accent4="accent4" accent5="accent5" accent6="accent6" hlink="hlink" folHlink="folHlink"/>
  <p:sldLayoutIdLst>
    <p:sldLayoutId id="2147484162" r:id="rId1"/>
    <p:sldLayoutId id="2147484171" r:id="rId2"/>
    <p:sldLayoutId id="2147484172" r:id="rId3"/>
  </p:sldLayoutIdLst>
  <p:hf sldNum="0" hdr="0" dt="0"/>
  <p:txStyles>
    <p:titleStyle>
      <a:lvl1pPr algn="l" rtl="0" eaLnBrk="1" latinLnBrk="0" hangingPunct="1">
        <a:spcBef>
          <a:spcPct val="0"/>
        </a:spcBef>
        <a:buNone/>
        <a:defRPr sz="2400" cap="small" spc="0" baseline="0">
          <a:solidFill>
            <a:schemeClr val="bg1"/>
          </a:solidFill>
          <a:latin typeface="+mj-lt"/>
          <a:ea typeface="+mj-ea"/>
          <a:cs typeface="+mj-cs"/>
        </a:defRPr>
      </a:lvl1pPr>
      <a:extLst/>
    </p:titleStyle>
    <p:bodyStyle>
      <a:lvl1pPr marL="0" marR="0" indent="0" algn="l" rtl="0" eaLnBrk="1" latinLnBrk="0" hangingPunct="1">
        <a:spcBef>
          <a:spcPct val="20000"/>
        </a:spcBef>
        <a:buFontTx/>
        <a:buNone/>
        <a:defRPr sz="1100">
          <a:solidFill>
            <a:schemeClr val="tx1"/>
          </a:solidFill>
          <a:latin typeface="+mn-lt"/>
          <a:ea typeface="+mn-ea"/>
          <a:cs typeface="+mn-cs"/>
        </a:defRPr>
      </a:lvl1pPr>
      <a:lvl2pPr marL="742950" indent="-285750" algn="l" rtl="0" eaLnBrk="1" latinLnBrk="0" hangingPunct="1">
        <a:spcBef>
          <a:spcPct val="20000"/>
        </a:spcBef>
        <a:buFontTx/>
        <a:buNone/>
        <a:defRPr sz="1100">
          <a:solidFill>
            <a:schemeClr val="tx1"/>
          </a:solidFill>
          <a:latin typeface="+mn-lt"/>
          <a:ea typeface="+mn-ea"/>
          <a:cs typeface="+mn-cs"/>
        </a:defRPr>
      </a:lvl2pPr>
      <a:lvl3pPr marL="1143000" indent="-228600" algn="l" rtl="0" eaLnBrk="1" latinLnBrk="0" hangingPunct="1">
        <a:spcBef>
          <a:spcPct val="20000"/>
        </a:spcBef>
        <a:buFontTx/>
        <a:buNone/>
        <a:defRPr sz="1100">
          <a:solidFill>
            <a:schemeClr val="tx1"/>
          </a:solidFill>
          <a:latin typeface="+mn-lt"/>
          <a:ea typeface="+mn-ea"/>
          <a:cs typeface="+mn-cs"/>
        </a:defRPr>
      </a:lvl3pPr>
      <a:lvl4pPr marL="1600200" indent="-228600" algn="l" rtl="0" eaLnBrk="1" latinLnBrk="0" hangingPunct="1">
        <a:spcBef>
          <a:spcPct val="20000"/>
        </a:spcBef>
        <a:buFontTx/>
        <a:buNone/>
        <a:defRPr sz="1100">
          <a:solidFill>
            <a:schemeClr val="tx1"/>
          </a:solidFill>
          <a:latin typeface="+mn-lt"/>
          <a:ea typeface="+mn-ea"/>
          <a:cs typeface="+mn-cs"/>
        </a:defRPr>
      </a:lvl4pPr>
      <a:lvl5pPr marL="2057400" indent="-228600" algn="l" rtl="0" eaLnBrk="1" latinLnBrk="0" hangingPunct="1">
        <a:spcBef>
          <a:spcPct val="20000"/>
        </a:spcBef>
        <a:buFontTx/>
        <a:buNone/>
        <a:defRPr sz="11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p:bodyStyle>
    <p:otherStyle>
      <a:lvl1pPr marL="0" algn="l" rtl="0" eaLnBrk="1" hangingPunct="1">
        <a:defRPr>
          <a:solidFill>
            <a:schemeClr val="tx1"/>
          </a:solidFill>
          <a:latin typeface="+mn-lt"/>
          <a:ea typeface="+mn-ea"/>
          <a:cs typeface="+mn-cs"/>
        </a:defRPr>
      </a:lvl1pPr>
      <a:lvl2pPr marL="457200" algn="l" rtl="0" eaLnBrk="1" hangingPunct="1">
        <a:defRPr>
          <a:solidFill>
            <a:schemeClr val="tx1"/>
          </a:solidFill>
          <a:latin typeface="+mn-lt"/>
          <a:ea typeface="+mn-ea"/>
          <a:cs typeface="+mn-cs"/>
        </a:defRPr>
      </a:lvl2pPr>
      <a:lvl3pPr marL="914400" algn="l" rtl="0" eaLnBrk="1" hangingPunct="1">
        <a:defRPr>
          <a:solidFill>
            <a:schemeClr val="tx1"/>
          </a:solidFill>
          <a:latin typeface="+mn-lt"/>
          <a:ea typeface="+mn-ea"/>
          <a:cs typeface="+mn-cs"/>
        </a:defRPr>
      </a:lvl3pPr>
      <a:lvl4pPr marL="1371600" algn="l" rtl="0" eaLnBrk="1" hangingPunct="1">
        <a:defRPr>
          <a:solidFill>
            <a:schemeClr val="tx1"/>
          </a:solidFill>
          <a:latin typeface="+mn-lt"/>
          <a:ea typeface="+mn-ea"/>
          <a:cs typeface="+mn-cs"/>
        </a:defRPr>
      </a:lvl4pPr>
      <a:lvl5pPr marL="1828800" algn="l" rtl="0" eaLnBrk="1" hangingPunct="1">
        <a:defRPr>
          <a:solidFill>
            <a:schemeClr val="tx1"/>
          </a:solidFill>
          <a:latin typeface="+mn-lt"/>
          <a:ea typeface="+mn-ea"/>
          <a:cs typeface="+mn-cs"/>
        </a:defRPr>
      </a:lvl5pPr>
      <a:lvl6pPr marL="2286000" algn="l" rtl="0" eaLnBrk="1" hangingPunct="1">
        <a:defRPr>
          <a:solidFill>
            <a:schemeClr val="tx1"/>
          </a:solidFill>
          <a:latin typeface="+mn-lt"/>
          <a:ea typeface="+mn-ea"/>
          <a:cs typeface="+mn-cs"/>
        </a:defRPr>
      </a:lvl6pPr>
      <a:lvl7pPr marL="2743200" algn="l" rtl="0" eaLnBrk="1" hangingPunct="1">
        <a:defRPr>
          <a:solidFill>
            <a:schemeClr val="tx1"/>
          </a:solidFill>
          <a:latin typeface="+mn-lt"/>
          <a:ea typeface="+mn-ea"/>
          <a:cs typeface="+mn-cs"/>
        </a:defRPr>
      </a:lvl7pPr>
      <a:lvl8pPr marL="3200400" algn="l" rtl="0" eaLnBrk="1" hangingPunct="1">
        <a:defRPr>
          <a:solidFill>
            <a:schemeClr val="tx1"/>
          </a:solidFill>
          <a:latin typeface="+mn-lt"/>
          <a:ea typeface="+mn-ea"/>
          <a:cs typeface="+mn-cs"/>
        </a:defRPr>
      </a:lvl8pPr>
      <a:lvl9pPr marL="3657600" algn="l" rtl="0" eaLnBrk="1" hangingPunct="1">
        <a:defRPr>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Rot="1" noMove="1" noResize="1" noEditPoints="1" noAdjustHandles="1" noChangeArrowheads="1" noChangeShapeType="1"/>
          </p:cNvSpPr>
          <p:nvPr/>
        </p:nvSpPr>
        <p:spPr>
          <a:xfrm>
            <a:off x="2270919" y="1028740"/>
            <a:ext cx="7620000" cy="1085810"/>
          </a:xfrm>
          <a:prstGeom prst="rect">
            <a:avLst/>
          </a:prstGeom>
        </p:spPr>
        <p:txBody>
          <a:bodyPr wrap="square">
            <a:spAutoFit/>
          </a:bodyPr>
          <a:lstStyle/>
          <a:p>
            <a:pPr algn="ctr">
              <a:lnSpc>
                <a:spcPct val="150000"/>
              </a:lnSpc>
            </a:pPr>
            <a:r>
              <a:rPr lang="en-US" sz="4800" b="1" dirty="0">
                <a:solidFill>
                  <a:schemeClr val="bg1"/>
                </a:solidFill>
                <a:latin typeface="Trebuchet MS" panose="020B0603020202020204" pitchFamily="34" charset="0"/>
              </a:rPr>
              <a:t>Fabrication Tracking</a:t>
            </a:r>
            <a:endParaRPr lang="en-US" sz="4800" b="1" dirty="0">
              <a:solidFill>
                <a:srgbClr val="FFFF00"/>
              </a:solidFill>
              <a:latin typeface="Trebuchet MS" panose="020B0603020202020204" pitchFamily="34" charset="0"/>
            </a:endParaRPr>
          </a:p>
        </p:txBody>
      </p:sp>
      <p:sp>
        <p:nvSpPr>
          <p:cNvPr id="2" name="Rectangle 1">
            <a:extLst>
              <a:ext uri="{FF2B5EF4-FFF2-40B4-BE49-F238E27FC236}">
                <a16:creationId xmlns:a16="http://schemas.microsoft.com/office/drawing/2014/main" id="{58DAB69E-F8C0-4576-9309-6C44AC0F9500}"/>
              </a:ext>
            </a:extLst>
          </p:cNvPr>
          <p:cNvSpPr/>
          <p:nvPr/>
        </p:nvSpPr>
        <p:spPr>
          <a:xfrm>
            <a:off x="3109119" y="2114550"/>
            <a:ext cx="2667000" cy="497508"/>
          </a:xfrm>
          <a:prstGeom prst="rect">
            <a:avLst/>
          </a:prstGeom>
        </p:spPr>
        <p:txBody>
          <a:bodyPr wrap="square">
            <a:spAutoFit/>
          </a:bodyPr>
          <a:lstStyle/>
          <a:p>
            <a:pPr algn="ctr">
              <a:lnSpc>
                <a:spcPct val="150000"/>
              </a:lnSpc>
            </a:pPr>
            <a:r>
              <a:rPr lang="en-US" sz="2000" b="1" dirty="0">
                <a:solidFill>
                  <a:schemeClr val="bg1"/>
                </a:solidFill>
                <a:latin typeface="Trebuchet MS" panose="020B0603020202020204" pitchFamily="34" charset="0"/>
              </a:rPr>
              <a:t>Administrator Guide</a:t>
            </a:r>
            <a:endParaRPr lang="en-US" sz="2000" b="1" dirty="0">
              <a:solidFill>
                <a:srgbClr val="FFFF00"/>
              </a:solidFill>
              <a:latin typeface="Trebuchet MS" panose="020B0603020202020204" pitchFamily="34" charset="0"/>
            </a:endParaRPr>
          </a:p>
        </p:txBody>
      </p:sp>
    </p:spTree>
    <p:extLst>
      <p:ext uri="{BB962C8B-B14F-4D97-AF65-F5344CB8AC3E}">
        <p14:creationId xmlns:p14="http://schemas.microsoft.com/office/powerpoint/2010/main" val="4275785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B69AA3-8BCF-4CF2-8846-70D167E7D0C9}"/>
              </a:ext>
            </a:extLst>
          </p:cNvPr>
          <p:cNvSpPr>
            <a:spLocks noGrp="1" noRot="1" noMove="1" noResize="1" noEditPoints="1" noAdjustHandles="1" noChangeArrowheads="1" noChangeShapeType="1"/>
          </p:cNvSpPr>
          <p:nvPr/>
        </p:nvSpPr>
        <p:spPr>
          <a:xfrm>
            <a:off x="810789" y="1148318"/>
            <a:ext cx="10134865" cy="2156852"/>
          </a:xfrm>
          <a:prstGeom prst="rect">
            <a:avLst/>
          </a:prstGeom>
        </p:spPr>
        <p:txBody>
          <a:bodyPr wrap="square" lIns="91423" tIns="45710" rIns="91423" bIns="45710">
            <a:spAutoFit/>
          </a:bodyPr>
          <a:lstStyle/>
          <a:p>
            <a:pPr marL="420167" lvl="1" indent="-383632" algn="just">
              <a:lnSpc>
                <a:spcPct val="20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Example output</a:t>
            </a:r>
          </a:p>
          <a:p>
            <a:pPr marL="420167" lvl="1" indent="-383632" algn="just">
              <a:lnSpc>
                <a:spcPct val="20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Steps to start a new project</a:t>
            </a:r>
          </a:p>
          <a:p>
            <a:pPr marL="420167" lvl="1" indent="-383632" algn="just">
              <a:lnSpc>
                <a:spcPct val="20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Troubleshooting</a:t>
            </a:r>
          </a:p>
          <a:p>
            <a:pPr marL="420167" lvl="1" indent="-383632" algn="just">
              <a:lnSpc>
                <a:spcPct val="20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Questions / Clarifications</a:t>
            </a:r>
          </a:p>
        </p:txBody>
      </p:sp>
      <p:sp>
        <p:nvSpPr>
          <p:cNvPr id="2" name="Rectangle 1">
            <a:extLst>
              <a:ext uri="{FF2B5EF4-FFF2-40B4-BE49-F238E27FC236}">
                <a16:creationId xmlns:a16="http://schemas.microsoft.com/office/drawing/2014/main" id="{45B74099-1CE9-82F3-F0BB-72B28B0F3FC3}"/>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7" name="TextBox 6">
            <a:extLst>
              <a:ext uri="{FF2B5EF4-FFF2-40B4-BE49-F238E27FC236}">
                <a16:creationId xmlns:a16="http://schemas.microsoft.com/office/drawing/2014/main" id="{C8844524-AA45-014E-4926-F0516745B490}"/>
              </a:ext>
            </a:extLst>
          </p:cNvPr>
          <p:cNvSpPr txBox="1">
            <a:spLocks noGrp="1" noRot="1" noMove="1" noResize="1" noEditPoints="1" noAdjustHandles="1" noChangeArrowheads="1" noChangeShapeType="1"/>
          </p:cNvSpPr>
          <p:nvPr/>
        </p:nvSpPr>
        <p:spPr>
          <a:xfrm>
            <a:off x="899319" y="514350"/>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Contents</a:t>
            </a:r>
          </a:p>
        </p:txBody>
      </p:sp>
    </p:spTree>
    <p:extLst>
      <p:ext uri="{BB962C8B-B14F-4D97-AF65-F5344CB8AC3E}">
        <p14:creationId xmlns:p14="http://schemas.microsoft.com/office/powerpoint/2010/main" val="2514234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844524-AA45-014E-4926-F0516745B490}"/>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Example</a:t>
            </a:r>
          </a:p>
        </p:txBody>
      </p:sp>
      <p:sp>
        <p:nvSpPr>
          <p:cNvPr id="11" name="Rectangle 10">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graphicFrame>
        <p:nvGraphicFramePr>
          <p:cNvPr id="2" name="Table 1">
            <a:extLst>
              <a:ext uri="{FF2B5EF4-FFF2-40B4-BE49-F238E27FC236}">
                <a16:creationId xmlns:a16="http://schemas.microsoft.com/office/drawing/2014/main" id="{FB1A4F5F-CB65-BF84-22A1-D1AFBCCBA8B3}"/>
              </a:ext>
            </a:extLst>
          </p:cNvPr>
          <p:cNvGraphicFramePr>
            <a:graphicFrameLocks noGrp="1"/>
          </p:cNvGraphicFramePr>
          <p:nvPr>
            <p:extLst>
              <p:ext uri="{D42A27DB-BD31-4B8C-83A1-F6EECF244321}">
                <p14:modId xmlns:p14="http://schemas.microsoft.com/office/powerpoint/2010/main" val="3247102505"/>
              </p:ext>
            </p:extLst>
          </p:nvPr>
        </p:nvGraphicFramePr>
        <p:xfrm>
          <a:off x="1280319" y="1721032"/>
          <a:ext cx="9601200" cy="2109232"/>
        </p:xfrm>
        <a:graphic>
          <a:graphicData uri="http://schemas.openxmlformats.org/drawingml/2006/table">
            <a:tbl>
              <a:tblPr/>
              <a:tblGrid>
                <a:gridCol w="3200400">
                  <a:extLst>
                    <a:ext uri="{9D8B030D-6E8A-4147-A177-3AD203B41FA5}">
                      <a16:colId xmlns:a16="http://schemas.microsoft.com/office/drawing/2014/main" val="2740050622"/>
                    </a:ext>
                  </a:extLst>
                </a:gridCol>
                <a:gridCol w="3200400">
                  <a:extLst>
                    <a:ext uri="{9D8B030D-6E8A-4147-A177-3AD203B41FA5}">
                      <a16:colId xmlns:a16="http://schemas.microsoft.com/office/drawing/2014/main" val="1537920272"/>
                    </a:ext>
                  </a:extLst>
                </a:gridCol>
                <a:gridCol w="3200400">
                  <a:extLst>
                    <a:ext uri="{9D8B030D-6E8A-4147-A177-3AD203B41FA5}">
                      <a16:colId xmlns:a16="http://schemas.microsoft.com/office/drawing/2014/main" val="3695118934"/>
                    </a:ext>
                  </a:extLst>
                </a:gridCol>
              </a:tblGrid>
              <a:tr h="402724">
                <a:tc>
                  <a:txBody>
                    <a:bodyPr/>
                    <a:lstStyle/>
                    <a:p>
                      <a:pPr algn="ctr" fontAlgn="ctr">
                        <a:buNone/>
                      </a:pPr>
                      <a:r>
                        <a:rPr lang="en-US" sz="1200" b="0" i="0" u="none" strike="noStrike" dirty="0">
                          <a:solidFill>
                            <a:srgbClr val="FFFFFF"/>
                          </a:solidFill>
                          <a:effectLst/>
                          <a:latin typeface="ArialMT"/>
                        </a:rPr>
                        <a:t>Spool fabrication steps (Property)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ctr">
                        <a:buNone/>
                      </a:pPr>
                      <a:r>
                        <a:rPr lang="en-US" sz="1200" b="0" i="0" u="none" strike="noStrike" dirty="0">
                          <a:solidFill>
                            <a:srgbClr val="FFFFFF"/>
                          </a:solidFill>
                          <a:effectLst/>
                          <a:latin typeface="ArialMT"/>
                        </a:rPr>
                        <a:t>Weight Factor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ctr">
                        <a:buNone/>
                      </a:pPr>
                      <a:r>
                        <a:rPr lang="en-US" sz="1200" b="0" i="0" u="none" strike="noStrike" dirty="0">
                          <a:solidFill>
                            <a:srgbClr val="FFFFFF"/>
                          </a:solidFill>
                          <a:effectLst/>
                          <a:latin typeface="ArialMT"/>
                        </a:rPr>
                        <a:t>Contribution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extLst>
                  <a:ext uri="{0D108BD9-81ED-4DB2-BD59-A6C34878D82A}">
                    <a16:rowId xmlns:a16="http://schemas.microsoft.com/office/drawing/2014/main" val="1917070186"/>
                  </a:ext>
                </a:extLst>
              </a:tr>
              <a:tr h="284418">
                <a:tc>
                  <a:txBody>
                    <a:bodyPr/>
                    <a:lstStyle/>
                    <a:p>
                      <a:pPr algn="ctr" fontAlgn="b">
                        <a:buNone/>
                      </a:pPr>
                      <a:r>
                        <a:rPr lang="en-US" sz="1200" b="0" i="0" u="none" strike="noStrike" dirty="0">
                          <a:solidFill>
                            <a:schemeClr val="bg1"/>
                          </a:solidFill>
                          <a:effectLst/>
                          <a:latin typeface="ArialMT"/>
                        </a:rPr>
                        <a:t>Cutting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085644"/>
                  </a:ext>
                </a:extLst>
              </a:tr>
              <a:tr h="284418">
                <a:tc>
                  <a:txBody>
                    <a:bodyPr/>
                    <a:lstStyle/>
                    <a:p>
                      <a:pPr algn="ctr" fontAlgn="b">
                        <a:buNone/>
                      </a:pPr>
                      <a:r>
                        <a:rPr lang="en-US" sz="1200" b="0" i="0" u="none" strike="noStrike" dirty="0">
                          <a:solidFill>
                            <a:schemeClr val="bg1"/>
                          </a:solidFill>
                          <a:effectLst/>
                          <a:latin typeface="ArialMT"/>
                        </a:rPr>
                        <a:t>Welding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1310342"/>
                  </a:ext>
                </a:extLst>
              </a:tr>
              <a:tr h="284418">
                <a:tc>
                  <a:txBody>
                    <a:bodyPr/>
                    <a:lstStyle/>
                    <a:p>
                      <a:pPr algn="ctr" fontAlgn="b">
                        <a:buNone/>
                      </a:pPr>
                      <a:r>
                        <a:rPr lang="en-US" sz="1200" b="0" i="0" u="none" strike="noStrike" dirty="0">
                          <a:solidFill>
                            <a:schemeClr val="bg1"/>
                          </a:solidFill>
                          <a:effectLst/>
                          <a:latin typeface="ArialMT"/>
                        </a:rPr>
                        <a:t>NDE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2433287"/>
                  </a:ext>
                </a:extLst>
              </a:tr>
              <a:tr h="284418">
                <a:tc>
                  <a:txBody>
                    <a:bodyPr/>
                    <a:lstStyle/>
                    <a:p>
                      <a:pPr algn="ctr" fontAlgn="b">
                        <a:buNone/>
                      </a:pPr>
                      <a:r>
                        <a:rPr lang="en-US" sz="1200" b="0" i="0" u="none" strike="noStrike" dirty="0">
                          <a:solidFill>
                            <a:schemeClr val="bg1"/>
                          </a:solidFill>
                          <a:effectLst/>
                          <a:latin typeface="ArialMT"/>
                        </a:rPr>
                        <a:t>Painting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0139434"/>
                  </a:ext>
                </a:extLst>
              </a:tr>
              <a:tr h="284418">
                <a:tc>
                  <a:txBody>
                    <a:bodyPr/>
                    <a:lstStyle/>
                    <a:p>
                      <a:pPr algn="ctr" fontAlgn="b">
                        <a:buNone/>
                      </a:pPr>
                      <a:r>
                        <a:rPr lang="en-US" sz="1200" b="0" i="0" u="none" strike="noStrike" dirty="0">
                          <a:solidFill>
                            <a:schemeClr val="bg1"/>
                          </a:solidFill>
                          <a:effectLst/>
                          <a:latin typeface="ArialMT"/>
                        </a:rPr>
                        <a:t>Coating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5898124"/>
                  </a:ext>
                </a:extLst>
              </a:tr>
              <a:tr h="284418">
                <a:tc>
                  <a:txBody>
                    <a:bodyPr/>
                    <a:lstStyle/>
                    <a:p>
                      <a:pPr algn="ctr" fontAlgn="b">
                        <a:buNone/>
                      </a:pPr>
                      <a:r>
                        <a:rPr lang="en-US" sz="1200" b="0" i="0" u="none" strike="noStrike" dirty="0">
                          <a:solidFill>
                            <a:schemeClr val="bg1"/>
                          </a:solidFill>
                          <a:effectLst/>
                          <a:latin typeface="ArialMT"/>
                        </a:rPr>
                        <a:t>Testing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4054235"/>
                  </a:ext>
                </a:extLst>
              </a:tr>
            </a:tbl>
          </a:graphicData>
        </a:graphic>
      </p:graphicFrame>
      <p:sp>
        <p:nvSpPr>
          <p:cNvPr id="4" name="Rectangle 3">
            <a:extLst>
              <a:ext uri="{FF2B5EF4-FFF2-40B4-BE49-F238E27FC236}">
                <a16:creationId xmlns:a16="http://schemas.microsoft.com/office/drawing/2014/main" id="{F7C7F915-5437-211B-47F1-8D29A9CED7E5}"/>
              </a:ext>
            </a:extLst>
          </p:cNvPr>
          <p:cNvSpPr/>
          <p:nvPr/>
        </p:nvSpPr>
        <p:spPr>
          <a:xfrm>
            <a:off x="810789" y="1148318"/>
            <a:ext cx="10134865" cy="341612"/>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Fabrication type details</a:t>
            </a:r>
          </a:p>
        </p:txBody>
      </p:sp>
    </p:spTree>
    <p:extLst>
      <p:ext uri="{BB962C8B-B14F-4D97-AF65-F5344CB8AC3E}">
        <p14:creationId xmlns:p14="http://schemas.microsoft.com/office/powerpoint/2010/main" val="1089579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844524-AA45-014E-4926-F0516745B490}"/>
              </a:ext>
            </a:extLst>
          </p:cNvPr>
          <p:cNvSpPr txBox="1">
            <a:spLocks noGrp="1" noRot="1" noMove="1" noResize="1" noEditPoints="1" noAdjustHandles="1" noChangeArrowheads="1" noChangeShapeType="1"/>
          </p:cNvSpPr>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Example </a:t>
            </a:r>
          </a:p>
        </p:txBody>
      </p:sp>
      <p:sp>
        <p:nvSpPr>
          <p:cNvPr id="11" name="Rectangle 10">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2" name="Rectangle 1">
            <a:extLst>
              <a:ext uri="{FF2B5EF4-FFF2-40B4-BE49-F238E27FC236}">
                <a16:creationId xmlns:a16="http://schemas.microsoft.com/office/drawing/2014/main" id="{378875DD-FAA7-1327-19F1-48780B0EE28A}"/>
              </a:ext>
            </a:extLst>
          </p:cNvPr>
          <p:cNvSpPr/>
          <p:nvPr/>
        </p:nvSpPr>
        <p:spPr>
          <a:xfrm>
            <a:off x="810789" y="1148318"/>
            <a:ext cx="10134865" cy="341612"/>
          </a:xfrm>
          <a:prstGeom prst="rect">
            <a:avLst/>
          </a:prstGeom>
        </p:spPr>
        <p:txBody>
          <a:bodyPr wrap="square" lIns="91423" tIns="45710" rIns="91423" bIns="45710">
            <a:spAutoFit/>
          </a:bodyPr>
          <a:lstStyle/>
          <a:p>
            <a:pPr marL="420167" lvl="1" indent="-383632" algn="just">
              <a:lnSpc>
                <a:spcPct val="90000"/>
              </a:lnSpc>
              <a:spcAft>
                <a:spcPct val="15000"/>
              </a:spcAft>
              <a:buSzPct val="80000"/>
              <a:buFont typeface="Wingdings 2"/>
              <a:buChar char=""/>
              <a:defRPr/>
            </a:pPr>
            <a:r>
              <a:rPr lang="en-US" b="1" dirty="0">
                <a:solidFill>
                  <a:srgbClr val="328C3B"/>
                </a:solidFill>
                <a:latin typeface="Trebuchet MS" panose="020B0603020202020204" pitchFamily="34" charset="0"/>
              </a:rPr>
              <a:t>Fabrication type items</a:t>
            </a:r>
          </a:p>
        </p:txBody>
      </p:sp>
      <p:graphicFrame>
        <p:nvGraphicFramePr>
          <p:cNvPr id="5" name="Table 4">
            <a:extLst>
              <a:ext uri="{FF2B5EF4-FFF2-40B4-BE49-F238E27FC236}">
                <a16:creationId xmlns:a16="http://schemas.microsoft.com/office/drawing/2014/main" id="{B73F9EBF-3448-7745-BC53-C89994FDD62A}"/>
              </a:ext>
            </a:extLst>
          </p:cNvPr>
          <p:cNvGraphicFramePr>
            <a:graphicFrameLocks noGrp="1"/>
          </p:cNvGraphicFramePr>
          <p:nvPr>
            <p:extLst>
              <p:ext uri="{D42A27DB-BD31-4B8C-83A1-F6EECF244321}">
                <p14:modId xmlns:p14="http://schemas.microsoft.com/office/powerpoint/2010/main" val="1430662651"/>
              </p:ext>
            </p:extLst>
          </p:nvPr>
        </p:nvGraphicFramePr>
        <p:xfrm>
          <a:off x="824283" y="1657349"/>
          <a:ext cx="10972800" cy="2991796"/>
        </p:xfrm>
        <a:graphic>
          <a:graphicData uri="http://schemas.openxmlformats.org/drawingml/2006/table">
            <a:tbl>
              <a:tblPr/>
              <a:tblGrid>
                <a:gridCol w="1097280">
                  <a:extLst>
                    <a:ext uri="{9D8B030D-6E8A-4147-A177-3AD203B41FA5}">
                      <a16:colId xmlns:a16="http://schemas.microsoft.com/office/drawing/2014/main" val="4196162972"/>
                    </a:ext>
                  </a:extLst>
                </a:gridCol>
                <a:gridCol w="1097280">
                  <a:extLst>
                    <a:ext uri="{9D8B030D-6E8A-4147-A177-3AD203B41FA5}">
                      <a16:colId xmlns:a16="http://schemas.microsoft.com/office/drawing/2014/main" val="1355585447"/>
                    </a:ext>
                  </a:extLst>
                </a:gridCol>
                <a:gridCol w="1097280">
                  <a:extLst>
                    <a:ext uri="{9D8B030D-6E8A-4147-A177-3AD203B41FA5}">
                      <a16:colId xmlns:a16="http://schemas.microsoft.com/office/drawing/2014/main" val="110710109"/>
                    </a:ext>
                  </a:extLst>
                </a:gridCol>
                <a:gridCol w="1097280">
                  <a:extLst>
                    <a:ext uri="{9D8B030D-6E8A-4147-A177-3AD203B41FA5}">
                      <a16:colId xmlns:a16="http://schemas.microsoft.com/office/drawing/2014/main" val="2622580576"/>
                    </a:ext>
                  </a:extLst>
                </a:gridCol>
                <a:gridCol w="1097280">
                  <a:extLst>
                    <a:ext uri="{9D8B030D-6E8A-4147-A177-3AD203B41FA5}">
                      <a16:colId xmlns:a16="http://schemas.microsoft.com/office/drawing/2014/main" val="2453034113"/>
                    </a:ext>
                  </a:extLst>
                </a:gridCol>
                <a:gridCol w="1097280">
                  <a:extLst>
                    <a:ext uri="{9D8B030D-6E8A-4147-A177-3AD203B41FA5}">
                      <a16:colId xmlns:a16="http://schemas.microsoft.com/office/drawing/2014/main" val="3136939961"/>
                    </a:ext>
                  </a:extLst>
                </a:gridCol>
                <a:gridCol w="1097280">
                  <a:extLst>
                    <a:ext uri="{9D8B030D-6E8A-4147-A177-3AD203B41FA5}">
                      <a16:colId xmlns:a16="http://schemas.microsoft.com/office/drawing/2014/main" val="2016600317"/>
                    </a:ext>
                  </a:extLst>
                </a:gridCol>
                <a:gridCol w="1097280">
                  <a:extLst>
                    <a:ext uri="{9D8B030D-6E8A-4147-A177-3AD203B41FA5}">
                      <a16:colId xmlns:a16="http://schemas.microsoft.com/office/drawing/2014/main" val="3510566807"/>
                    </a:ext>
                  </a:extLst>
                </a:gridCol>
                <a:gridCol w="1097280">
                  <a:extLst>
                    <a:ext uri="{9D8B030D-6E8A-4147-A177-3AD203B41FA5}">
                      <a16:colId xmlns:a16="http://schemas.microsoft.com/office/drawing/2014/main" val="3365641872"/>
                    </a:ext>
                  </a:extLst>
                </a:gridCol>
                <a:gridCol w="1097280">
                  <a:extLst>
                    <a:ext uri="{9D8B030D-6E8A-4147-A177-3AD203B41FA5}">
                      <a16:colId xmlns:a16="http://schemas.microsoft.com/office/drawing/2014/main" val="2509696834"/>
                    </a:ext>
                  </a:extLst>
                </a:gridCol>
              </a:tblGrid>
              <a:tr h="614356">
                <a:tc>
                  <a:txBody>
                    <a:bodyPr/>
                    <a:lstStyle/>
                    <a:p>
                      <a:pPr algn="ctr" rtl="0" fontAlgn="b">
                        <a:buNone/>
                      </a:pPr>
                      <a:r>
                        <a:rPr lang="en-US" sz="1200" b="0" i="0" u="none" strike="noStrike" dirty="0">
                          <a:solidFill>
                            <a:schemeClr val="bg1"/>
                          </a:solidFill>
                          <a:effectLst/>
                          <a:latin typeface="ArialMT"/>
                        </a:rPr>
                        <a:t>Tag Number</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Cutting</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Welding</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NDE</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Painting</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Coating</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Testing</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Progres</a:t>
                      </a:r>
                      <a:r>
                        <a:rPr lang="en-US" sz="1300" b="0" i="0" u="none" strike="noStrike" dirty="0">
                          <a:solidFill>
                            <a:schemeClr val="bg1"/>
                          </a:solidFill>
                          <a:effectLst/>
                          <a:latin typeface="ArialMT"/>
                        </a:rPr>
                        <a:t>s </a:t>
                      </a:r>
                      <a:r>
                        <a:rPr lang="en-US" sz="1200" b="0" i="0" u="none" strike="noStrike" dirty="0">
                          <a:solidFill>
                            <a:schemeClr val="bg1"/>
                          </a:solidFill>
                          <a:effectLst/>
                          <a:latin typeface="ArialMT"/>
                        </a:rPr>
                        <a:t>of Tag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Tag weight factor</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chemeClr val="bg1"/>
                          </a:solidFill>
                          <a:effectLst/>
                          <a:latin typeface="ArialMT"/>
                        </a:rPr>
                        <a:t>Weighted progress</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extLst>
                  <a:ext uri="{0D108BD9-81ED-4DB2-BD59-A6C34878D82A}">
                    <a16:rowId xmlns:a16="http://schemas.microsoft.com/office/drawing/2014/main" val="674928106"/>
                  </a:ext>
                </a:extLst>
              </a:tr>
              <a:tr h="594360">
                <a:tc>
                  <a:txBody>
                    <a:bodyPr/>
                    <a:lstStyle/>
                    <a:p>
                      <a:pPr algn="ctr" rtl="0" fontAlgn="b">
                        <a:buNone/>
                      </a:pPr>
                      <a:r>
                        <a:rPr lang="en-US" sz="1200" b="0" i="0" u="none" strike="noStrike" dirty="0">
                          <a:solidFill>
                            <a:schemeClr val="bg1"/>
                          </a:solidFill>
                          <a:effectLst/>
                          <a:latin typeface="ArialMT"/>
                        </a:rPr>
                        <a:t>Tag-1</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rgbClr val="000000"/>
                          </a:solidFill>
                          <a:effectLst/>
                          <a:latin typeface="ArialMT"/>
                        </a:rPr>
                        <a:t>1/6/2025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1/7/2025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1/8/2025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1/9/2025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1/10/2025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1/11/2025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100</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3</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12%</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575711"/>
                  </a:ext>
                </a:extLst>
              </a:tr>
              <a:tr h="594360">
                <a:tc>
                  <a:txBody>
                    <a:bodyPr/>
                    <a:lstStyle/>
                    <a:p>
                      <a:pPr algn="ctr" rtl="0" fontAlgn="b">
                        <a:buNone/>
                      </a:pPr>
                      <a:r>
                        <a:rPr lang="en-US" sz="1200" b="0" i="0" u="none" strike="noStrike" dirty="0">
                          <a:solidFill>
                            <a:schemeClr val="bg1"/>
                          </a:solidFill>
                          <a:effectLst/>
                          <a:latin typeface="ArialMT"/>
                        </a:rPr>
                        <a:t>Tag-2</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a:solidFill>
                            <a:srgbClr val="000000"/>
                          </a:solidFill>
                          <a:effectLst/>
                          <a:latin typeface="ArialMT"/>
                        </a:rPr>
                        <a:t>1/7/2025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1/20/2025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57</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4</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9%</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6703909"/>
                  </a:ext>
                </a:extLst>
              </a:tr>
              <a:tr h="594360">
                <a:tc>
                  <a:txBody>
                    <a:bodyPr/>
                    <a:lstStyle/>
                    <a:p>
                      <a:pPr algn="ctr" rtl="0" fontAlgn="b">
                        <a:buNone/>
                      </a:pPr>
                      <a:r>
                        <a:rPr lang="en-US" sz="1200" b="0" i="0" u="none" strike="noStrike" dirty="0">
                          <a:solidFill>
                            <a:schemeClr val="bg1"/>
                          </a:solidFill>
                          <a:effectLst/>
                          <a:latin typeface="ArialMT"/>
                        </a:rPr>
                        <a:t>Tag-3</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1/20/2025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1/25/2025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1/28/2025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100</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12</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48%</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3675354"/>
                  </a:ext>
                </a:extLst>
              </a:tr>
              <a:tr h="594360">
                <a:tc>
                  <a:txBody>
                    <a:bodyPr/>
                    <a:lstStyle/>
                    <a:p>
                      <a:pPr algn="ctr" rtl="0" fontAlgn="b">
                        <a:buNone/>
                      </a:pPr>
                      <a:r>
                        <a:rPr lang="en-US" sz="1200" b="0" i="0" u="none" strike="noStrike" dirty="0">
                          <a:solidFill>
                            <a:schemeClr val="bg1"/>
                          </a:solidFill>
                          <a:effectLst/>
                          <a:latin typeface="ArialMT"/>
                        </a:rPr>
                        <a:t>Tag-4</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73A60"/>
                    </a:solidFill>
                  </a:tcPr>
                </a:tc>
                <a:tc>
                  <a:txBody>
                    <a:bodyPr/>
                    <a:lstStyle/>
                    <a:p>
                      <a:pPr algn="ctr" rtl="0" fontAlgn="b">
                        <a:buNone/>
                      </a:pPr>
                      <a:r>
                        <a:rPr lang="en-US" sz="1200" b="0" i="0" u="none" strike="noStrike" dirty="0">
                          <a:solidFill>
                            <a:srgbClr val="000000"/>
                          </a:solidFill>
                          <a:effectLst/>
                          <a:latin typeface="ArialMT"/>
                        </a:rPr>
                        <a:t>1/9/2025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1/11/2025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1/12/2025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1/13/2025</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a:solidFill>
                            <a:srgbClr val="000000"/>
                          </a:solidFill>
                          <a:effectLst/>
                          <a:latin typeface="ArialMT"/>
                        </a:rPr>
                        <a:t> </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86</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6</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200" b="0" i="0" u="none" strike="noStrike" dirty="0">
                          <a:solidFill>
                            <a:srgbClr val="000000"/>
                          </a:solidFill>
                          <a:effectLst/>
                          <a:latin typeface="ArialMT"/>
                        </a:rPr>
                        <a:t>21%</a:t>
                      </a:r>
                    </a:p>
                  </a:txBody>
                  <a:tcPr marL="9343" marR="9343" marT="93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008064"/>
                  </a:ext>
                </a:extLst>
              </a:tr>
            </a:tbl>
          </a:graphicData>
        </a:graphic>
      </p:graphicFrame>
    </p:spTree>
    <p:extLst>
      <p:ext uri="{BB962C8B-B14F-4D97-AF65-F5344CB8AC3E}">
        <p14:creationId xmlns:p14="http://schemas.microsoft.com/office/powerpoint/2010/main" val="1918375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05FDF3-C742-C515-05A8-A38F48B17A83}"/>
              </a:ext>
            </a:extLst>
          </p:cNvPr>
          <p:cNvSpPr txBox="1"/>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Steps to start a new project</a:t>
            </a:r>
          </a:p>
        </p:txBody>
      </p:sp>
      <p:sp>
        <p:nvSpPr>
          <p:cNvPr id="3" name="Rectangle 2">
            <a:extLst>
              <a:ext uri="{FF2B5EF4-FFF2-40B4-BE49-F238E27FC236}">
                <a16:creationId xmlns:a16="http://schemas.microsoft.com/office/drawing/2014/main" id="{44CD5C93-AEE9-2E1B-720C-D11D92454FC5}"/>
              </a:ext>
            </a:extLst>
          </p:cNvPr>
          <p:cNvSpPr/>
          <p:nvPr/>
        </p:nvSpPr>
        <p:spPr>
          <a:xfrm>
            <a:off x="810789" y="1148318"/>
            <a:ext cx="10134865" cy="3666561"/>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DBA settings.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SPOOL and WELD item types is defined.</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any missing property that will be tracked during the fabrication tracking.</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Update the project defaults.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Define the Where conditions that will be used in dividing items across different fabrication types.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Create the fabrication types.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Create the load format for each fabrication type.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Update the Fabrication Tracking template.</a:t>
            </a: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6" name="Rectangle 5">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Tree>
    <p:extLst>
      <p:ext uri="{BB962C8B-B14F-4D97-AF65-F5344CB8AC3E}">
        <p14:creationId xmlns:p14="http://schemas.microsoft.com/office/powerpoint/2010/main" val="1539731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05FDF3-C742-C515-05A8-A38F48B17A83}"/>
              </a:ext>
            </a:extLst>
          </p:cNvPr>
          <p:cNvSpPr txBox="1"/>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Step1: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Check DBA settings</a:t>
            </a:r>
            <a:r>
              <a:rPr lang="en-US" b="1" dirty="0">
                <a:solidFill>
                  <a:schemeClr val="bg1"/>
                </a:solidFill>
                <a:latin typeface="Trebuchet MS" panose="020B0603020202020204" pitchFamily="34" charset="0"/>
              </a:rPr>
              <a:t> </a:t>
            </a:r>
          </a:p>
        </p:txBody>
      </p:sp>
      <p:sp>
        <p:nvSpPr>
          <p:cNvPr id="5" name="Rectangle 4">
            <a:extLst>
              <a:ext uri="{FF2B5EF4-FFF2-40B4-BE49-F238E27FC236}">
                <a16:creationId xmlns:a16="http://schemas.microsoft.com/office/drawing/2014/main" id="{880F1151-15ED-183A-0A6F-83F233555D0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000179EE-A60A-A5F4-82DE-381D4966F627}"/>
              </a:ext>
            </a:extLst>
          </p:cNvPr>
          <p:cNvSpPr/>
          <p:nvPr/>
        </p:nvSpPr>
        <p:spPr>
          <a:xfrm>
            <a:off x="645895" y="886795"/>
            <a:ext cx="10908930" cy="3186430"/>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FAB_IMPORT_PATH Set this to the database server path where fabrication tracking import files will be stored.</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RBS_FAB Set this to the rollback segment name used during fabrication tracking imports. </a:t>
            </a:r>
          </a:p>
          <a:p>
            <a:pPr marL="493735" lvl="2"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 value: RBS_FAB (keep the default name unless otherwise instructed). </a:t>
            </a:r>
          </a:p>
          <a:p>
            <a:pPr marL="493735" lvl="2"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 Explanation: The Rollback Segment (RBS) is an Oracle Database feature that stores the "before" image of data. This allows transactions to be rolled back in case of errors during the import process, ensuring data integrity.</a:t>
            </a:r>
          </a:p>
          <a:p>
            <a:pPr marL="493735" lvl="2"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Example from a log file:</a:t>
            </a: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pic>
        <p:nvPicPr>
          <p:cNvPr id="12" name="Picture 11">
            <a:extLst>
              <a:ext uri="{FF2B5EF4-FFF2-40B4-BE49-F238E27FC236}">
                <a16:creationId xmlns:a16="http://schemas.microsoft.com/office/drawing/2014/main" id="{C595E16F-985A-82AC-0FB4-1260882D7403}"/>
              </a:ext>
            </a:extLst>
          </p:cNvPr>
          <p:cNvPicPr>
            <a:picLocks noChangeAspect="1"/>
          </p:cNvPicPr>
          <p:nvPr/>
        </p:nvPicPr>
        <p:blipFill>
          <a:blip r:embed="rId2"/>
          <a:stretch>
            <a:fillRect/>
          </a:stretch>
        </p:blipFill>
        <p:spPr>
          <a:xfrm>
            <a:off x="1930431" y="3828713"/>
            <a:ext cx="3400900" cy="666842"/>
          </a:xfrm>
          <a:prstGeom prst="rect">
            <a:avLst/>
          </a:prstGeom>
          <a:ln>
            <a:solidFill>
              <a:schemeClr val="tx1"/>
            </a:solidFill>
          </a:ln>
        </p:spPr>
      </p:pic>
      <p:pic>
        <p:nvPicPr>
          <p:cNvPr id="14" name="Picture 13">
            <a:extLst>
              <a:ext uri="{FF2B5EF4-FFF2-40B4-BE49-F238E27FC236}">
                <a16:creationId xmlns:a16="http://schemas.microsoft.com/office/drawing/2014/main" id="{737A4742-5DDD-36C0-3DB2-864BB059EB35}"/>
              </a:ext>
            </a:extLst>
          </p:cNvPr>
          <p:cNvPicPr>
            <a:picLocks noChangeAspect="1"/>
          </p:cNvPicPr>
          <p:nvPr/>
        </p:nvPicPr>
        <p:blipFill>
          <a:blip r:embed="rId3"/>
          <a:stretch>
            <a:fillRect/>
          </a:stretch>
        </p:blipFill>
        <p:spPr>
          <a:xfrm>
            <a:off x="5623719" y="3813570"/>
            <a:ext cx="4334480" cy="666842"/>
          </a:xfrm>
          <a:prstGeom prst="rect">
            <a:avLst/>
          </a:prstGeom>
          <a:ln>
            <a:solidFill>
              <a:schemeClr val="tx1"/>
            </a:solidFill>
          </a:ln>
        </p:spPr>
      </p:pic>
    </p:spTree>
    <p:extLst>
      <p:ext uri="{BB962C8B-B14F-4D97-AF65-F5344CB8AC3E}">
        <p14:creationId xmlns:p14="http://schemas.microsoft.com/office/powerpoint/2010/main" val="254537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1279-C3F6-C6F8-2ECA-DAD89FFA9D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860EB6-9FCE-E6A1-9689-75EA9558AA26}"/>
              </a:ext>
            </a:extLst>
          </p:cNvPr>
          <p:cNvSpPr txBox="1"/>
          <p:nvPr/>
        </p:nvSpPr>
        <p:spPr>
          <a:xfrm>
            <a:off x="899319" y="52018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Step2: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Check that SPOOL item type is defined</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868C7D36-85BD-078D-2030-40F6F548A125}"/>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F6C563C9-FE70-E50A-D10B-31B690660B74}"/>
              </a:ext>
            </a:extLst>
          </p:cNvPr>
          <p:cNvSpPr/>
          <p:nvPr/>
        </p:nvSpPr>
        <p:spPr>
          <a:xfrm>
            <a:off x="882800" y="1047750"/>
            <a:ext cx="10908930" cy="3680411"/>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Navigate to Home &gt; Administration &gt; Materials Setup</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Select Item Types.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item type “SPOOL” exist with item rule “TFM”.</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item type “WELD” exist with item rule “TFM”.</a:t>
            </a:r>
          </a:p>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Explanation: </a:t>
            </a:r>
          </a:p>
          <a:p>
            <a:pPr marL="36535" lvl="1"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TFM is tagged fabricated items with milestones (In BOM and in MTO, there is no special logic associated with tagged fabricated items (spool pieces).</a:t>
            </a:r>
            <a:endParaRPr lang="es-E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Tree>
    <p:extLst>
      <p:ext uri="{BB962C8B-B14F-4D97-AF65-F5344CB8AC3E}">
        <p14:creationId xmlns:p14="http://schemas.microsoft.com/office/powerpoint/2010/main" val="1418807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E9C2-C6EB-6690-F40F-10166FC1A8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E65009-BC0B-D1AF-D897-55B41F601343}"/>
              </a:ext>
            </a:extLst>
          </p:cNvPr>
          <p:cNvSpPr txBox="1"/>
          <p:nvPr/>
        </p:nvSpPr>
        <p:spPr>
          <a:xfrm>
            <a:off x="899319" y="520184"/>
            <a:ext cx="9753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Step3: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Add any missing property that will be checked during the fabrication tracking</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4DBBAD6C-2ECF-536C-C677-A597C9AC7A83}"/>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0641F35F-C265-B0F1-FE52-00AD64AFD019}"/>
              </a:ext>
            </a:extLst>
          </p:cNvPr>
          <p:cNvSpPr/>
          <p:nvPr/>
        </p:nvSpPr>
        <p:spPr>
          <a:xfrm>
            <a:off x="746919" y="916730"/>
            <a:ext cx="10908930" cy="4022043"/>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Coordinate with the Construction Team </a:t>
            </a:r>
          </a:p>
          <a:p>
            <a:pPr marL="836635" lvl="2" indent="-342900" algn="just">
              <a:lnSpc>
                <a:spcPct val="150000"/>
              </a:lnSpc>
              <a:spcAft>
                <a:spcPct val="15000"/>
              </a:spcAft>
              <a:buSzPct val="80000"/>
              <a:buFont typeface="Arial" panose="020B0604020202020204" pitchFamily="34" charset="0"/>
              <a:buChar char="•"/>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Share the Fabrication Tracking template with the construction team. </a:t>
            </a:r>
          </a:p>
          <a:p>
            <a:pPr marL="836635" lvl="2" indent="-342900" algn="just">
              <a:lnSpc>
                <a:spcPct val="150000"/>
              </a:lnSpc>
              <a:spcAft>
                <a:spcPct val="15000"/>
              </a:spcAft>
              <a:buSzPct val="80000"/>
              <a:buFont typeface="Arial" panose="020B0604020202020204" pitchFamily="34" charset="0"/>
              <a:buChar char="•"/>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Confirm if there are any additional properties that need to be tracked during fabrication.</a:t>
            </a:r>
          </a:p>
          <a:p>
            <a:pPr marL="379435" lvl="1" indent="-342900" algn="just">
              <a:lnSpc>
                <a:spcPct val="150000"/>
              </a:lnSpc>
              <a:spcAft>
                <a:spcPct val="15000"/>
              </a:spcAft>
              <a:buSzPct val="80000"/>
              <a:buFont typeface="+mj-lt"/>
              <a:buAutoNum type="arabicPeriod"/>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Check the Properties in the product group ”SDB”</a:t>
            </a:r>
          </a:p>
          <a:p>
            <a:pPr marL="836635" lvl="2" indent="-342900" algn="just">
              <a:lnSpc>
                <a:spcPct val="150000"/>
              </a:lnSpc>
              <a:spcAft>
                <a:spcPct val="15000"/>
              </a:spcAft>
              <a:buSzPct val="80000"/>
              <a:buFont typeface="Arial" panose="020B0604020202020204" pitchFamily="34" charset="0"/>
              <a:buChar char="•"/>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Navigate to Home &gt; Administration &gt; Tables and Properties. </a:t>
            </a:r>
          </a:p>
          <a:p>
            <a:pPr marL="836635" lvl="2" indent="-342900" algn="just">
              <a:lnSpc>
                <a:spcPct val="150000"/>
              </a:lnSpc>
              <a:spcAft>
                <a:spcPct val="15000"/>
              </a:spcAft>
              <a:buSzPct val="80000"/>
              <a:buFont typeface="Arial" panose="020B0604020202020204" pitchFamily="34" charset="0"/>
              <a:buChar char="•"/>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Select Properties. </a:t>
            </a:r>
          </a:p>
          <a:p>
            <a:pPr marL="836635" lvl="2" indent="-342900" algn="just">
              <a:lnSpc>
                <a:spcPct val="150000"/>
              </a:lnSpc>
              <a:spcAft>
                <a:spcPct val="15000"/>
              </a:spcAft>
              <a:buSzPct val="80000"/>
              <a:buFont typeface="Arial" panose="020B0604020202020204" pitchFamily="34" charset="0"/>
              <a:buChar char="•"/>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Check the properties under group “Fab Track”</a:t>
            </a:r>
          </a:p>
          <a:p>
            <a:pPr marL="0" lvl="1" indent="-457200" algn="just">
              <a:lnSpc>
                <a:spcPct val="150000"/>
              </a:lnSpc>
              <a:spcAft>
                <a:spcPct val="15000"/>
              </a:spcAft>
              <a:buSzPct val="80000"/>
              <a:buFont typeface="+mj-lt"/>
              <a:buAutoNum type="arabicPeriod"/>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If some properties are missing, Create a new property group (project </a:t>
            </a:r>
            <a:r>
              <a:rPr lang="en-US" sz="1400" dirty="0" err="1">
                <a:solidFill>
                  <a:srgbClr val="00305F"/>
                </a:solidFill>
                <a:latin typeface="Trebuchet MS" panose="020B0603020202020204" pitchFamily="34" charset="0"/>
                <a:ea typeface="ＭＳ Ｐゴシック" pitchFamily="34" charset="-128"/>
                <a:cs typeface="Calibri" panose="020F0502020204030204" pitchFamily="34" charset="0"/>
              </a:rPr>
              <a:t>code_FT</a:t>
            </a: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a:t>
            </a:r>
          </a:p>
          <a:p>
            <a:pPr marL="0" lvl="1" indent="-457200" algn="just">
              <a:lnSpc>
                <a:spcPct val="150000"/>
              </a:lnSpc>
              <a:spcAft>
                <a:spcPct val="15000"/>
              </a:spcAft>
              <a:buSzPct val="80000"/>
              <a:buFont typeface="+mj-lt"/>
              <a:buAutoNum type="arabicPeriod"/>
              <a:defRPr/>
            </a:pPr>
            <a:r>
              <a:rPr lang="en-US" sz="1400" dirty="0">
                <a:solidFill>
                  <a:srgbClr val="00305F"/>
                </a:solidFill>
                <a:latin typeface="Trebuchet MS" panose="020B0603020202020204" pitchFamily="34" charset="0"/>
                <a:ea typeface="ＭＳ Ｐゴシック" pitchFamily="34" charset="-128"/>
                <a:cs typeface="Calibri" panose="020F0502020204030204" pitchFamily="34" charset="0"/>
              </a:rPr>
              <a:t>Add the new properties under the new group.</a:t>
            </a: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Tree>
    <p:extLst>
      <p:ext uri="{BB962C8B-B14F-4D97-AF65-F5344CB8AC3E}">
        <p14:creationId xmlns:p14="http://schemas.microsoft.com/office/powerpoint/2010/main" val="3729712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A2D96-7C0C-E140-CDC4-627B2BB88E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9090DF-EFCF-1B3A-B460-0FBFB29C792F}"/>
              </a:ext>
            </a:extLst>
          </p:cNvPr>
          <p:cNvSpPr txBox="1"/>
          <p:nvPr/>
        </p:nvSpPr>
        <p:spPr>
          <a:xfrm>
            <a:off x="899319" y="520184"/>
            <a:ext cx="9753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Step3: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Add any missing property that will be checked during the fabrication tracking</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9234C0AE-68D9-4ECA-0881-4286BB7666E0}"/>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pic>
        <p:nvPicPr>
          <p:cNvPr id="6" name="Picture 5">
            <a:extLst>
              <a:ext uri="{FF2B5EF4-FFF2-40B4-BE49-F238E27FC236}">
                <a16:creationId xmlns:a16="http://schemas.microsoft.com/office/drawing/2014/main" id="{13E76141-39F4-1849-B7C6-0A75CF5308B8}"/>
              </a:ext>
            </a:extLst>
          </p:cNvPr>
          <p:cNvPicPr>
            <a:picLocks noChangeAspect="1"/>
          </p:cNvPicPr>
          <p:nvPr/>
        </p:nvPicPr>
        <p:blipFill>
          <a:blip r:embed="rId2"/>
          <a:stretch>
            <a:fillRect/>
          </a:stretch>
        </p:blipFill>
        <p:spPr>
          <a:xfrm>
            <a:off x="1280319" y="1186831"/>
            <a:ext cx="10299975" cy="3289919"/>
          </a:xfrm>
          <a:prstGeom prst="rect">
            <a:avLst/>
          </a:prstGeom>
        </p:spPr>
      </p:pic>
    </p:spTree>
    <p:extLst>
      <p:ext uri="{BB962C8B-B14F-4D97-AF65-F5344CB8AC3E}">
        <p14:creationId xmlns:p14="http://schemas.microsoft.com/office/powerpoint/2010/main" val="2394806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B98BE-727D-9DE3-25A8-C01097F995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BA825F-387B-7B98-6489-F110700D50DF}"/>
              </a:ext>
            </a:extLst>
          </p:cNvPr>
          <p:cNvSpPr txBox="1"/>
          <p:nvPr/>
        </p:nvSpPr>
        <p:spPr>
          <a:xfrm>
            <a:off x="899319" y="520184"/>
            <a:ext cx="9753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Step3: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Add any missing property that will be checked during the fabrication tracking</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7C0D31F0-724D-98A3-720E-E888C908CC4C}"/>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9923F02A-302F-6591-F769-83AA815DCFA1}"/>
              </a:ext>
            </a:extLst>
          </p:cNvPr>
          <p:cNvSpPr/>
          <p:nvPr/>
        </p:nvSpPr>
        <p:spPr>
          <a:xfrm>
            <a:off x="823119" y="886508"/>
            <a:ext cx="6172200" cy="2424683"/>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Notes: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Only 15 properties can be included in the Display Column (shown in the Fab/Values) in the Fabrication Tracking (highlight this note if the properties exceed 15).</a:t>
            </a: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150000"/>
              </a:lnSpc>
              <a:spcAft>
                <a:spcPct val="15000"/>
              </a:spcAft>
              <a:buSzPct val="80000"/>
              <a:buFont typeface="+mj-lt"/>
              <a:buAutoNum type="arabicPeriod"/>
              <a:defRPr/>
            </a:pPr>
            <a:endParaRPr lang="en-US" sz="1600" b="1"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pic>
        <p:nvPicPr>
          <p:cNvPr id="3" name="Picture 6">
            <a:extLst>
              <a:ext uri="{FF2B5EF4-FFF2-40B4-BE49-F238E27FC236}">
                <a16:creationId xmlns:a16="http://schemas.microsoft.com/office/drawing/2014/main" id="{5AFF3A2E-1725-9C56-980F-F8647999B1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760" t="8519" r="9414"/>
          <a:stretch>
            <a:fillRect/>
          </a:stretch>
        </p:blipFill>
        <p:spPr bwMode="auto">
          <a:xfrm>
            <a:off x="8062119" y="1047750"/>
            <a:ext cx="3124200" cy="4019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611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A4D8-E0E0-E596-9653-C756351341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5756F4-2689-05B7-B141-539368D19AA6}"/>
              </a:ext>
            </a:extLst>
          </p:cNvPr>
          <p:cNvSpPr txBox="1"/>
          <p:nvPr/>
        </p:nvSpPr>
        <p:spPr>
          <a:xfrm>
            <a:off x="899319" y="520184"/>
            <a:ext cx="9753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Step4: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Update the project defaults</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520A5FA5-BDEC-E1E1-4ACF-7173158F98FF}"/>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C1CF92DD-B6E4-0771-A248-9F777337D7EF}"/>
              </a:ext>
            </a:extLst>
          </p:cNvPr>
          <p:cNvSpPr/>
          <p:nvPr/>
        </p:nvSpPr>
        <p:spPr>
          <a:xfrm>
            <a:off x="810789" y="1148318"/>
            <a:ext cx="10908930" cy="2424683"/>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Related project defaults:</a:t>
            </a:r>
          </a:p>
          <a:p>
            <a:pPr marL="420167" lvl="1" indent="-383632" algn="just">
              <a:lnSpc>
                <a:spcPct val="150000"/>
              </a:lnSpc>
              <a:spcAft>
                <a:spcPct val="15000"/>
              </a:spcAft>
              <a:buSzPct val="80000"/>
              <a:buFont typeface="+mj-lt"/>
              <a:buAutoNum type="arabicPeriod"/>
              <a:defRPr/>
            </a:pP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ZB_TFMPART: Defines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default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commodity</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part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for</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item</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rule “TFM”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keep</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it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Spools</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Spools</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is</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commodity</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part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created</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on</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SDB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level</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0167" lvl="1" indent="-383632" algn="just">
              <a:lnSpc>
                <a:spcPct val="150000"/>
              </a:lnSpc>
              <a:spcAft>
                <a:spcPct val="15000"/>
              </a:spcAft>
              <a:buSzPct val="80000"/>
              <a:buFont typeface="+mj-lt"/>
              <a:buAutoNum type="arabicPeriod"/>
              <a:defRPr/>
            </a:pP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ZP_REFDATE: </a:t>
            </a: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allows to change the behavior of the Reference Date field on the Load Fab Tracking page to be mandatory or not (Select N: Reference Date is optional)</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ZP_FAB_ITY: specifies the item type used in Fab Tracking &gt; Load Fab Tracking page for the import operation.</a:t>
            </a:r>
          </a:p>
        </p:txBody>
      </p:sp>
    </p:spTree>
    <p:extLst>
      <p:ext uri="{BB962C8B-B14F-4D97-AF65-F5344CB8AC3E}">
        <p14:creationId xmlns:p14="http://schemas.microsoft.com/office/powerpoint/2010/main" val="395502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24846-D199-B1BF-BF18-A35A9262C9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F710E2-1853-AA01-DC02-69DA772E4D46}"/>
              </a:ext>
            </a:extLst>
          </p:cNvPr>
          <p:cNvSpPr txBox="1"/>
          <p:nvPr/>
        </p:nvSpPr>
        <p:spPr>
          <a:xfrm>
            <a:off x="825614" y="515359"/>
            <a:ext cx="11353800" cy="338554"/>
          </a:xfrm>
          <a:prstGeom prst="rect">
            <a:avLst/>
          </a:prstGeom>
          <a:noFill/>
        </p:spPr>
        <p:txBody>
          <a:bodyPr wrap="square">
            <a:spAutoFit/>
          </a:bodyPr>
          <a:lstStyle/>
          <a:p>
            <a:r>
              <a:rPr lang="en-US" sz="1600" b="1" dirty="0">
                <a:solidFill>
                  <a:schemeClr val="bg1"/>
                </a:solidFill>
                <a:latin typeface="Trebuchet MS" panose="020B0603020202020204" pitchFamily="34" charset="0"/>
              </a:rPr>
              <a:t>Step5: </a:t>
            </a:r>
            <a:r>
              <a:rPr lang="en-US" sz="1600" b="1" dirty="0">
                <a:solidFill>
                  <a:schemeClr val="bg1"/>
                </a:solidFill>
                <a:latin typeface="Trebuchet MS" panose="020B0603020202020204" pitchFamily="34" charset="0"/>
                <a:ea typeface="ＭＳ Ｐゴシック" pitchFamily="34" charset="-128"/>
                <a:cs typeface="Calibri" panose="020F0502020204030204" pitchFamily="34" charset="0"/>
              </a:rPr>
              <a:t>Define the Where conditions that will be used in dividing items across different fabrication types</a:t>
            </a:r>
            <a:endParaRPr lang="en-US" sz="1600"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5B1D6636-E48D-6FAD-0EFD-9CEF24D44790}"/>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2045A1B4-1798-2DDF-9EA4-6E3D1DBF4E0A}"/>
              </a:ext>
            </a:extLst>
          </p:cNvPr>
          <p:cNvSpPr/>
          <p:nvPr/>
        </p:nvSpPr>
        <p:spPr>
          <a:xfrm>
            <a:off x="746919" y="909032"/>
            <a:ext cx="10908930" cy="3163346"/>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Explanation:</a:t>
            </a:r>
          </a:p>
          <a:p>
            <a:pPr marL="36535" lvl="1" indent="0" algn="just">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When creating a fabrication type, it is necessary to specify a Where condition that determines which spools from the BOM will be assigned to the corresponding fabrication type. For instance, separate fabrication types may be established for different coating processes such as FBE coating and galvanizing, due to the distinct nature of their processes. The Where condition should encompass all spools associated with the specific process.</a:t>
            </a:r>
          </a:p>
          <a:p>
            <a:pPr marL="36535" lvl="1" indent="0" algn="just">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To facilitate this, a position property (e.g., Class or Material) should be added to each spool, which will serve as the basis for constructing the Where condition.</a:t>
            </a:r>
          </a:p>
          <a:p>
            <a:pPr marL="36535" lvl="1" indent="0">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Recommendation:</a:t>
            </a:r>
            <a:b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b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Minimize the number of fabrication types wherever possible, as each type requires a </a:t>
            </a:r>
            <a:r>
              <a:rPr lang="en-US" sz="1600">
                <a:solidFill>
                  <a:srgbClr val="00305F"/>
                </a:solidFill>
                <a:latin typeface="Trebuchet MS" panose="020B0603020202020204" pitchFamily="34" charset="0"/>
                <a:ea typeface="ＭＳ Ｐゴシック" pitchFamily="34" charset="-128"/>
                <a:cs typeface="Calibri" panose="020F0502020204030204" pitchFamily="34" charset="0"/>
              </a:rPr>
              <a:t>separate sheet in the </a:t>
            </a: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Fabrication Tracking template, increasing overall complexity.</a:t>
            </a:r>
          </a:p>
        </p:txBody>
      </p:sp>
    </p:spTree>
    <p:extLst>
      <p:ext uri="{BB962C8B-B14F-4D97-AF65-F5344CB8AC3E}">
        <p14:creationId xmlns:p14="http://schemas.microsoft.com/office/powerpoint/2010/main" val="4001143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EB22-DC9A-D042-D599-147A354E32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1FF9A7-B7DC-C717-B60E-59B03873055F}"/>
              </a:ext>
            </a:extLst>
          </p:cNvPr>
          <p:cNvSpPr txBox="1"/>
          <p:nvPr/>
        </p:nvSpPr>
        <p:spPr>
          <a:xfrm>
            <a:off x="899319" y="520184"/>
            <a:ext cx="9753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Step5: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Create the Where conditions that will be used in dividing the fabrication types</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EA117A65-4886-C0FD-B797-66AFF1F49423}"/>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8" name="Rectangle 7">
            <a:extLst>
              <a:ext uri="{FF2B5EF4-FFF2-40B4-BE49-F238E27FC236}">
                <a16:creationId xmlns:a16="http://schemas.microsoft.com/office/drawing/2014/main" id="{12436DE9-5D68-660B-6A35-F6DA9C296AE9}"/>
              </a:ext>
            </a:extLst>
          </p:cNvPr>
          <p:cNvSpPr/>
          <p:nvPr/>
        </p:nvSpPr>
        <p:spPr>
          <a:xfrm>
            <a:off x="746919" y="805935"/>
            <a:ext cx="10908930" cy="921899"/>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Steps (in this case, two fabrication types will be created “Recommended”) :</a:t>
            </a:r>
          </a:p>
          <a:p>
            <a:pPr marL="36535" lvl="1" indent="0" algn="just">
              <a:lnSpc>
                <a:spcPct val="150000"/>
              </a:lnSpc>
              <a:spcAft>
                <a:spcPct val="15000"/>
              </a:spcAft>
              <a:buSzPct val="80000"/>
              <a:defRPr/>
            </a:pPr>
            <a:endParaRPr lang="en-US" dirty="0"/>
          </a:p>
        </p:txBody>
      </p:sp>
      <p:sp>
        <p:nvSpPr>
          <p:cNvPr id="3" name="Rectangle 2">
            <a:extLst>
              <a:ext uri="{FF2B5EF4-FFF2-40B4-BE49-F238E27FC236}">
                <a16:creationId xmlns:a16="http://schemas.microsoft.com/office/drawing/2014/main" id="{0EE2784A-00FE-A55B-AFBF-09CC0FB6BD5C}"/>
              </a:ext>
            </a:extLst>
          </p:cNvPr>
          <p:cNvSpPr/>
          <p:nvPr/>
        </p:nvSpPr>
        <p:spPr>
          <a:xfrm>
            <a:off x="824841" y="1303981"/>
            <a:ext cx="10908930" cy="3680411"/>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Go to Home &gt; Administration &gt; Query Builder.</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Create new Where condition with module P1091.</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Open the Where condition and add the property (PART = ‘SPOOLS’), (ITEM_TYPE = ‘SPOOL’) for fabrication tracking of spools.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Generate the view.</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Create another one for welds with the same properties except (ITEM_TYPE = ‘WELD’) for welds.</a:t>
            </a:r>
          </a:p>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Notes</a:t>
            </a:r>
          </a:p>
          <a:p>
            <a:pPr marL="322285" lvl="1" indent="-28575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PART ‘SPOOLS’ is selected as it is the default part used in project default </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ZB_TFMPART.</a:t>
            </a:r>
          </a:p>
          <a:p>
            <a:pPr marL="322285" lvl="1" indent="-285750" algn="just">
              <a:lnSpc>
                <a:spcPct val="150000"/>
              </a:lnSpc>
              <a:spcAft>
                <a:spcPct val="15000"/>
              </a:spcAft>
              <a:buSzPct val="80000"/>
              <a:buFont typeface="Arial" panose="020B0604020202020204" pitchFamily="34" charset="0"/>
              <a:buChar char="•"/>
              <a:defRPr/>
            </a:pP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user</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shall</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not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be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able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to</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change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part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don’t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include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part</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in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FLC).</a:t>
            </a: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p>
        </p:txBody>
      </p:sp>
    </p:spTree>
    <p:extLst>
      <p:ext uri="{BB962C8B-B14F-4D97-AF65-F5344CB8AC3E}">
        <p14:creationId xmlns:p14="http://schemas.microsoft.com/office/powerpoint/2010/main" val="3830000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781C2-3B19-6ECC-2B26-D26E3839D9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8FAFC-227F-52D9-2FA8-A2508B70E4CB}"/>
              </a:ext>
            </a:extLst>
          </p:cNvPr>
          <p:cNvSpPr txBox="1"/>
          <p:nvPr/>
        </p:nvSpPr>
        <p:spPr>
          <a:xfrm>
            <a:off x="899319" y="520184"/>
            <a:ext cx="9753600" cy="646331"/>
          </a:xfrm>
          <a:prstGeom prst="rect">
            <a:avLst/>
          </a:prstGeom>
          <a:noFill/>
        </p:spPr>
        <p:txBody>
          <a:bodyPr wrap="square">
            <a:spAutoFit/>
          </a:bodyPr>
          <a:lstStyle/>
          <a:p>
            <a:r>
              <a:rPr lang="en-US" b="1" dirty="0">
                <a:solidFill>
                  <a:schemeClr val="bg1"/>
                </a:solidFill>
                <a:latin typeface="Trebuchet MS" panose="020B0603020202020204" pitchFamily="34" charset="0"/>
              </a:rPr>
              <a:t>Step6: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Create the fabrication types</a:t>
            </a:r>
          </a:p>
          <a:p>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7DA5874E-6DB0-95AA-E36E-BA2A3F7B83F2}"/>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AB1BE8C9-658A-A45C-5546-116AC86F0992}"/>
              </a:ext>
            </a:extLst>
          </p:cNvPr>
          <p:cNvSpPr/>
          <p:nvPr/>
        </p:nvSpPr>
        <p:spPr>
          <a:xfrm>
            <a:off x="823119" y="968180"/>
            <a:ext cx="10908930" cy="4172019"/>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Go to Home &gt; Site &gt; Maintain Fab Tracking.</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Select Add Fabrication Type.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Enter the name, Max Revisions to be 1, Calculation Method to be Up to Highest Step With Date.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the Where Condition ( create Fabrication Type for each Where condition).</a:t>
            </a:r>
          </a:p>
          <a:p>
            <a:pPr marL="400050" lvl="1"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in the Fabrication Type Properties: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the properties that will be tracked</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the Ref BOM Property if the property will be assigned from the BOM module.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For properties with Date datatype, add the weight factor (1) – to be discussed with planning.</a:t>
            </a:r>
          </a:p>
          <a:p>
            <a:pPr marL="36535" lvl="1" indent="0" algn="just">
              <a:lnSpc>
                <a:spcPct val="150000"/>
              </a:lnSpc>
              <a:spcAft>
                <a:spcPct val="15000"/>
              </a:spcAft>
              <a:buSzPct val="80000"/>
              <a:defRPr/>
            </a:pPr>
            <a:endParaRPr lang="en-US" dirty="0"/>
          </a:p>
          <a:p>
            <a:pPr marL="36535" lvl="1" indent="0" algn="just">
              <a:lnSpc>
                <a:spcPct val="150000"/>
              </a:lnSpc>
              <a:spcAft>
                <a:spcPct val="15000"/>
              </a:spcAft>
              <a:buSzPct val="80000"/>
              <a:defRPr/>
            </a:pPr>
            <a:endParaRPr lang="en-US" dirty="0"/>
          </a:p>
        </p:txBody>
      </p:sp>
    </p:spTree>
    <p:extLst>
      <p:ext uri="{BB962C8B-B14F-4D97-AF65-F5344CB8AC3E}">
        <p14:creationId xmlns:p14="http://schemas.microsoft.com/office/powerpoint/2010/main" val="1169815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6649F-3425-66B0-F590-01742E6F34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05D5C0-FA2B-8634-1430-E31EBE031D62}"/>
              </a:ext>
            </a:extLst>
          </p:cNvPr>
          <p:cNvSpPr txBox="1"/>
          <p:nvPr/>
        </p:nvSpPr>
        <p:spPr>
          <a:xfrm>
            <a:off x="872652" y="490653"/>
            <a:ext cx="9753600" cy="646331"/>
          </a:xfrm>
          <a:prstGeom prst="rect">
            <a:avLst/>
          </a:prstGeom>
          <a:noFill/>
        </p:spPr>
        <p:txBody>
          <a:bodyPr wrap="square">
            <a:spAutoFit/>
          </a:bodyPr>
          <a:lstStyle/>
          <a:p>
            <a:r>
              <a:rPr lang="en-US" b="1" dirty="0">
                <a:solidFill>
                  <a:schemeClr val="bg1"/>
                </a:solidFill>
                <a:latin typeface="Trebuchet MS" panose="020B0603020202020204" pitchFamily="34" charset="0"/>
              </a:rPr>
              <a:t>Step6: </a:t>
            </a:r>
            <a:r>
              <a:rPr lang="en-US" b="1" dirty="0">
                <a:solidFill>
                  <a:schemeClr val="bg1"/>
                </a:solidFill>
                <a:latin typeface="Trebuchet MS" panose="020B0603020202020204" pitchFamily="34" charset="0"/>
                <a:ea typeface="ＭＳ Ｐゴシック" pitchFamily="34" charset="-128"/>
                <a:cs typeface="Calibri" panose="020F0502020204030204" pitchFamily="34" charset="0"/>
              </a:rPr>
              <a:t>Create the fabrication types</a:t>
            </a:r>
          </a:p>
          <a:p>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94A0C659-A196-B9F5-171B-4493F2C5D68E}"/>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pic>
        <p:nvPicPr>
          <p:cNvPr id="3074" name="Picture 2">
            <a:extLst>
              <a:ext uri="{FF2B5EF4-FFF2-40B4-BE49-F238E27FC236}">
                <a16:creationId xmlns:a16="http://schemas.microsoft.com/office/drawing/2014/main" id="{069CAD86-E51F-7B52-C0B5-54F207881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719" y="1123950"/>
            <a:ext cx="6712415" cy="33528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F43735B-205C-3690-C731-DBF5036F29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760" t="8519" r="9414"/>
          <a:stretch>
            <a:fillRect/>
          </a:stretch>
        </p:blipFill>
        <p:spPr bwMode="auto">
          <a:xfrm>
            <a:off x="8169958" y="971550"/>
            <a:ext cx="3124200" cy="401915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990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9947-BE7E-2FE6-51F0-A473A564B1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C36E38-6283-F571-0FCE-F42C836F0559}"/>
              </a:ext>
            </a:extLst>
          </p:cNvPr>
          <p:cNvSpPr txBox="1"/>
          <p:nvPr/>
        </p:nvSpPr>
        <p:spPr>
          <a:xfrm>
            <a:off x="899319" y="438150"/>
            <a:ext cx="9753600" cy="826380"/>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Step7: </a:t>
            </a:r>
            <a:r>
              <a:rPr lang="en-US" sz="1600" b="1" dirty="0">
                <a:solidFill>
                  <a:schemeClr val="bg1"/>
                </a:solidFill>
                <a:latin typeface="Trebuchet MS" panose="020B0603020202020204" pitchFamily="34" charset="0"/>
                <a:ea typeface="ＭＳ Ｐゴシック" pitchFamily="34" charset="-128"/>
                <a:cs typeface="Calibri" panose="020F0502020204030204" pitchFamily="34" charset="0"/>
              </a:rPr>
              <a:t>Create the load format for each fabrication type.</a:t>
            </a:r>
          </a:p>
          <a:p>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D4327B88-9546-226D-9A39-78D19D2C2255}"/>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BFA2907F-A384-323E-40D2-AFAB54C6D09F}"/>
              </a:ext>
            </a:extLst>
          </p:cNvPr>
          <p:cNvSpPr/>
          <p:nvPr/>
        </p:nvSpPr>
        <p:spPr>
          <a:xfrm>
            <a:off x="823119" y="936458"/>
            <a:ext cx="5257800" cy="3234840"/>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Go to Home &gt; Administration &gt; File Setup.</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Select Load Formats.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In the Load Formats section, add row.</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Enter the name, type: FT, Date Format to be MM-DD-YY and add the fabrication type.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In the load Format Details, add the property and the location in the txt file.</a:t>
            </a:r>
          </a:p>
          <a:p>
            <a:pPr marL="36535" lvl="1" indent="0" algn="just">
              <a:lnSpc>
                <a:spcPct val="150000"/>
              </a:lnSpc>
              <a:spcAft>
                <a:spcPct val="15000"/>
              </a:spcAft>
              <a:buSzPct val="80000"/>
              <a:defRPr/>
            </a:pPr>
            <a:endParaRPr lang="en-US" dirty="0"/>
          </a:p>
        </p:txBody>
      </p:sp>
      <p:pic>
        <p:nvPicPr>
          <p:cNvPr id="5122" name="Picture 2">
            <a:extLst>
              <a:ext uri="{FF2B5EF4-FFF2-40B4-BE49-F238E27FC236}">
                <a16:creationId xmlns:a16="http://schemas.microsoft.com/office/drawing/2014/main" id="{47C0B9AE-B0E7-3033-6E2C-AD0AB17386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5199" y="971550"/>
            <a:ext cx="5129395" cy="3350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4663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90EA-2E62-73B3-4698-695CA43383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85FA8A-9FA0-79E4-3D54-CB43404DC3B4}"/>
              </a:ext>
            </a:extLst>
          </p:cNvPr>
          <p:cNvSpPr txBox="1"/>
          <p:nvPr/>
        </p:nvSpPr>
        <p:spPr>
          <a:xfrm>
            <a:off x="899319" y="438150"/>
            <a:ext cx="9753600" cy="826380"/>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Step7: </a:t>
            </a:r>
            <a:r>
              <a:rPr lang="en-US" sz="1600" b="1" dirty="0">
                <a:solidFill>
                  <a:schemeClr val="bg1"/>
                </a:solidFill>
                <a:latin typeface="Trebuchet MS" panose="020B0603020202020204" pitchFamily="34" charset="0"/>
                <a:ea typeface="ＭＳ Ｐゴシック" pitchFamily="34" charset="-128"/>
                <a:cs typeface="Calibri" panose="020F0502020204030204" pitchFamily="34" charset="0"/>
              </a:rPr>
              <a:t>Create the load format for each fabrication type.</a:t>
            </a:r>
          </a:p>
          <a:p>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EDAE1D9D-360B-0A8C-1740-2E94E91FB558}"/>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A6FAC0F8-4E40-476C-B868-C550EBBDF4BD}"/>
              </a:ext>
            </a:extLst>
          </p:cNvPr>
          <p:cNvSpPr/>
          <p:nvPr/>
        </p:nvSpPr>
        <p:spPr>
          <a:xfrm>
            <a:off x="823119" y="936458"/>
            <a:ext cx="9982200" cy="2916291"/>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Notes: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There is a bug in SMAT web, properties can’t be added in the format (a case is opened with this issue), add the properties in SMAT classic till solving this issue.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Ensure that the space that added for each property can cover all the values of this property.</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Adding the Hold Code property cause the load Fab Tracking to fail (to be checked). </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For each fabrication type, create its load format.</a:t>
            </a:r>
          </a:p>
          <a:p>
            <a:pPr marL="36535" lvl="1" indent="0" algn="just">
              <a:lnSpc>
                <a:spcPct val="150000"/>
              </a:lnSpc>
              <a:spcAft>
                <a:spcPct val="15000"/>
              </a:spcAft>
              <a:buSzPct val="80000"/>
              <a:defRPr/>
            </a:pPr>
            <a:endParaRPr lang="en-US" dirty="0"/>
          </a:p>
        </p:txBody>
      </p:sp>
    </p:spTree>
    <p:extLst>
      <p:ext uri="{BB962C8B-B14F-4D97-AF65-F5344CB8AC3E}">
        <p14:creationId xmlns:p14="http://schemas.microsoft.com/office/powerpoint/2010/main" val="2556407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71D5C-4FDD-56CC-33E6-0F5E53DE26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F6DEA6-7277-8B0A-99D6-B3C1D0B43AC1}"/>
              </a:ext>
            </a:extLst>
          </p:cNvPr>
          <p:cNvSpPr txBox="1"/>
          <p:nvPr/>
        </p:nvSpPr>
        <p:spPr>
          <a:xfrm>
            <a:off x="899319" y="438150"/>
            <a:ext cx="9753600" cy="456985"/>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Step8: </a:t>
            </a:r>
            <a:r>
              <a:rPr lang="en-US" sz="1600" b="1" dirty="0">
                <a:solidFill>
                  <a:schemeClr val="bg1"/>
                </a:solidFill>
                <a:latin typeface="Trebuchet MS" panose="020B0603020202020204" pitchFamily="34" charset="0"/>
                <a:ea typeface="ＭＳ Ｐゴシック" pitchFamily="34" charset="-128"/>
                <a:cs typeface="Calibri" panose="020F0502020204030204" pitchFamily="34" charset="0"/>
              </a:rPr>
              <a:t>Update the Fabrication Tracking workbook</a:t>
            </a: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5B776244-E48F-E7E9-EBC0-87D0A7431F81}"/>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D3768B17-410B-D69F-4339-8630BF758034}"/>
              </a:ext>
            </a:extLst>
          </p:cNvPr>
          <p:cNvSpPr/>
          <p:nvPr/>
        </p:nvSpPr>
        <p:spPr>
          <a:xfrm>
            <a:off x="823119" y="1047750"/>
            <a:ext cx="10908930" cy="1228971"/>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any property required to create the Where conditions (Ex: Class).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Add any property required to be tracked and its value will be assigned from the BOM(EX: total number of BW).</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Update the function and VBA code that required to extract the files.</a:t>
            </a:r>
          </a:p>
        </p:txBody>
      </p:sp>
    </p:spTree>
    <p:extLst>
      <p:ext uri="{BB962C8B-B14F-4D97-AF65-F5344CB8AC3E}">
        <p14:creationId xmlns:p14="http://schemas.microsoft.com/office/powerpoint/2010/main" val="3937421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77FA1-8D53-257F-D702-A7A31D40A1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05C025-677F-0509-943A-E9BE560B8DBD}"/>
              </a:ext>
            </a:extLst>
          </p:cNvPr>
          <p:cNvSpPr txBox="1"/>
          <p:nvPr/>
        </p:nvSpPr>
        <p:spPr>
          <a:xfrm>
            <a:off x="899319" y="438150"/>
            <a:ext cx="9753600" cy="456985"/>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(Continuously updated with any new issue)</a:t>
            </a:r>
          </a:p>
        </p:txBody>
      </p:sp>
      <p:sp>
        <p:nvSpPr>
          <p:cNvPr id="5" name="Rectangle 4">
            <a:extLst>
              <a:ext uri="{FF2B5EF4-FFF2-40B4-BE49-F238E27FC236}">
                <a16:creationId xmlns:a16="http://schemas.microsoft.com/office/drawing/2014/main" id="{7C0D25C5-A4BF-6B1F-3B70-7660F84BA810}"/>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4967BC10-A07C-CC9D-6425-51B4849523D3}"/>
              </a:ext>
            </a:extLst>
          </p:cNvPr>
          <p:cNvSpPr/>
          <p:nvPr/>
        </p:nvSpPr>
        <p:spPr>
          <a:xfrm>
            <a:off x="823119" y="851340"/>
            <a:ext cx="10908930" cy="2092284"/>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b="1" dirty="0">
                <a:solidFill>
                  <a:srgbClr val="328C3B"/>
                </a:solidFill>
                <a:latin typeface="Trebuchet MS" panose="020B0603020202020204" pitchFamily="34" charset="0"/>
              </a:rPr>
              <a:t>The issues can be in the below:</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Importing the BOM.</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Loading the BOM into the fabrication type.</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Load Fab Tracking process.</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VBA doesn’t work.</a:t>
            </a:r>
          </a:p>
        </p:txBody>
      </p:sp>
    </p:spTree>
    <p:extLst>
      <p:ext uri="{BB962C8B-B14F-4D97-AF65-F5344CB8AC3E}">
        <p14:creationId xmlns:p14="http://schemas.microsoft.com/office/powerpoint/2010/main" val="4292997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55069-2579-2054-A088-83FC275F0A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4A6037-714E-4268-1D78-DF9769D9EBBA}"/>
              </a:ext>
            </a:extLst>
          </p:cNvPr>
          <p:cNvSpPr txBox="1"/>
          <p:nvPr/>
        </p:nvSpPr>
        <p:spPr>
          <a:xfrm>
            <a:off x="899319" y="438150"/>
            <a:ext cx="9753600" cy="463204"/>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Importing the BOM</a:t>
            </a:r>
          </a:p>
        </p:txBody>
      </p:sp>
      <p:sp>
        <p:nvSpPr>
          <p:cNvPr id="5" name="Rectangle 4">
            <a:extLst>
              <a:ext uri="{FF2B5EF4-FFF2-40B4-BE49-F238E27FC236}">
                <a16:creationId xmlns:a16="http://schemas.microsoft.com/office/drawing/2014/main" id="{8BDA84C7-25DF-32A5-F14C-089898400B56}"/>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8B1BFC29-0AD6-9FAC-815D-732C3167CFAA}"/>
              </a:ext>
            </a:extLst>
          </p:cNvPr>
          <p:cNvSpPr/>
          <p:nvPr/>
        </p:nvSpPr>
        <p:spPr>
          <a:xfrm>
            <a:off x="823119" y="851340"/>
            <a:ext cx="10908930" cy="3223363"/>
          </a:xfrm>
          <a:prstGeom prst="rect">
            <a:avLst/>
          </a:prstGeom>
        </p:spPr>
        <p:txBody>
          <a:bodyPr wrap="square" lIns="91423" tIns="45710" rIns="91423" bIns="45710">
            <a:spAutoFit/>
          </a:bodyPr>
          <a:lstStyle/>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ERROR: NON-TFM or invalid items found while running in TFM import mode. Skipping BOM node.</a:t>
            </a:r>
          </a:p>
          <a:p>
            <a:pPr marL="877367" lvl="2" indent="-383632"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item type in the Fabrication Tracking template is ‘SPOOL’ and ‘WELD’. </a:t>
            </a:r>
          </a:p>
          <a:p>
            <a:pPr marL="420167" lvl="1" indent="-383632"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Positions not created (number of spools created are less than the Fabrication Tracking template)</a:t>
            </a:r>
          </a:p>
          <a:p>
            <a:pPr marL="779485" lvl="2" indent="-28575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if there is a duplication in the spool tag in Fabrication Tracking template.</a:t>
            </a:r>
          </a:p>
          <a:p>
            <a:pPr marL="779485" lvl="2" indent="-28575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if the tags are already in the project in another commodity part than the default assigned in </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ZB_TFMPART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see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the</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log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to</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know</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a:t>
            </a:r>
            <a:r>
              <a:rPr lang="es-ES" sz="1600" dirty="0" err="1">
                <a:solidFill>
                  <a:srgbClr val="00305F"/>
                </a:solidFill>
                <a:latin typeface="Trebuchet MS" panose="020B0603020202020204" pitchFamily="34" charset="0"/>
                <a:ea typeface="ＭＳ Ｐゴシック" pitchFamily="34" charset="-128"/>
                <a:cs typeface="Calibri" panose="020F0502020204030204" pitchFamily="34" charset="0"/>
              </a:rPr>
              <a:t>this</a:t>
            </a:r>
            <a:r>
              <a:rPr lang="es-ES" sz="1600" dirty="0">
                <a:solidFill>
                  <a:srgbClr val="00305F"/>
                </a:solidFill>
                <a:latin typeface="Trebuchet MS" panose="020B0603020202020204" pitchFamily="34" charset="0"/>
                <a:ea typeface="ＭＳ Ｐゴシック" pitchFamily="34" charset="-128"/>
                <a:cs typeface="Calibri" panose="020F0502020204030204" pitchFamily="34" charset="0"/>
              </a:rPr>
              <a:t> error).</a:t>
            </a: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342900" lvl="2" indent="-342900" algn="just">
              <a:lnSpc>
                <a:spcPct val="150000"/>
              </a:lnSpc>
              <a:spcAft>
                <a:spcPct val="15000"/>
              </a:spcAft>
              <a:buSzPct val="80000"/>
              <a:buFont typeface="+mj-lt"/>
              <a:buAutoNum type="arabicPeriod" startAt="3"/>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Some properties  are not added to the positions as in the template</a:t>
            </a:r>
          </a:p>
          <a:p>
            <a:pPr marL="800100" lvl="3"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properties added to Home &gt; Bill of Materials &gt; Position Properties</a:t>
            </a:r>
          </a:p>
        </p:txBody>
      </p:sp>
    </p:spTree>
    <p:extLst>
      <p:ext uri="{BB962C8B-B14F-4D97-AF65-F5344CB8AC3E}">
        <p14:creationId xmlns:p14="http://schemas.microsoft.com/office/powerpoint/2010/main" val="3471206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34B3-4FC2-0EDA-04DB-4890B70219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E4ED5D-87B7-F30D-3CC3-8FD03FD3BF32}"/>
              </a:ext>
            </a:extLst>
          </p:cNvPr>
          <p:cNvSpPr txBox="1"/>
          <p:nvPr/>
        </p:nvSpPr>
        <p:spPr>
          <a:xfrm>
            <a:off x="899319" y="438150"/>
            <a:ext cx="9753600" cy="463204"/>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Importing the BOM</a:t>
            </a:r>
          </a:p>
        </p:txBody>
      </p:sp>
      <p:sp>
        <p:nvSpPr>
          <p:cNvPr id="5" name="Rectangle 4">
            <a:extLst>
              <a:ext uri="{FF2B5EF4-FFF2-40B4-BE49-F238E27FC236}">
                <a16:creationId xmlns:a16="http://schemas.microsoft.com/office/drawing/2014/main" id="{C854966D-E639-1F65-2D39-AB24865FA046}"/>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4D13DA53-F085-9827-C821-893559CA4E40}"/>
              </a:ext>
            </a:extLst>
          </p:cNvPr>
          <p:cNvSpPr/>
          <p:nvPr/>
        </p:nvSpPr>
        <p:spPr>
          <a:xfrm>
            <a:off x="823119" y="851340"/>
            <a:ext cx="10908930" cy="2041501"/>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startAt="3"/>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Checks for any other errors:</a:t>
            </a:r>
          </a:p>
          <a:p>
            <a:pPr marL="836635" lvl="2"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the errors in the log file if it is obvious.</a:t>
            </a:r>
          </a:p>
          <a:p>
            <a:pPr marL="877367" lvl="2" indent="-383632"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user select Import Fab Spool during the BOM import.</a:t>
            </a:r>
          </a:p>
          <a:p>
            <a:pPr marL="877367" lvl="2" indent="-383632"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the uploaded files(location of columns, fixed values for some columns)</a:t>
            </a:r>
          </a:p>
          <a:p>
            <a:pPr marL="877367" lvl="2" indent="-383632"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the BOM import process (Import File, Data source, Configuration Name and Load Option).</a:t>
            </a:r>
          </a:p>
        </p:txBody>
      </p:sp>
    </p:spTree>
    <p:extLst>
      <p:ext uri="{BB962C8B-B14F-4D97-AF65-F5344CB8AC3E}">
        <p14:creationId xmlns:p14="http://schemas.microsoft.com/office/powerpoint/2010/main" val="4067338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ADCA1-2D2C-7CE6-3734-4CCB050E12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812D12-AC53-79CC-9073-761C51DE7102}"/>
              </a:ext>
            </a:extLst>
          </p:cNvPr>
          <p:cNvSpPr txBox="1"/>
          <p:nvPr/>
        </p:nvSpPr>
        <p:spPr>
          <a:xfrm>
            <a:off x="899319" y="438150"/>
            <a:ext cx="9753600" cy="463204"/>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Loading the BOM into the fabrication type</a:t>
            </a:r>
          </a:p>
        </p:txBody>
      </p:sp>
      <p:sp>
        <p:nvSpPr>
          <p:cNvPr id="5" name="Rectangle 4">
            <a:extLst>
              <a:ext uri="{FF2B5EF4-FFF2-40B4-BE49-F238E27FC236}">
                <a16:creationId xmlns:a16="http://schemas.microsoft.com/office/drawing/2014/main" id="{CA47ACBE-C0A5-054F-B32A-3D2047665E5F}"/>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1FAC7D56-1ED8-0682-167F-A293D5FEBBA7}"/>
              </a:ext>
            </a:extLst>
          </p:cNvPr>
          <p:cNvSpPr/>
          <p:nvPr/>
        </p:nvSpPr>
        <p:spPr>
          <a:xfrm>
            <a:off x="823119" y="851340"/>
            <a:ext cx="10908930" cy="2542214"/>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Number of imported spools is less than the BOM:</a:t>
            </a:r>
          </a:p>
          <a:p>
            <a:pPr marL="836635" lvl="2"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if there is a duplication in the spool tag in Fabrication Tracking template.</a:t>
            </a:r>
          </a:p>
          <a:p>
            <a:pPr marL="836635" lvl="2"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Verify the Where condition configured for the fabrication type is correct by following these steps:</a:t>
            </a:r>
          </a:p>
          <a:p>
            <a:pPr marL="1312863" lvl="2" indent="-400050">
              <a:buFont typeface="+mj-lt"/>
              <a:buAutoNum type="romanUcPeriod"/>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Navigate to Home &gt; Administration &gt; Query Builder.</a:t>
            </a:r>
          </a:p>
          <a:p>
            <a:pPr marL="1312863" lvl="2" indent="-400050">
              <a:buFont typeface="+mj-lt"/>
              <a:buAutoNum type="romanUcPeriod"/>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Open the corresponding Where condition.</a:t>
            </a:r>
          </a:p>
          <a:p>
            <a:pPr marL="1312863" lvl="2" indent="-400050">
              <a:buFont typeface="+mj-lt"/>
              <a:buAutoNum type="romanUcPeriod"/>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Click Count to retrieve the number of records matching the condition.</a:t>
            </a:r>
          </a:p>
          <a:p>
            <a:pPr marL="1312863" lvl="2" indent="-400050">
              <a:buFont typeface="+mj-lt"/>
              <a:buAutoNum type="romanUcPeriod"/>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Compare this count with the total number of spools intended for the fabrication type.</a:t>
            </a:r>
          </a:p>
          <a:p>
            <a:pPr marL="1312863" lvl="2" indent="-400050">
              <a:buFont typeface="+mj-lt"/>
              <a:buAutoNum type="romanUcPeriod"/>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If the counts don’t match, proceed to update the Where condition accordingly.</a:t>
            </a:r>
          </a:p>
        </p:txBody>
      </p:sp>
    </p:spTree>
    <p:extLst>
      <p:ext uri="{BB962C8B-B14F-4D97-AF65-F5344CB8AC3E}">
        <p14:creationId xmlns:p14="http://schemas.microsoft.com/office/powerpoint/2010/main" val="710764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B16DB-ABC0-568F-FD6E-715AF0C0C9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489B45-C9BC-B943-056B-965717E07A9B}"/>
              </a:ext>
            </a:extLst>
          </p:cNvPr>
          <p:cNvSpPr txBox="1"/>
          <p:nvPr/>
        </p:nvSpPr>
        <p:spPr>
          <a:xfrm>
            <a:off x="899319" y="438150"/>
            <a:ext cx="9753600" cy="914033"/>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a:t>
            </a:r>
            <a:r>
              <a:rPr lang="en-US" dirty="0">
                <a:solidFill>
                  <a:schemeClr val="bg1"/>
                </a:solidFill>
              </a:rPr>
              <a:t>Load Fab Tracking process.</a:t>
            </a:r>
          </a:p>
          <a:p>
            <a:pPr marL="36535" lvl="1" indent="0" algn="just">
              <a:lnSpc>
                <a:spcPct val="150000"/>
              </a:lnSpc>
              <a:spcAft>
                <a:spcPct val="15000"/>
              </a:spcAft>
              <a:buSzPct val="80000"/>
              <a:defRPr/>
            </a:pP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08364604-9DC0-27FC-A9AF-03381E9D5A89}"/>
              </a:ext>
            </a:extLst>
          </p:cNvPr>
          <p:cNvSpPr>
            <a:spLocks noGrp="1" noRot="1" noMove="1" noResize="1" noEditPoints="1" noAdjustHandles="1" noChangeArrowheads="1" noChangeShapeType="1"/>
          </p:cNvSpPr>
          <p:nvPr/>
        </p:nvSpPr>
        <p:spPr>
          <a:xfrm rot="16200000">
            <a:off x="-2177767" y="2296037"/>
            <a:ext cx="5062548" cy="584775"/>
          </a:xfrm>
          <a:prstGeom prst="rect">
            <a:avLst/>
          </a:prstGeom>
        </p:spPr>
        <p:txBody>
          <a:bodyPr wrap="square">
            <a:spAutoFit/>
          </a:bodyPr>
          <a:lstStyle/>
          <a:p>
            <a:pPr algn="ctr"/>
            <a:r>
              <a:rPr lang="en-US" sz="3200" b="1" dirty="0">
                <a:solidFill>
                  <a:schemeClr val="bg1"/>
                </a:solidFill>
                <a:latin typeface="Trebuchet MS" panose="020B0603020202020204" pitchFamily="34" charset="0"/>
              </a:rPr>
              <a:t>DIES</a:t>
            </a:r>
          </a:p>
        </p:txBody>
      </p:sp>
      <p:sp>
        <p:nvSpPr>
          <p:cNvPr id="3" name="Rectangle 2">
            <a:extLst>
              <a:ext uri="{FF2B5EF4-FFF2-40B4-BE49-F238E27FC236}">
                <a16:creationId xmlns:a16="http://schemas.microsoft.com/office/drawing/2014/main" id="{5159011C-8C39-6632-4CD1-1E4EB42BF5BB}"/>
              </a:ext>
            </a:extLst>
          </p:cNvPr>
          <p:cNvSpPr/>
          <p:nvPr/>
        </p:nvSpPr>
        <p:spPr>
          <a:xfrm>
            <a:off x="823119" y="851340"/>
            <a:ext cx="10908930" cy="3641105"/>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Number of the spools in the Fab Items/Values increase after load the file:</a:t>
            </a:r>
          </a:p>
          <a:p>
            <a:pPr marL="836635" lvl="2"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tags in the Fabrication Tracking template are matching the tags in the BOM (extract the tags from the BOM and check duplication using Excel).</a:t>
            </a:r>
          </a:p>
          <a:p>
            <a:pPr marL="836635" lvl="2"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tags are not duplicated in the fabrication type (The user may enter a reference date in the Load fab Tracking), delete the spools with reference date.</a:t>
            </a:r>
          </a:p>
          <a:p>
            <a:pPr marL="342900" lvl="2" indent="-342900" algn="just">
              <a:lnSpc>
                <a:spcPct val="150000"/>
              </a:lnSpc>
              <a:spcAft>
                <a:spcPct val="15000"/>
              </a:spcAft>
              <a:buSzPct val="80000"/>
              <a:buFont typeface="+mj-lt"/>
              <a:buAutoNum type="arabicPeriod" startAt="2"/>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The import process failed</a:t>
            </a:r>
          </a:p>
          <a:p>
            <a:pPr marL="800100" lvl="3" indent="-342900" algn="just">
              <a:lnSpc>
                <a:spcPct val="150000"/>
              </a:lnSpc>
              <a:spcAft>
                <a:spcPct val="15000"/>
              </a:spcAft>
              <a:buSzPct val="80000"/>
              <a:buFont typeface="Arial" panose="020B0604020202020204" pitchFamily="34" charset="0"/>
              <a:buChar char="•"/>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the log file and the property that cause the failure will be in it (Ex. Cancel property) .</a:t>
            </a:r>
          </a:p>
          <a:p>
            <a:pPr marL="400050" lvl="2" indent="-342900" algn="just">
              <a:lnSpc>
                <a:spcPct val="150000"/>
              </a:lnSpc>
              <a:spcAft>
                <a:spcPct val="15000"/>
              </a:spcAft>
              <a:buSzPct val="80000"/>
              <a:buFont typeface="+mj-lt"/>
              <a:buAutoNum type="arabicPeriod" startAt="2"/>
              <a:defRPr/>
            </a:pPr>
            <a:endParaRPr lang="en-US" sz="1600"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36635" lvl="2" indent="-342900" algn="just">
              <a:lnSpc>
                <a:spcPct val="150000"/>
              </a:lnSpc>
              <a:spcAft>
                <a:spcPct val="15000"/>
              </a:spcAft>
              <a:buSzPct val="80000"/>
              <a:buFont typeface="Arial" panose="020B0604020202020204" pitchFamily="34" charset="0"/>
              <a:buChar char="•"/>
              <a:defRPr/>
            </a:pPr>
            <a:endParaRPr lang="en-US" dirty="0"/>
          </a:p>
        </p:txBody>
      </p:sp>
      <p:pic>
        <p:nvPicPr>
          <p:cNvPr id="6" name="Picture 5">
            <a:extLst>
              <a:ext uri="{FF2B5EF4-FFF2-40B4-BE49-F238E27FC236}">
                <a16:creationId xmlns:a16="http://schemas.microsoft.com/office/drawing/2014/main" id="{0A1F7654-ADAD-A232-114E-2559FE34882F}"/>
              </a:ext>
            </a:extLst>
          </p:cNvPr>
          <p:cNvPicPr>
            <a:picLocks noChangeAspect="1"/>
          </p:cNvPicPr>
          <p:nvPr/>
        </p:nvPicPr>
        <p:blipFill>
          <a:blip r:embed="rId2"/>
          <a:stretch>
            <a:fillRect/>
          </a:stretch>
        </p:blipFill>
        <p:spPr>
          <a:xfrm>
            <a:off x="3124369" y="3879802"/>
            <a:ext cx="6306430" cy="447737"/>
          </a:xfrm>
          <a:prstGeom prst="rect">
            <a:avLst/>
          </a:prstGeom>
          <a:ln>
            <a:solidFill>
              <a:schemeClr val="tx1"/>
            </a:solidFill>
          </a:ln>
        </p:spPr>
      </p:pic>
    </p:spTree>
    <p:extLst>
      <p:ext uri="{BB962C8B-B14F-4D97-AF65-F5344CB8AC3E}">
        <p14:creationId xmlns:p14="http://schemas.microsoft.com/office/powerpoint/2010/main" val="327149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CAA62-1454-1A75-65C6-0C68DEBEE90E}"/>
              </a:ext>
            </a:extLst>
          </p:cNvPr>
          <p:cNvSpPr txBox="1"/>
          <p:nvPr/>
        </p:nvSpPr>
        <p:spPr>
          <a:xfrm>
            <a:off x="899319" y="438150"/>
            <a:ext cx="9753600" cy="914033"/>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a:t>
            </a:r>
            <a:r>
              <a:rPr lang="en-US" dirty="0">
                <a:solidFill>
                  <a:schemeClr val="bg1"/>
                </a:solidFill>
              </a:rPr>
              <a:t>VBA doesn’t work</a:t>
            </a:r>
          </a:p>
          <a:p>
            <a:pPr marL="36535" lvl="1" indent="0" algn="just">
              <a:lnSpc>
                <a:spcPct val="150000"/>
              </a:lnSpc>
              <a:spcAft>
                <a:spcPct val="15000"/>
              </a:spcAft>
              <a:buSzPct val="80000"/>
              <a:defRPr/>
            </a:pPr>
            <a:endParaRPr lang="en-US" b="1" dirty="0">
              <a:solidFill>
                <a:schemeClr val="bg1"/>
              </a:solidFill>
              <a:latin typeface="Trebuchet MS" panose="020B0603020202020204" pitchFamily="34" charset="0"/>
            </a:endParaRPr>
          </a:p>
        </p:txBody>
      </p:sp>
      <p:sp>
        <p:nvSpPr>
          <p:cNvPr id="4" name="Rectangle 3">
            <a:extLst>
              <a:ext uri="{FF2B5EF4-FFF2-40B4-BE49-F238E27FC236}">
                <a16:creationId xmlns:a16="http://schemas.microsoft.com/office/drawing/2014/main" id="{D6FE9B4C-B6B8-4DF9-D1E8-158EFEB1DA2C}"/>
              </a:ext>
            </a:extLst>
          </p:cNvPr>
          <p:cNvSpPr/>
          <p:nvPr/>
        </p:nvSpPr>
        <p:spPr>
          <a:xfrm>
            <a:off x="823119" y="851340"/>
            <a:ext cx="10908930" cy="822706"/>
          </a:xfrm>
          <a:prstGeom prst="rect">
            <a:avLst/>
          </a:prstGeom>
        </p:spPr>
        <p:txBody>
          <a:bodyPr wrap="square" lIns="91423" tIns="45710" rIns="91423" bIns="45710">
            <a:spAutoFit/>
          </a:bodyPr>
          <a:lstStyle/>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Check that the macros enabled.</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Open Alt+ F11, navigate to the macro, run it line by line to discover where the code stopped to fix the error.</a:t>
            </a:r>
          </a:p>
        </p:txBody>
      </p:sp>
      <p:sp>
        <p:nvSpPr>
          <p:cNvPr id="5" name="Rectangle 4">
            <a:extLst>
              <a:ext uri="{FF2B5EF4-FFF2-40B4-BE49-F238E27FC236}">
                <a16:creationId xmlns:a16="http://schemas.microsoft.com/office/drawing/2014/main" id="{2A678B92-1000-6724-20DE-D192CA757590}"/>
              </a:ext>
            </a:extLst>
          </p:cNvPr>
          <p:cNvSpPr/>
          <p:nvPr/>
        </p:nvSpPr>
        <p:spPr>
          <a:xfrm>
            <a:off x="823119" y="1776259"/>
            <a:ext cx="10908930" cy="2854031"/>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If the error can’t be fixed quickly, do the following to solve the problem till further discussion internally:</a:t>
            </a:r>
          </a:p>
          <a:p>
            <a:pPr marL="36535" lvl="1"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To extract the import files:</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Open Spool Tracking sheet.</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Create a copy to new workbook</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Unhide all columns.</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Save and load</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Do the same for the Welding Tracking sheet</a:t>
            </a:r>
          </a:p>
        </p:txBody>
      </p:sp>
    </p:spTree>
    <p:extLst>
      <p:ext uri="{BB962C8B-B14F-4D97-AF65-F5344CB8AC3E}">
        <p14:creationId xmlns:p14="http://schemas.microsoft.com/office/powerpoint/2010/main" val="3184603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1EC61-7358-9A52-91CE-DD7FCB4DD7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C3BFE4-E8D5-6894-0F3E-3628B65DF97C}"/>
              </a:ext>
            </a:extLst>
          </p:cNvPr>
          <p:cNvSpPr txBox="1"/>
          <p:nvPr/>
        </p:nvSpPr>
        <p:spPr>
          <a:xfrm>
            <a:off x="899319" y="438150"/>
            <a:ext cx="9753600" cy="914033"/>
          </a:xfrm>
          <a:prstGeom prst="rect">
            <a:avLst/>
          </a:prstGeom>
          <a:noFill/>
        </p:spPr>
        <p:txBody>
          <a:bodyPr wrap="square">
            <a:spAutoFit/>
          </a:bodyPr>
          <a:lstStyle/>
          <a:p>
            <a:pPr marL="36535" lvl="1" indent="0" algn="just">
              <a:lnSpc>
                <a:spcPct val="150000"/>
              </a:lnSpc>
              <a:spcAft>
                <a:spcPct val="15000"/>
              </a:spcAft>
              <a:buSzPct val="80000"/>
              <a:defRPr/>
            </a:pPr>
            <a:r>
              <a:rPr lang="en-US" b="1" dirty="0">
                <a:solidFill>
                  <a:schemeClr val="bg1"/>
                </a:solidFill>
                <a:latin typeface="Trebuchet MS" panose="020B0603020202020204" pitchFamily="34" charset="0"/>
              </a:rPr>
              <a:t>Troubleshooting: </a:t>
            </a:r>
            <a:r>
              <a:rPr lang="en-US" dirty="0">
                <a:solidFill>
                  <a:schemeClr val="bg1"/>
                </a:solidFill>
              </a:rPr>
              <a:t>VBA doesn’t work</a:t>
            </a:r>
          </a:p>
          <a:p>
            <a:pPr marL="36535" lvl="1" indent="0" algn="just">
              <a:lnSpc>
                <a:spcPct val="150000"/>
              </a:lnSpc>
              <a:spcAft>
                <a:spcPct val="15000"/>
              </a:spcAft>
              <a:buSzPct val="80000"/>
              <a:defRPr/>
            </a:pPr>
            <a:endParaRPr lang="en-US" b="1"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CA8F47DE-1694-DF00-E30E-56DCB45DC4B5}"/>
              </a:ext>
            </a:extLst>
          </p:cNvPr>
          <p:cNvSpPr/>
          <p:nvPr/>
        </p:nvSpPr>
        <p:spPr>
          <a:xfrm>
            <a:off x="862467" y="1047750"/>
            <a:ext cx="10908930" cy="2041501"/>
          </a:xfrm>
          <a:prstGeom prst="rect">
            <a:avLst/>
          </a:prstGeom>
        </p:spPr>
        <p:txBody>
          <a:bodyPr wrap="square" lIns="91423" tIns="45710" rIns="91423" bIns="45710">
            <a:spAutoFit/>
          </a:bodyPr>
          <a:lstStyle/>
          <a:p>
            <a:pPr marL="36535" lvl="1" indent="0" algn="just">
              <a:lnSpc>
                <a:spcPct val="150000"/>
              </a:lnSpc>
              <a:spcAft>
                <a:spcPct val="15000"/>
              </a:spcAft>
              <a:buSzPct val="80000"/>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To extract the Update Status files:</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Open Output Spool sheet.</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Copy column A into a txt file and save.</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Load this file.</a:t>
            </a:r>
          </a:p>
          <a:p>
            <a:pPr marL="379435" lvl="1" indent="-342900" algn="just">
              <a:lnSpc>
                <a:spcPct val="150000"/>
              </a:lnSpc>
              <a:spcAft>
                <a:spcPct val="15000"/>
              </a:spcAft>
              <a:buSzPct val="80000"/>
              <a:buFont typeface="+mj-lt"/>
              <a:buAutoNum type="arabicPeriod"/>
              <a:defRPr/>
            </a:pPr>
            <a:r>
              <a:rPr lang="en-US" sz="1600" dirty="0">
                <a:solidFill>
                  <a:srgbClr val="00305F"/>
                </a:solidFill>
                <a:latin typeface="Trebuchet MS" panose="020B0603020202020204" pitchFamily="34" charset="0"/>
                <a:ea typeface="ＭＳ Ｐゴシック" pitchFamily="34" charset="-128"/>
                <a:cs typeface="Calibri" panose="020F0502020204030204" pitchFamily="34" charset="0"/>
              </a:rPr>
              <a:t>DO the same for the Output Weld sheet.</a:t>
            </a:r>
          </a:p>
        </p:txBody>
      </p:sp>
    </p:spTree>
    <p:extLst>
      <p:ext uri="{BB962C8B-B14F-4D97-AF65-F5344CB8AC3E}">
        <p14:creationId xmlns:p14="http://schemas.microsoft.com/office/powerpoint/2010/main" val="2846080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Grp="1" noRot="1" noMove="1" noResize="1" noEditPoints="1" noAdjustHandles="1" noChangeArrowheads="1" noChangeShapeType="1"/>
          </p:cNvSpPr>
          <p:nvPr/>
        </p:nvSpPr>
        <p:spPr>
          <a:xfrm>
            <a:off x="1432719" y="1934111"/>
            <a:ext cx="9525000" cy="707886"/>
          </a:xfrm>
          <a:prstGeom prst="rect">
            <a:avLst/>
          </a:prstGeom>
        </p:spPr>
        <p:txBody>
          <a:bodyPr wrap="square">
            <a:spAutoFit/>
          </a:bodyPr>
          <a:lstStyle/>
          <a:p>
            <a:pPr algn="ctr" eaLnBrk="0" hangingPunct="0"/>
            <a:r>
              <a:rPr lang="en-US" altLang="ko-KR" sz="4000" b="1" dirty="0">
                <a:solidFill>
                  <a:srgbClr val="00305F"/>
                </a:solidFill>
                <a:latin typeface="Trebuchet MS" panose="020B0603020202020204" pitchFamily="34" charset="0"/>
                <a:ea typeface="ＭＳ Ｐゴシック" pitchFamily="34" charset="-128"/>
                <a:cs typeface="Calibri" panose="020F0502020204030204" pitchFamily="34" charset="0"/>
              </a:rPr>
              <a:t>Questions?</a:t>
            </a:r>
          </a:p>
        </p:txBody>
      </p:sp>
    </p:spTree>
    <p:extLst>
      <p:ext uri="{BB962C8B-B14F-4D97-AF65-F5344CB8AC3E}">
        <p14:creationId xmlns:p14="http://schemas.microsoft.com/office/powerpoint/2010/main" val="1502657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Rot="1" noMove="1" noResize="1" noEditPoints="1" noAdjustHandles="1" noChangeArrowheads="1" noChangeShapeType="1"/>
          </p:cNvSpPr>
          <p:nvPr/>
        </p:nvSpPr>
        <p:spPr>
          <a:xfrm>
            <a:off x="2270919" y="1047750"/>
            <a:ext cx="7620000" cy="1085810"/>
          </a:xfrm>
          <a:prstGeom prst="rect">
            <a:avLst/>
          </a:prstGeom>
        </p:spPr>
        <p:txBody>
          <a:bodyPr wrap="square">
            <a:spAutoFit/>
          </a:bodyPr>
          <a:lstStyle/>
          <a:p>
            <a:pPr algn="ctr">
              <a:lnSpc>
                <a:spcPct val="150000"/>
              </a:lnSpc>
            </a:pPr>
            <a:r>
              <a:rPr lang="en-US" sz="4800" b="1" dirty="0">
                <a:solidFill>
                  <a:schemeClr val="bg1"/>
                </a:solidFill>
                <a:latin typeface="Trebuchet MS" panose="020B0603020202020204" pitchFamily="34" charset="0"/>
              </a:rPr>
              <a:t>Thank You</a:t>
            </a:r>
            <a:endParaRPr lang="en-US" sz="4800" b="1" dirty="0">
              <a:solidFill>
                <a:srgbClr val="FFFF00"/>
              </a:solidFill>
              <a:latin typeface="Trebuchet MS" panose="020B0603020202020204" pitchFamily="34" charset="0"/>
            </a:endParaRPr>
          </a:p>
        </p:txBody>
      </p:sp>
    </p:spTree>
    <p:extLst>
      <p:ext uri="{BB962C8B-B14F-4D97-AF65-F5344CB8AC3E}">
        <p14:creationId xmlns:p14="http://schemas.microsoft.com/office/powerpoint/2010/main" val="1343212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Pitchbook">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extLst>
    <a:ext uri="{05A4C25C-085E-4340-85A3-A5531E510DB2}">
      <thm15:themeFamily xmlns:thm15="http://schemas.microsoft.com/office/thememl/2012/main" name="Presentation1" id="{30FC519D-8658-4255-906A-422831B44B9A}" vid="{1D49D6AA-5AD4-4F7A-9D83-CD614D2F8E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E92F831A-BD16-4DAF-8CAE-F21564186F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Enppi Presentation Template</Template>
  <TotalTime>1031</TotalTime>
  <Words>1884</Words>
  <Application>Microsoft Office PowerPoint</Application>
  <PresentationFormat>Custom</PresentationFormat>
  <Paragraphs>245</Paragraphs>
  <Slides>27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 Narrow</vt:lpstr>
      <vt:lpstr>Arial</vt:lpstr>
      <vt:lpstr>ArialMT</vt:lpstr>
      <vt:lpstr>Calibri</vt:lpstr>
      <vt:lpstr>Times New Roman</vt:lpstr>
      <vt:lpstr>Trebuchet MS</vt:lpstr>
      <vt:lpstr>Wingdings 2</vt:lpstr>
      <vt:lpstr>Pitchbook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Enppi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Alaa Salah</dc:creator>
  <cp:lastModifiedBy>Mohamed Alaa Salah</cp:lastModifiedBy>
  <cp:revision>130</cp:revision>
  <dcterms:created xsi:type="dcterms:W3CDTF">2025-09-23T11:49:54Z</dcterms:created>
  <dcterms:modified xsi:type="dcterms:W3CDTF">2025-11-11T07:27:01Z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TC101769309990</vt:lpwstr>
  </property>
</Properties>
</file>